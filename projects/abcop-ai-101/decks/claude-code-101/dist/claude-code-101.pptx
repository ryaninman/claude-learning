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Roughly forty minutes, seven short sections.
We'll do the CLI, but almost everything applies to Desktop and the VS Code extension too — I'll flag the places they differ.
The through-line: everything in this deck is really a decision about context. If you leave with only that, it was worth it.
Ask questions as we go rather than saving them for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section — one slide after this.
The thing worth saying out loud: these are three front ends onto the same model. Picking one is about which workflow fits you, not about getting a smarter Claude.
Most people here will end up on the VS Code extension. I will be in the CLI, because that is where skills and rules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surfaces, same model underneath. Desktop is the friendliest for reading output. The VS Code extension is best when you're already in a file and want a targeted edit.
This training is the CLI, because that's where skills, hooks, subagents and the rest live. The principles carry over regardless.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familiar version. When you ask a teammate for something, you say what you need, point at the file, and say what done looks like. Nobody calls that prompt engineering — it is just asking properly.
The important half of the definition is "the first time", because the alternative is three rounds of clarification you pay for every round.
Two slides: a checklist, then the same request written badly and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an industry term — this is just something I find useful.
Fill in what you can. These are guidelines, not a form to complete. A three-line prompt that hits two of the three is a good prompt.
There's a prompt-helper skill in our playbooks that grades a draft against exactly this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weak one out loud. "Fix the login bug and any other bugs you find along the way and make no mistakes."
Three problems. No situation. Three tasks, not one. And "make no mistakes" is not a success criterion, it's a wish.
The fixed version is barely longer. It's three short sentences that happen to hit all three 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words people use interchangeably. They are not the same.
Context is the stuff itself — the whole load the agent is holding at this moment. Context engineering is deciding what goes in there before you type a prompt.
Same goal as a good prompt, except you do it once, in files, instead of retyping it every session. That is this whole training in one sentence.
Next four slides: how a conversation accumulates, what the context window is, and what too much and too little each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session is turns. You type, Claude answers, you type again.
The thing people miss: on turn four, Claude is re-reading turns one through three. The history isn't a log it can consult, it's the input.
That's why sessions get slower and sloppier the longer they run — and it's the single most useful thing to understand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it as what the agent is holding in its arms at this moment.
There's a sweet spot. Too much and it starts dropping things. Too little and it's guessing. The next three slides are those three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Simon Says. Red. Red, green. Red, green, green. Red, green, green, blue.
Nobody fails at step two. Everyone fails eventually, and it's not because the game got harder — it's because the list got longer.
Same thing here. A session with forty files read and three abandoned approaches in it will make mistakes a fresh session wouldn't.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flip side. Everyone here has received a bug report that says "it doesn't work."
What do you do with that? You investigate. You ask questions. You guess. That's exactly what Claude does with a thin prompt, except it guesses silently and confidently.
A good bug report and a good prompt are the same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that is what context is. Now the during: managing it as you work.
Every long session drifts toward too much context — that is not a failure, it is just what accumulation does. These are the three functions that pull it back, and they take about two seconds each.
Building the habit matters more than knowing the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habits worth building.
Clear when you change task — a fresh session is free and a stale one is expensive.
Rewind is the underused one. If a prompt went badly, don't argue with the result and don't re-prompt on top of it. Go back to before you sent it. The bad turn stops existing.
Compact when you genuinely need to keep working but you're full. Describe what to retain — an unqualified compact keeps the wrong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seconds, and it turns "the session feels sluggish" into a number.
The breakdown matters more than the total. If messages are eating the window, clear or compact. If your own setup is eating it — skills, memory files, MCP tools — that is a configuration problem no amount of clearing will fix.
[TODO: swap the mock panel for a real screenshot of my own /context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tiers. Most of your day is Sonnet.
Reach for Opus when the task is genuinely hard or when you're planning — planning is where the extra capability pays for itself, because a bad plan costs far more than a slow one.
Haiku for quick lookups where you just need an answer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dials, not one. The model is who is doing the thinking; effort is how long they think before they start typing.
Sonnet + medium is the everyday default. Opus + low is the one people miss — the stronger model without paying for deliberation you did not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Counter-intuitive one. Plan mode makes Claude gather everything it can before proposing anything, and it shows you the plan before touching code.
That feels slower. It isn't. You get to see the work before it happens and redirect it — instead of reading a diff that went the wrong direction twenty files ago.
Use it with Opus for anything non-trivial.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Managing context by hand is half the job. The other half is setup: the four places you put context so Claude loads it without being asked.
CLAUDE.md, memory, rules, skills. They differ mainly in when they fire.
You do not have to set all four up today. CLAUDE.md alone gets you most of the way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leverage. Four mechanisms, and they differ mainly in when they load.
CLAUDE.md is always there. Memory is Claude's own notes. Rules fire when a matching file gets touched. Skills fire when the task matches.
You don't have to set all four up today. CLAUDE.md alone gets you most of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/init in a repo and Claude drafts one of these for you. Then edit it, because the generated version is always too generic.
Keep it short. This loads on every single session, so every line is rent you pay forever. Architecture notes, the commands, the gotchas that bite newcomers.
User-level CLAUDE.md applies to every project you touch. Use that one sparingly.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people underuse. A rule file has a paths glob in its frontmatter, and it only enters context when Claude touches a matching file.
So your C# conventions cost nothing on a TypeScript day. That's the whole point — targeted context instead of one enormous always-on file.
A rule with no paths behaves like CLAUDE.md.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skill is a set of instructions for a task you do more than once. Could be five steps, could be a branching workflow with scripts attached.
The description field is what makes it fire. Claude reads descriptions and picks the skill that matches — so a vague description means the skill never triggers.
You can also invoke one deliberately with a slash.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you do not have to build yourself.
One repo, installed once. After that the rules and skills load themselves exactly like we covered in section five.
I will show you what is in it, then the handful I reach for most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you don't have to build yourself.
One repo, installed once. After that the rules and skills load themselves exactly like we covered in section five — you don't invoke most of them.
[TODO: walk through the install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speaker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speaker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speaker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speaker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speaker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habits and playbooks I reach for most weeks.
Do not try to adopt all of them. Pick the one that matches a problem you had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for when you know roughly what you want but could not write a ticket for it yet.
Adding one line — ask me clarifying questions — flips the whole exchange. Instead of guessing at the half of the idea you did not say, it asks, and you answer with a keypress.
Two skills do this properly: /brainstorming for shaping an idea, /grill-me for stress-testing one you have already shaped.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that stops the guess-and-check spiral.
The discipline is that a fix does not count until there is a regression test that would have caught the bug. That is the whole difference between fixing a bug and appearing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Cheapest review you will ever run, because nothing has been built yet.
Point it at a plan, a design doc, or a PR description. It argues the other side properly instead of agreeing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take nothing else: the context window is the whole game, and you control what's in it.
Three concrete things. Run /init on one repo. Try plan mode on the next non-trivial task. And build the rewind habit — that's the one that compounds fastest.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offers, and I mean both of them.
One-to-one sessions: bring a real task from your own repo and we will do it together. That is worth more than any deck, because the setup work is specific to your codebase.
And if a few people want the same deep dive, I will run it as a session. Tell me which of these you want, or suggest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21E"/>
        </a:solidFill>
      </p:bgPr>
    </p:bg>
    <p:spTree>
      <p:nvGrpSpPr>
        <p:cNvPr id="1" name=""/>
        <p:cNvGrpSpPr/>
        <p:nvPr/>
      </p:nvGrpSpPr>
      <p:grpSpPr>
        <a:xfrm>
          <a:off x="0" y="0"/>
          <a:ext cx="0" cy="0"/>
          <a:chOff x="0" y="0"/>
          <a:chExt cx="0" cy="0"/>
        </a:xfrm>
      </p:grpSpPr>
      <p:sp>
        <p:nvSpPr>
          <p:cNvPr id="2" name="Text 0"/>
          <p:cNvSpPr txBox="1"/>
          <p:nvPr/>
        </p:nvSpPr>
        <p:spPr>
          <a:xfrm>
            <a:off x="914400" y="1600200"/>
            <a:ext cx="5943600" cy="1007872"/>
          </a:xfrm>
          <a:prstGeom prst="rect">
            <a:avLst/>
          </a:prstGeom>
          <a:noFill/>
          <a:ln/>
        </p:spPr>
        <p:txBody>
          <a:bodyPr wrap="square" lIns="0" tIns="0" rIns="0" bIns="0" rtlCol="0" anchor="t"/>
          <a:lstStyle/>
          <a:p>
            <a:pPr algn="l" indent="0" marL="0">
              <a:lnSpc>
                <a:spcPct val="128000"/>
              </a:lnSpc>
              <a:buNone/>
            </a:pPr>
            <a:r>
              <a:rPr lang="en-US" sz="6200" b="1" dirty="0">
                <a:solidFill>
                  <a:srgbClr val="F2EDE6"/>
                </a:solidFill>
                <a:latin typeface="Arial" pitchFamily="34" charset="0"/>
                <a:ea typeface="Arial" pitchFamily="34" charset="-122"/>
                <a:cs typeface="Arial" pitchFamily="34" charset="-120"/>
              </a:rPr>
              <a:t>Claude Code</a:t>
            </a:r>
            <a:endParaRPr lang="en-US" sz="6200" dirty="0"/>
          </a:p>
        </p:txBody>
      </p:sp>
      <p:sp>
        <p:nvSpPr>
          <p:cNvPr id="3" name="Text 1"/>
          <p:cNvSpPr txBox="1"/>
          <p:nvPr/>
        </p:nvSpPr>
        <p:spPr>
          <a:xfrm>
            <a:off x="914400" y="2608072"/>
            <a:ext cx="5943600" cy="1007872"/>
          </a:xfrm>
          <a:prstGeom prst="rect">
            <a:avLst/>
          </a:prstGeom>
          <a:noFill/>
          <a:ln/>
        </p:spPr>
        <p:txBody>
          <a:bodyPr wrap="square" lIns="0" tIns="0" rIns="0" bIns="0" rtlCol="0" anchor="t"/>
          <a:lstStyle/>
          <a:p>
            <a:pPr algn="l" indent="0" marL="0">
              <a:lnSpc>
                <a:spcPct val="128000"/>
              </a:lnSpc>
              <a:buNone/>
            </a:pPr>
            <a:r>
              <a:rPr lang="en-US" sz="6200" b="1" dirty="0">
                <a:solidFill>
                  <a:srgbClr val="C96442"/>
                </a:solidFill>
                <a:latin typeface="Arial" pitchFamily="34" charset="0"/>
                <a:ea typeface="Arial" pitchFamily="34" charset="-122"/>
                <a:cs typeface="Arial" pitchFamily="34" charset="-120"/>
              </a:rPr>
              <a:t>101</a:t>
            </a:r>
            <a:endParaRPr lang="en-US" sz="6200" dirty="0"/>
          </a:p>
        </p:txBody>
      </p:sp>
      <p:pic>
        <p:nvPicPr>
          <p:cNvPr id="4" name="Image 0" descr="/Users/admin/repos/abcop-ai-101/decks/claude-code-101/assets/claude-logo-light.png">    </p:cNvPr>
          <p:cNvPicPr>
            <a:picLocks noChangeAspect="1"/>
          </p:cNvPicPr>
          <p:nvPr/>
        </p:nvPicPr>
        <p:blipFill>
          <a:blip r:embed="rId1"/>
          <a:stretch>
            <a:fillRect/>
          </a:stretch>
        </p:blipFill>
        <p:spPr>
          <a:xfrm>
            <a:off x="10561320" y="685800"/>
            <a:ext cx="713232" cy="713232"/>
          </a:xfrm>
          <a:prstGeom prst="rect">
            <a:avLst/>
          </a:prstGeom>
        </p:spPr>
      </p:pic>
      <p:sp>
        <p:nvSpPr>
          <p:cNvPr id="5" name="Shape 2"/>
          <p:cNvSpPr/>
          <p:nvPr/>
        </p:nvSpPr>
        <p:spPr>
          <a:xfrm>
            <a:off x="914400" y="4018280"/>
            <a:ext cx="1554480" cy="38100"/>
          </a:xfrm>
          <a:prstGeom prst="rect">
            <a:avLst/>
          </a:prstGeom>
          <a:solidFill>
            <a:srgbClr val="C96442"/>
          </a:solidFill>
          <a:ln/>
        </p:spPr>
      </p:sp>
      <p:sp>
        <p:nvSpPr>
          <p:cNvPr id="6" name="Text 3"/>
          <p:cNvSpPr txBox="1"/>
          <p:nvPr/>
        </p:nvSpPr>
        <p:spPr>
          <a:xfrm>
            <a:off x="914400" y="4310888"/>
            <a:ext cx="5669280" cy="731520"/>
          </a:xfrm>
          <a:prstGeom prst="rect">
            <a:avLst/>
          </a:prstGeom>
          <a:noFill/>
          <a:ln/>
        </p:spPr>
        <p:txBody>
          <a:bodyPr wrap="square" lIns="0" tIns="0" rIns="0" bIns="0" rtlCol="0" anchor="t"/>
          <a:lstStyle/>
          <a:p>
            <a:pPr algn="l" indent="0" marL="0">
              <a:lnSpc>
                <a:spcPct val="128000"/>
              </a:lnSpc>
              <a:buNone/>
            </a:pPr>
            <a:r>
              <a:rPr lang="en-US" sz="1500" dirty="0">
                <a:solidFill>
                  <a:srgbClr val="B8B1A8"/>
                </a:solidFill>
                <a:latin typeface="Arial" pitchFamily="34" charset="0"/>
                <a:ea typeface="Arial" pitchFamily="34" charset="-122"/>
                <a:cs typeface="Arial" pitchFamily="34" charset="-120"/>
              </a:rPr>
              <a:t>What context is, why it decides the quality of everything Claude does, and the setup that makes short prompts work every time.</a:t>
            </a:r>
            <a:endParaRPr lang="en-US" sz="1500" dirty="0"/>
          </a:p>
        </p:txBody>
      </p:sp>
      <p:sp>
        <p:nvSpPr>
          <p:cNvPr id="7" name="Shape 4"/>
          <p:cNvSpPr/>
          <p:nvPr/>
        </p:nvSpPr>
        <p:spPr>
          <a:xfrm>
            <a:off x="914400" y="5408168"/>
            <a:ext cx="1217168" cy="346710"/>
          </a:xfrm>
          <a:prstGeom prst="roundRect">
            <a:avLst>
              <a:gd name="adj" fmla="val 131868"/>
            </a:avLst>
          </a:prstGeom>
          <a:solidFill>
            <a:srgbClr val="332E28"/>
          </a:solidFill>
          <a:ln/>
        </p:spPr>
      </p:sp>
      <p:sp>
        <p:nvSpPr>
          <p:cNvPr id="8" name="Text 5"/>
          <p:cNvSpPr txBox="1"/>
          <p:nvPr/>
        </p:nvSpPr>
        <p:spPr>
          <a:xfrm>
            <a:off x="914400" y="5408168"/>
            <a:ext cx="1217168"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7 sections</a:t>
            </a:r>
            <a:endParaRPr lang="en-US" sz="1300" dirty="0"/>
          </a:p>
        </p:txBody>
      </p:sp>
      <p:sp>
        <p:nvSpPr>
          <p:cNvPr id="9" name="Shape 6"/>
          <p:cNvSpPr/>
          <p:nvPr/>
        </p:nvSpPr>
        <p:spPr>
          <a:xfrm>
            <a:off x="2241296" y="5408168"/>
            <a:ext cx="939800" cy="346710"/>
          </a:xfrm>
          <a:prstGeom prst="roundRect">
            <a:avLst>
              <a:gd name="adj" fmla="val 131868"/>
            </a:avLst>
          </a:prstGeom>
          <a:solidFill>
            <a:srgbClr val="332E28"/>
          </a:solidFill>
          <a:ln/>
        </p:spPr>
      </p:sp>
      <p:sp>
        <p:nvSpPr>
          <p:cNvPr id="10" name="Text 7"/>
          <p:cNvSpPr txBox="1"/>
          <p:nvPr/>
        </p:nvSpPr>
        <p:spPr>
          <a:xfrm>
            <a:off x="2241296" y="5408168"/>
            <a:ext cx="939800"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~45 min</a:t>
            </a:r>
            <a:endParaRPr lang="en-US" sz="1300" dirty="0"/>
          </a:p>
        </p:txBody>
      </p:sp>
      <p:sp>
        <p:nvSpPr>
          <p:cNvPr id="11" name="Shape 8"/>
          <p:cNvSpPr/>
          <p:nvPr/>
        </p:nvSpPr>
        <p:spPr>
          <a:xfrm>
            <a:off x="3290824" y="5408168"/>
            <a:ext cx="1864360" cy="346710"/>
          </a:xfrm>
          <a:prstGeom prst="roundRect">
            <a:avLst>
              <a:gd name="adj" fmla="val 131868"/>
            </a:avLst>
          </a:prstGeom>
          <a:solidFill>
            <a:srgbClr val="332E28"/>
          </a:solidFill>
          <a:ln/>
        </p:spPr>
      </p:sp>
      <p:sp>
        <p:nvSpPr>
          <p:cNvPr id="12" name="Text 9"/>
          <p:cNvSpPr txBox="1"/>
          <p:nvPr/>
        </p:nvSpPr>
        <p:spPr>
          <a:xfrm>
            <a:off x="3290824" y="5408168"/>
            <a:ext cx="1864360"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Questions welcome</a:t>
            </a:r>
            <a:endParaRPr lang="en-US" sz="1300" dirty="0"/>
          </a:p>
        </p:txBody>
      </p:sp>
      <p:sp>
        <p:nvSpPr>
          <p:cNvPr id="13" name="Text 10"/>
          <p:cNvSpPr txBox="1"/>
          <p:nvPr/>
        </p:nvSpPr>
        <p:spPr>
          <a:xfrm>
            <a:off x="7452360" y="1783080"/>
            <a:ext cx="3840480" cy="195072"/>
          </a:xfrm>
          <a:prstGeom prst="rect">
            <a:avLst/>
          </a:prstGeom>
          <a:noFill/>
          <a:ln/>
        </p:spPr>
        <p:txBody>
          <a:bodyPr wrap="square" lIns="0" tIns="0" rIns="0" bIns="0" rtlCol="0" anchor="t"/>
          <a:lstStyle/>
          <a:p>
            <a:pPr algn="l" indent="0" marL="0">
              <a:lnSpc>
                <a:spcPct val="128000"/>
              </a:lnSpc>
              <a:buNone/>
            </a:pPr>
            <a:r>
              <a:rPr lang="en-US" sz="1200" b="1" dirty="0">
                <a:solidFill>
                  <a:srgbClr val="C96442"/>
                </a:solidFill>
                <a:latin typeface="Arial" pitchFamily="34" charset="0"/>
                <a:ea typeface="Arial" pitchFamily="34" charset="-122"/>
                <a:cs typeface="Arial" pitchFamily="34" charset="-120"/>
              </a:rPr>
              <a:t>In this session</a:t>
            </a:r>
            <a:endParaRPr lang="en-US" sz="1200" dirty="0"/>
          </a:p>
        </p:txBody>
      </p:sp>
      <p:sp>
        <p:nvSpPr>
          <p:cNvPr id="14" name="Text 11"/>
          <p:cNvSpPr txBox="1"/>
          <p:nvPr/>
        </p:nvSpPr>
        <p:spPr>
          <a:xfrm>
            <a:off x="7452360" y="2148840"/>
            <a:ext cx="285750" cy="266700"/>
          </a:xfrm>
          <a:prstGeom prst="rect">
            <a:avLst/>
          </a:prstGeom>
          <a:noFill/>
          <a:ln/>
        </p:spPr>
        <p:txBody>
          <a:bodyPr wrap="square" lIns="0" tIns="0" rIns="0" bIns="0" rtlCol="0" anchor="t"/>
          <a:lstStyle/>
          <a:p>
            <a:pPr algn="l" indent="0" marL="0">
              <a:lnSpc>
                <a:spcPct val="128000"/>
              </a:lnSpc>
              <a:buNone/>
            </a:pPr>
            <a:r>
              <a:rPr lang="en-US" sz="1500" b="1" dirty="0">
                <a:solidFill>
                  <a:srgbClr val="C96442"/>
                </a:solidFill>
                <a:latin typeface="Arial" pitchFamily="34" charset="0"/>
                <a:ea typeface="Arial" pitchFamily="34" charset="-122"/>
                <a:cs typeface="Arial" pitchFamily="34" charset="-120"/>
              </a:rPr>
              <a:t>–</a:t>
            </a:r>
            <a:endParaRPr lang="en-US" sz="1500" dirty="0"/>
          </a:p>
        </p:txBody>
      </p:sp>
      <p:sp>
        <p:nvSpPr>
          <p:cNvPr id="15" name="Text 12"/>
          <p:cNvSpPr txBox="1"/>
          <p:nvPr/>
        </p:nvSpPr>
        <p:spPr>
          <a:xfrm>
            <a:off x="7738110" y="2148840"/>
            <a:ext cx="3554730" cy="243840"/>
          </a:xfrm>
          <a:prstGeom prst="rect">
            <a:avLst/>
          </a:prstGeom>
          <a:noFill/>
          <a:ln/>
        </p:spPr>
        <p:txBody>
          <a:bodyPr wrap="square" lIns="0" tIns="0" rIns="0" bIns="0" rtlCol="0" anchor="t"/>
          <a:lstStyle/>
          <a:p>
            <a:pPr algn="l" indent="0" marL="0">
              <a:lnSpc>
                <a:spcPct val="128000"/>
              </a:lnSpc>
              <a:buNone/>
            </a:pPr>
            <a:r>
              <a:rPr lang="en-US" sz="1500" dirty="0">
                <a:solidFill>
                  <a:srgbClr val="F2EDE6"/>
                </a:solidFill>
                <a:latin typeface="Arial" pitchFamily="34" charset="0"/>
                <a:ea typeface="Arial" pitchFamily="34" charset="-122"/>
                <a:cs typeface="Arial" pitchFamily="34" charset="-120"/>
              </a:rPr>
              <a:t>01  Installation</a:t>
            </a:r>
            <a:endParaRPr lang="en-US" sz="1500" dirty="0"/>
          </a:p>
        </p:txBody>
      </p:sp>
      <p:sp>
        <p:nvSpPr>
          <p:cNvPr id="16" name="Text 13"/>
          <p:cNvSpPr txBox="1"/>
          <p:nvPr/>
        </p:nvSpPr>
        <p:spPr>
          <a:xfrm>
            <a:off x="7452360" y="2538618"/>
            <a:ext cx="285750" cy="266700"/>
          </a:xfrm>
          <a:prstGeom prst="rect">
            <a:avLst/>
          </a:prstGeom>
          <a:noFill/>
          <a:ln/>
        </p:spPr>
        <p:txBody>
          <a:bodyPr wrap="square" lIns="0" tIns="0" rIns="0" bIns="0" rtlCol="0" anchor="t"/>
          <a:lstStyle/>
          <a:p>
            <a:pPr algn="l" indent="0" marL="0">
              <a:lnSpc>
                <a:spcPct val="128000"/>
              </a:lnSpc>
              <a:buNone/>
            </a:pPr>
            <a:r>
              <a:rPr lang="en-US" sz="1500" b="1" dirty="0">
                <a:solidFill>
                  <a:srgbClr val="C96442"/>
                </a:solidFill>
                <a:latin typeface="Arial" pitchFamily="34" charset="0"/>
                <a:ea typeface="Arial" pitchFamily="34" charset="-122"/>
                <a:cs typeface="Arial" pitchFamily="34" charset="-120"/>
              </a:rPr>
              <a:t>–</a:t>
            </a:r>
            <a:endParaRPr lang="en-US" sz="1500" dirty="0"/>
          </a:p>
        </p:txBody>
      </p:sp>
      <p:sp>
        <p:nvSpPr>
          <p:cNvPr id="17" name="Text 14"/>
          <p:cNvSpPr txBox="1"/>
          <p:nvPr/>
        </p:nvSpPr>
        <p:spPr>
          <a:xfrm>
            <a:off x="7738110" y="2538618"/>
            <a:ext cx="3554730" cy="243840"/>
          </a:xfrm>
          <a:prstGeom prst="rect">
            <a:avLst/>
          </a:prstGeom>
          <a:noFill/>
          <a:ln/>
        </p:spPr>
        <p:txBody>
          <a:bodyPr wrap="square" lIns="0" tIns="0" rIns="0" bIns="0" rtlCol="0" anchor="t"/>
          <a:lstStyle/>
          <a:p>
            <a:pPr algn="l" indent="0" marL="0">
              <a:lnSpc>
                <a:spcPct val="128000"/>
              </a:lnSpc>
              <a:buNone/>
            </a:pPr>
            <a:r>
              <a:rPr lang="en-US" sz="1500" dirty="0">
                <a:solidFill>
                  <a:srgbClr val="F2EDE6"/>
                </a:solidFill>
                <a:latin typeface="Arial" pitchFamily="34" charset="0"/>
                <a:ea typeface="Arial" pitchFamily="34" charset="-122"/>
                <a:cs typeface="Arial" pitchFamily="34" charset="-120"/>
              </a:rPr>
              <a:t>02  How to Communicate with Claude</a:t>
            </a:r>
            <a:endParaRPr lang="en-US" sz="1500" dirty="0"/>
          </a:p>
        </p:txBody>
      </p:sp>
      <p:sp>
        <p:nvSpPr>
          <p:cNvPr id="18" name="Text 15"/>
          <p:cNvSpPr txBox="1"/>
          <p:nvPr/>
        </p:nvSpPr>
        <p:spPr>
          <a:xfrm>
            <a:off x="7452360" y="2928396"/>
            <a:ext cx="285750" cy="266700"/>
          </a:xfrm>
          <a:prstGeom prst="rect">
            <a:avLst/>
          </a:prstGeom>
          <a:noFill/>
          <a:ln/>
        </p:spPr>
        <p:txBody>
          <a:bodyPr wrap="square" lIns="0" tIns="0" rIns="0" bIns="0" rtlCol="0" anchor="t"/>
          <a:lstStyle/>
          <a:p>
            <a:pPr algn="l" indent="0" marL="0">
              <a:lnSpc>
                <a:spcPct val="128000"/>
              </a:lnSpc>
              <a:buNone/>
            </a:pPr>
            <a:r>
              <a:rPr lang="en-US" sz="1500" b="1" dirty="0">
                <a:solidFill>
                  <a:srgbClr val="C96442"/>
                </a:solidFill>
                <a:latin typeface="Arial" pitchFamily="34" charset="0"/>
                <a:ea typeface="Arial" pitchFamily="34" charset="-122"/>
                <a:cs typeface="Arial" pitchFamily="34" charset="-120"/>
              </a:rPr>
              <a:t>–</a:t>
            </a:r>
            <a:endParaRPr lang="en-US" sz="1500" dirty="0"/>
          </a:p>
        </p:txBody>
      </p:sp>
      <p:sp>
        <p:nvSpPr>
          <p:cNvPr id="19" name="Text 16"/>
          <p:cNvSpPr txBox="1"/>
          <p:nvPr/>
        </p:nvSpPr>
        <p:spPr>
          <a:xfrm>
            <a:off x="7738110" y="2928396"/>
            <a:ext cx="3554730" cy="243840"/>
          </a:xfrm>
          <a:prstGeom prst="rect">
            <a:avLst/>
          </a:prstGeom>
          <a:noFill/>
          <a:ln/>
        </p:spPr>
        <p:txBody>
          <a:bodyPr wrap="square" lIns="0" tIns="0" rIns="0" bIns="0" rtlCol="0" anchor="t"/>
          <a:lstStyle/>
          <a:p>
            <a:pPr algn="l" indent="0" marL="0">
              <a:lnSpc>
                <a:spcPct val="128000"/>
              </a:lnSpc>
              <a:buNone/>
            </a:pPr>
            <a:r>
              <a:rPr lang="en-US" sz="1500" dirty="0">
                <a:solidFill>
                  <a:srgbClr val="F2EDE6"/>
                </a:solidFill>
                <a:latin typeface="Arial" pitchFamily="34" charset="0"/>
                <a:ea typeface="Arial" pitchFamily="34" charset="-122"/>
                <a:cs typeface="Arial" pitchFamily="34" charset="-120"/>
              </a:rPr>
              <a:t>03  Context</a:t>
            </a:r>
            <a:endParaRPr lang="en-US" sz="1500" dirty="0"/>
          </a:p>
        </p:txBody>
      </p:sp>
      <p:sp>
        <p:nvSpPr>
          <p:cNvPr id="20" name="Text 17"/>
          <p:cNvSpPr txBox="1"/>
          <p:nvPr/>
        </p:nvSpPr>
        <p:spPr>
          <a:xfrm>
            <a:off x="7452360" y="3318175"/>
            <a:ext cx="285750" cy="266700"/>
          </a:xfrm>
          <a:prstGeom prst="rect">
            <a:avLst/>
          </a:prstGeom>
          <a:noFill/>
          <a:ln/>
        </p:spPr>
        <p:txBody>
          <a:bodyPr wrap="square" lIns="0" tIns="0" rIns="0" bIns="0" rtlCol="0" anchor="t"/>
          <a:lstStyle/>
          <a:p>
            <a:pPr algn="l" indent="0" marL="0">
              <a:lnSpc>
                <a:spcPct val="128000"/>
              </a:lnSpc>
              <a:buNone/>
            </a:pPr>
            <a:r>
              <a:rPr lang="en-US" sz="1500" b="1" dirty="0">
                <a:solidFill>
                  <a:srgbClr val="C96442"/>
                </a:solidFill>
                <a:latin typeface="Arial" pitchFamily="34" charset="0"/>
                <a:ea typeface="Arial" pitchFamily="34" charset="-122"/>
                <a:cs typeface="Arial" pitchFamily="34" charset="-120"/>
              </a:rPr>
              <a:t>–</a:t>
            </a:r>
            <a:endParaRPr lang="en-US" sz="1500" dirty="0"/>
          </a:p>
        </p:txBody>
      </p:sp>
      <p:sp>
        <p:nvSpPr>
          <p:cNvPr id="21" name="Text 18"/>
          <p:cNvSpPr txBox="1"/>
          <p:nvPr/>
        </p:nvSpPr>
        <p:spPr>
          <a:xfrm>
            <a:off x="7738110" y="3318175"/>
            <a:ext cx="3554730" cy="243840"/>
          </a:xfrm>
          <a:prstGeom prst="rect">
            <a:avLst/>
          </a:prstGeom>
          <a:noFill/>
          <a:ln/>
        </p:spPr>
        <p:txBody>
          <a:bodyPr wrap="square" lIns="0" tIns="0" rIns="0" bIns="0" rtlCol="0" anchor="t"/>
          <a:lstStyle/>
          <a:p>
            <a:pPr algn="l" indent="0" marL="0">
              <a:lnSpc>
                <a:spcPct val="128000"/>
              </a:lnSpc>
              <a:buNone/>
            </a:pPr>
            <a:r>
              <a:rPr lang="en-US" sz="1500" dirty="0">
                <a:solidFill>
                  <a:srgbClr val="F2EDE6"/>
                </a:solidFill>
                <a:latin typeface="Arial" pitchFamily="34" charset="0"/>
                <a:ea typeface="Arial" pitchFamily="34" charset="-122"/>
                <a:cs typeface="Arial" pitchFamily="34" charset="-120"/>
              </a:rPr>
              <a:t>04  Context Management</a:t>
            </a:r>
            <a:endParaRPr lang="en-US" sz="1500" dirty="0"/>
          </a:p>
        </p:txBody>
      </p:sp>
      <p:sp>
        <p:nvSpPr>
          <p:cNvPr id="22" name="Text 19"/>
          <p:cNvSpPr txBox="1"/>
          <p:nvPr/>
        </p:nvSpPr>
        <p:spPr>
          <a:xfrm>
            <a:off x="7452360" y="3707953"/>
            <a:ext cx="285750" cy="266700"/>
          </a:xfrm>
          <a:prstGeom prst="rect">
            <a:avLst/>
          </a:prstGeom>
          <a:noFill/>
          <a:ln/>
        </p:spPr>
        <p:txBody>
          <a:bodyPr wrap="square" lIns="0" tIns="0" rIns="0" bIns="0" rtlCol="0" anchor="t"/>
          <a:lstStyle/>
          <a:p>
            <a:pPr algn="l" indent="0" marL="0">
              <a:lnSpc>
                <a:spcPct val="128000"/>
              </a:lnSpc>
              <a:buNone/>
            </a:pPr>
            <a:r>
              <a:rPr lang="en-US" sz="1500" b="1" dirty="0">
                <a:solidFill>
                  <a:srgbClr val="C96442"/>
                </a:solidFill>
                <a:latin typeface="Arial" pitchFamily="34" charset="0"/>
                <a:ea typeface="Arial" pitchFamily="34" charset="-122"/>
                <a:cs typeface="Arial" pitchFamily="34" charset="-120"/>
              </a:rPr>
              <a:t>–</a:t>
            </a:r>
            <a:endParaRPr lang="en-US" sz="1500" dirty="0"/>
          </a:p>
        </p:txBody>
      </p:sp>
      <p:sp>
        <p:nvSpPr>
          <p:cNvPr id="23" name="Text 20"/>
          <p:cNvSpPr txBox="1"/>
          <p:nvPr/>
        </p:nvSpPr>
        <p:spPr>
          <a:xfrm>
            <a:off x="7738110" y="3707953"/>
            <a:ext cx="3554730" cy="243840"/>
          </a:xfrm>
          <a:prstGeom prst="rect">
            <a:avLst/>
          </a:prstGeom>
          <a:noFill/>
          <a:ln/>
        </p:spPr>
        <p:txBody>
          <a:bodyPr wrap="square" lIns="0" tIns="0" rIns="0" bIns="0" rtlCol="0" anchor="t"/>
          <a:lstStyle/>
          <a:p>
            <a:pPr algn="l" indent="0" marL="0">
              <a:lnSpc>
                <a:spcPct val="128000"/>
              </a:lnSpc>
              <a:buNone/>
            </a:pPr>
            <a:r>
              <a:rPr lang="en-US" sz="1500" dirty="0">
                <a:solidFill>
                  <a:srgbClr val="F2EDE6"/>
                </a:solidFill>
                <a:latin typeface="Arial" pitchFamily="34" charset="0"/>
                <a:ea typeface="Arial" pitchFamily="34" charset="-122"/>
                <a:cs typeface="Arial" pitchFamily="34" charset="-120"/>
              </a:rPr>
              <a:t>05  Claude Customization</a:t>
            </a:r>
            <a:endParaRPr lang="en-US" sz="1500" dirty="0"/>
          </a:p>
        </p:txBody>
      </p:sp>
      <p:sp>
        <p:nvSpPr>
          <p:cNvPr id="24" name="Text 21"/>
          <p:cNvSpPr txBox="1"/>
          <p:nvPr/>
        </p:nvSpPr>
        <p:spPr>
          <a:xfrm>
            <a:off x="7452360" y="4097731"/>
            <a:ext cx="285750" cy="266700"/>
          </a:xfrm>
          <a:prstGeom prst="rect">
            <a:avLst/>
          </a:prstGeom>
          <a:noFill/>
          <a:ln/>
        </p:spPr>
        <p:txBody>
          <a:bodyPr wrap="square" lIns="0" tIns="0" rIns="0" bIns="0" rtlCol="0" anchor="t"/>
          <a:lstStyle/>
          <a:p>
            <a:pPr algn="l" indent="0" marL="0">
              <a:lnSpc>
                <a:spcPct val="128000"/>
              </a:lnSpc>
              <a:buNone/>
            </a:pPr>
            <a:r>
              <a:rPr lang="en-US" sz="1500" b="1" dirty="0">
                <a:solidFill>
                  <a:srgbClr val="C96442"/>
                </a:solidFill>
                <a:latin typeface="Arial" pitchFamily="34" charset="0"/>
                <a:ea typeface="Arial" pitchFamily="34" charset="-122"/>
                <a:cs typeface="Arial" pitchFamily="34" charset="-120"/>
              </a:rPr>
              <a:t>–</a:t>
            </a:r>
            <a:endParaRPr lang="en-US" sz="1500" dirty="0"/>
          </a:p>
        </p:txBody>
      </p:sp>
      <p:sp>
        <p:nvSpPr>
          <p:cNvPr id="25" name="Text 22"/>
          <p:cNvSpPr txBox="1"/>
          <p:nvPr/>
        </p:nvSpPr>
        <p:spPr>
          <a:xfrm>
            <a:off x="7738110" y="4097731"/>
            <a:ext cx="3554730" cy="243840"/>
          </a:xfrm>
          <a:prstGeom prst="rect">
            <a:avLst/>
          </a:prstGeom>
          <a:noFill/>
          <a:ln/>
        </p:spPr>
        <p:txBody>
          <a:bodyPr wrap="square" lIns="0" tIns="0" rIns="0" bIns="0" rtlCol="0" anchor="t"/>
          <a:lstStyle/>
          <a:p>
            <a:pPr algn="l" indent="0" marL="0">
              <a:lnSpc>
                <a:spcPct val="128000"/>
              </a:lnSpc>
              <a:buNone/>
            </a:pPr>
            <a:r>
              <a:rPr lang="en-US" sz="1500" dirty="0">
                <a:solidFill>
                  <a:srgbClr val="F2EDE6"/>
                </a:solidFill>
                <a:latin typeface="Arial" pitchFamily="34" charset="0"/>
                <a:ea typeface="Arial" pitchFamily="34" charset="-122"/>
                <a:cs typeface="Arial" pitchFamily="34" charset="-120"/>
              </a:rPr>
              <a:t>06  ABCOP AI Playbooks</a:t>
            </a:r>
            <a:endParaRPr lang="en-US" sz="1500" dirty="0"/>
          </a:p>
        </p:txBody>
      </p:sp>
      <p:sp>
        <p:nvSpPr>
          <p:cNvPr id="26" name="Text 23"/>
          <p:cNvSpPr txBox="1"/>
          <p:nvPr/>
        </p:nvSpPr>
        <p:spPr>
          <a:xfrm>
            <a:off x="7452360" y="4487509"/>
            <a:ext cx="285750" cy="266700"/>
          </a:xfrm>
          <a:prstGeom prst="rect">
            <a:avLst/>
          </a:prstGeom>
          <a:noFill/>
          <a:ln/>
        </p:spPr>
        <p:txBody>
          <a:bodyPr wrap="square" lIns="0" tIns="0" rIns="0" bIns="0" rtlCol="0" anchor="t"/>
          <a:lstStyle/>
          <a:p>
            <a:pPr algn="l" indent="0" marL="0">
              <a:lnSpc>
                <a:spcPct val="128000"/>
              </a:lnSpc>
              <a:buNone/>
            </a:pPr>
            <a:r>
              <a:rPr lang="en-US" sz="1500" b="1" dirty="0">
                <a:solidFill>
                  <a:srgbClr val="C96442"/>
                </a:solidFill>
                <a:latin typeface="Arial" pitchFamily="34" charset="0"/>
                <a:ea typeface="Arial" pitchFamily="34" charset="-122"/>
                <a:cs typeface="Arial" pitchFamily="34" charset="-120"/>
              </a:rPr>
              <a:t>–</a:t>
            </a:r>
            <a:endParaRPr lang="en-US" sz="1500" dirty="0"/>
          </a:p>
        </p:txBody>
      </p:sp>
      <p:sp>
        <p:nvSpPr>
          <p:cNvPr id="27" name="Text 24"/>
          <p:cNvSpPr txBox="1"/>
          <p:nvPr/>
        </p:nvSpPr>
        <p:spPr>
          <a:xfrm>
            <a:off x="7738110" y="4487509"/>
            <a:ext cx="3554730" cy="243840"/>
          </a:xfrm>
          <a:prstGeom prst="rect">
            <a:avLst/>
          </a:prstGeom>
          <a:noFill/>
          <a:ln/>
        </p:spPr>
        <p:txBody>
          <a:bodyPr wrap="square" lIns="0" tIns="0" rIns="0" bIns="0" rtlCol="0" anchor="t"/>
          <a:lstStyle/>
          <a:p>
            <a:pPr algn="l" indent="0" marL="0">
              <a:lnSpc>
                <a:spcPct val="128000"/>
              </a:lnSpc>
              <a:buNone/>
            </a:pPr>
            <a:r>
              <a:rPr lang="en-US" sz="1500" dirty="0">
                <a:solidFill>
                  <a:srgbClr val="F2EDE6"/>
                </a:solidFill>
                <a:latin typeface="Arial" pitchFamily="34" charset="0"/>
                <a:ea typeface="Arial" pitchFamily="34" charset="-122"/>
                <a:cs typeface="Arial" pitchFamily="34" charset="-120"/>
              </a:rPr>
              <a:t>07  Pro-Tips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6221E"/>
        </a:solidFill>
      </p:bgPr>
    </p:bg>
    <p:spTree>
      <p:nvGrpSpPr>
        <p:cNvPr id="1" name=""/>
        <p:cNvGrpSpPr/>
        <p:nvPr/>
      </p:nvGrpSpPr>
      <p:grpSpPr>
        <a:xfrm>
          <a:off x="0" y="0"/>
          <a:ext cx="0" cy="0"/>
          <a:chOff x="0" y="0"/>
          <a:chExt cx="0" cy="0"/>
        </a:xfrm>
      </p:grpSpPr>
      <p:sp>
        <p:nvSpPr>
          <p:cNvPr id="2" name="Text 0"/>
          <p:cNvSpPr txBox="1"/>
          <p:nvPr/>
        </p:nvSpPr>
        <p:spPr>
          <a:xfrm>
            <a:off x="777240" y="2356485"/>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01 · INSTALLATION</a:t>
            </a:r>
            <a:endParaRPr lang="en-US" sz="1200" dirty="0"/>
          </a:p>
        </p:txBody>
      </p:sp>
      <p:sp>
        <p:nvSpPr>
          <p:cNvPr id="3" name="Text 1"/>
          <p:cNvSpPr txBox="1"/>
          <p:nvPr/>
        </p:nvSpPr>
        <p:spPr>
          <a:xfrm>
            <a:off x="777240" y="2639949"/>
            <a:ext cx="10637215" cy="845312"/>
          </a:xfrm>
          <a:prstGeom prst="rect">
            <a:avLst/>
          </a:prstGeom>
          <a:noFill/>
          <a:ln/>
        </p:spPr>
        <p:txBody>
          <a:bodyPr wrap="square" lIns="0" tIns="0" rIns="0" bIns="0" rtlCol="0" anchor="t"/>
          <a:lstStyle/>
          <a:p>
            <a:pPr algn="l" indent="0" marL="0">
              <a:lnSpc>
                <a:spcPct val="128000"/>
              </a:lnSpc>
              <a:buNone/>
            </a:pPr>
            <a:r>
              <a:rPr lang="en-US" sz="5200" b="1" dirty="0">
                <a:solidFill>
                  <a:srgbClr val="C96442"/>
                </a:solidFill>
                <a:latin typeface="Arial" pitchFamily="34" charset="0"/>
                <a:ea typeface="Arial" pitchFamily="34" charset="-122"/>
                <a:cs typeface="Arial" pitchFamily="34" charset="-120"/>
              </a:rPr>
              <a:t>Installation</a:t>
            </a:r>
            <a:endParaRPr lang="en-US" sz="5200" dirty="0"/>
          </a:p>
        </p:txBody>
      </p:sp>
      <p:sp>
        <p:nvSpPr>
          <p:cNvPr id="4" name="Text 2"/>
          <p:cNvSpPr txBox="1"/>
          <p:nvPr/>
        </p:nvSpPr>
        <p:spPr>
          <a:xfrm>
            <a:off x="777240" y="3887597"/>
            <a:ext cx="8412480" cy="276352"/>
          </a:xfrm>
          <a:prstGeom prst="rect">
            <a:avLst/>
          </a:prstGeom>
          <a:noFill/>
          <a:ln/>
        </p:spPr>
        <p:txBody>
          <a:bodyPr wrap="square" lIns="0" tIns="0" rIns="0" bIns="0" rtlCol="0" anchor="t"/>
          <a:lstStyle/>
          <a:p>
            <a:pPr algn="l" indent="0" marL="0">
              <a:lnSpc>
                <a:spcPct val="128000"/>
              </a:lnSpc>
              <a:buNone/>
            </a:pPr>
            <a:r>
              <a:rPr lang="en-US" sz="1700" dirty="0">
                <a:solidFill>
                  <a:srgbClr val="B8B1A8"/>
                </a:solidFill>
                <a:latin typeface="Arial" pitchFamily="34" charset="0"/>
                <a:ea typeface="Arial" pitchFamily="34" charset="-122"/>
                <a:cs typeface="Arial" pitchFamily="34" charset="-120"/>
              </a:rPr>
              <a:t>How to get started</a:t>
            </a:r>
            <a:endParaRPr lang="en-US" sz="1700" dirty="0"/>
          </a:p>
        </p:txBody>
      </p:sp>
      <p:sp>
        <p:nvSpPr>
          <p:cNvPr id="5" name="Shape 3"/>
          <p:cNvSpPr/>
          <p:nvPr/>
        </p:nvSpPr>
        <p:spPr>
          <a:xfrm>
            <a:off x="777240" y="4401693"/>
            <a:ext cx="939800" cy="346710"/>
          </a:xfrm>
          <a:prstGeom prst="roundRect">
            <a:avLst>
              <a:gd name="adj" fmla="val 131868"/>
            </a:avLst>
          </a:prstGeom>
          <a:solidFill>
            <a:srgbClr val="332E28"/>
          </a:solidFill>
          <a:ln/>
        </p:spPr>
      </p:sp>
      <p:sp>
        <p:nvSpPr>
          <p:cNvPr id="6" name="Text 4"/>
          <p:cNvSpPr txBox="1"/>
          <p:nvPr/>
        </p:nvSpPr>
        <p:spPr>
          <a:xfrm>
            <a:off x="777240" y="4401693"/>
            <a:ext cx="939800"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Desktop</a:t>
            </a:r>
            <a:endParaRPr lang="en-US" sz="1300" dirty="0"/>
          </a:p>
        </p:txBody>
      </p:sp>
      <p:sp>
        <p:nvSpPr>
          <p:cNvPr id="7" name="Shape 5"/>
          <p:cNvSpPr/>
          <p:nvPr/>
        </p:nvSpPr>
        <p:spPr>
          <a:xfrm>
            <a:off x="1826768" y="4401693"/>
            <a:ext cx="939800" cy="346710"/>
          </a:xfrm>
          <a:prstGeom prst="roundRect">
            <a:avLst>
              <a:gd name="adj" fmla="val 131868"/>
            </a:avLst>
          </a:prstGeom>
          <a:solidFill>
            <a:srgbClr val="332E28"/>
          </a:solidFill>
          <a:ln/>
        </p:spPr>
      </p:sp>
      <p:sp>
        <p:nvSpPr>
          <p:cNvPr id="8" name="Text 6"/>
          <p:cNvSpPr txBox="1"/>
          <p:nvPr/>
        </p:nvSpPr>
        <p:spPr>
          <a:xfrm>
            <a:off x="1826768" y="4401693"/>
            <a:ext cx="939800"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VS Code</a:t>
            </a:r>
            <a:endParaRPr lang="en-US" sz="1300" dirty="0"/>
          </a:p>
        </p:txBody>
      </p:sp>
      <p:sp>
        <p:nvSpPr>
          <p:cNvPr id="9" name="Shape 7"/>
          <p:cNvSpPr/>
          <p:nvPr/>
        </p:nvSpPr>
        <p:spPr>
          <a:xfrm>
            <a:off x="2876296" y="4401693"/>
            <a:ext cx="569976" cy="346710"/>
          </a:xfrm>
          <a:prstGeom prst="roundRect">
            <a:avLst>
              <a:gd name="adj" fmla="val 131868"/>
            </a:avLst>
          </a:prstGeom>
          <a:solidFill>
            <a:srgbClr val="332E28"/>
          </a:solidFill>
          <a:ln/>
        </p:spPr>
      </p:sp>
      <p:sp>
        <p:nvSpPr>
          <p:cNvPr id="10" name="Text 8"/>
          <p:cNvSpPr txBox="1"/>
          <p:nvPr/>
        </p:nvSpPr>
        <p:spPr>
          <a:xfrm>
            <a:off x="2876296" y="4401693"/>
            <a:ext cx="569976"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CLI</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1127028"/>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01 · INSTALLATION</a:t>
            </a:r>
            <a:endParaRPr lang="en-US" sz="1200" dirty="0"/>
          </a:p>
        </p:txBody>
      </p:sp>
      <p:sp>
        <p:nvSpPr>
          <p:cNvPr id="3" name="Text 1"/>
          <p:cNvSpPr txBox="1"/>
          <p:nvPr/>
        </p:nvSpPr>
        <p:spPr>
          <a:xfrm>
            <a:off x="777240" y="1410492"/>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Install Options</a:t>
            </a:r>
            <a:endParaRPr lang="en-US" sz="4000" dirty="0"/>
          </a:p>
        </p:txBody>
      </p:sp>
      <p:sp>
        <p:nvSpPr>
          <p:cNvPr id="4" name="Shape 2"/>
          <p:cNvSpPr/>
          <p:nvPr/>
        </p:nvSpPr>
        <p:spPr>
          <a:xfrm>
            <a:off x="777240" y="2463068"/>
            <a:ext cx="3387242" cy="2430272"/>
          </a:xfrm>
          <a:prstGeom prst="roundRect">
            <a:avLst>
              <a:gd name="adj" fmla="val 1699"/>
            </a:avLst>
          </a:prstGeom>
          <a:solidFill>
            <a:srgbClr val="F4F1ED"/>
          </a:solidFill>
          <a:ln w="12700">
            <a:solidFill>
              <a:srgbClr val="E4DFD9"/>
            </a:solidFill>
            <a:prstDash val="solid"/>
          </a:ln>
        </p:spPr>
      </p:sp>
      <p:sp>
        <p:nvSpPr>
          <p:cNvPr id="5" name="Shape 3"/>
          <p:cNvSpPr/>
          <p:nvPr/>
        </p:nvSpPr>
        <p:spPr>
          <a:xfrm>
            <a:off x="996696" y="2682524"/>
            <a:ext cx="457200" cy="457200"/>
          </a:xfrm>
          <a:prstGeom prst="ellipse">
            <a:avLst/>
          </a:prstGeom>
          <a:solidFill>
            <a:srgbClr val="C96442"/>
          </a:solidFill>
          <a:ln/>
        </p:spPr>
      </p:sp>
      <p:sp>
        <p:nvSpPr>
          <p:cNvPr id="6" name="Text 4"/>
          <p:cNvSpPr txBox="1"/>
          <p:nvPr/>
        </p:nvSpPr>
        <p:spPr>
          <a:xfrm>
            <a:off x="996696" y="2682524"/>
            <a:ext cx="457200" cy="457200"/>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500" dirty="0"/>
          </a:p>
        </p:txBody>
      </p:sp>
      <p:sp>
        <p:nvSpPr>
          <p:cNvPr id="7" name="Text 5"/>
          <p:cNvSpPr txBox="1"/>
          <p:nvPr/>
        </p:nvSpPr>
        <p:spPr>
          <a:xfrm>
            <a:off x="996696" y="3267740"/>
            <a:ext cx="2948330" cy="363728"/>
          </a:xfrm>
          <a:prstGeom prst="rect">
            <a:avLst/>
          </a:prstGeom>
          <a:noFill/>
          <a:ln/>
        </p:spPr>
        <p:txBody>
          <a:bodyPr wrap="square" lIns="0" tIns="0" rIns="0" bIns="0" rtlCol="0" anchor="t"/>
          <a:lstStyle/>
          <a:p>
            <a:pPr algn="l" indent="0" marL="0">
              <a:lnSpc>
                <a:spcPct val="128000"/>
              </a:lnSpc>
              <a:buNone/>
            </a:pPr>
            <a:r>
              <a:rPr lang="en-US" sz="1900" b="1" dirty="0">
                <a:solidFill>
                  <a:srgbClr val="2A2621"/>
                </a:solidFill>
                <a:latin typeface="Arial" pitchFamily="34" charset="0"/>
                <a:ea typeface="Arial" pitchFamily="34" charset="-122"/>
                <a:cs typeface="Arial" pitchFamily="34" charset="-120"/>
              </a:rPr>
              <a:t>Claude Desktop</a:t>
            </a:r>
            <a:endParaRPr lang="en-US" sz="1900" dirty="0"/>
          </a:p>
        </p:txBody>
      </p:sp>
      <p:sp>
        <p:nvSpPr>
          <p:cNvPr id="8" name="Text 6"/>
          <p:cNvSpPr txBox="1"/>
          <p:nvPr/>
        </p:nvSpPr>
        <p:spPr>
          <a:xfrm>
            <a:off x="996696" y="3631468"/>
            <a:ext cx="2948330" cy="300736"/>
          </a:xfrm>
          <a:prstGeom prst="rect">
            <a:avLst/>
          </a:prstGeom>
          <a:noFill/>
          <a:ln/>
        </p:spPr>
        <p:txBody>
          <a:bodyPr wrap="square" lIns="0" tIns="0" rIns="0" bIns="0" rtlCol="0" anchor="t"/>
          <a:lstStyle/>
          <a:p>
            <a:pPr algn="l" indent="0" marL="0">
              <a:lnSpc>
                <a:spcPct val="128000"/>
              </a:lnSpc>
              <a:buNone/>
            </a:pPr>
            <a:r>
              <a:rPr lang="en-US" sz="1400" b="1" dirty="0">
                <a:solidFill>
                  <a:srgbClr val="C96442"/>
                </a:solidFill>
                <a:latin typeface="Arial" pitchFamily="34" charset="0"/>
                <a:ea typeface="Arial" pitchFamily="34" charset="-122"/>
                <a:cs typeface="Arial" pitchFamily="34" charset="-120"/>
              </a:rPr>
              <a:t>Best for reading</a:t>
            </a:r>
            <a:endParaRPr lang="en-US" sz="1400" dirty="0"/>
          </a:p>
        </p:txBody>
      </p:sp>
      <p:sp>
        <p:nvSpPr>
          <p:cNvPr id="9" name="Shape 7"/>
          <p:cNvSpPr/>
          <p:nvPr/>
        </p:nvSpPr>
        <p:spPr>
          <a:xfrm>
            <a:off x="996696" y="4399564"/>
            <a:ext cx="1226820" cy="256032"/>
          </a:xfrm>
          <a:prstGeom prst="roundRect">
            <a:avLst>
              <a:gd name="adj" fmla="val 178571"/>
            </a:avLst>
          </a:prstGeom>
          <a:ln w="12700">
            <a:solidFill>
              <a:srgbClr val="C96442"/>
            </a:solidFill>
            <a:prstDash val="solid"/>
          </a:ln>
        </p:spPr>
      </p:sp>
      <p:sp>
        <p:nvSpPr>
          <p:cNvPr id="10" name="Text 8"/>
          <p:cNvSpPr txBox="1"/>
          <p:nvPr/>
        </p:nvSpPr>
        <p:spPr>
          <a:xfrm>
            <a:off x="996696" y="4399564"/>
            <a:ext cx="1226820" cy="256032"/>
          </a:xfrm>
          <a:prstGeom prst="rect">
            <a:avLst/>
          </a:prstGeom>
          <a:noFill/>
          <a:ln/>
        </p:spPr>
        <p:txBody>
          <a:bodyPr wrap="square" lIns="0" tIns="0" rIns="0" bIns="0" rtlCol="0" anchor="ctr"/>
          <a:lstStyle/>
          <a:p>
            <a:pPr algn="ctr" indent="0" marL="0">
              <a:lnSpc>
                <a:spcPct val="128000"/>
              </a:lnSpc>
              <a:buNone/>
            </a:pPr>
            <a:r>
              <a:rPr lang="en-US" sz="1200" b="1" dirty="0">
                <a:solidFill>
                  <a:srgbClr val="C96442"/>
                </a:solidFill>
                <a:latin typeface="Arial" pitchFamily="34" charset="0"/>
                <a:ea typeface="Arial" pitchFamily="34" charset="-122"/>
                <a:cs typeface="Arial" pitchFamily="34" charset="-120"/>
              </a:rPr>
              <a:t>Casual use</a:t>
            </a:r>
            <a:endParaRPr lang="en-US" sz="1200" dirty="0"/>
          </a:p>
        </p:txBody>
      </p:sp>
      <p:sp>
        <p:nvSpPr>
          <p:cNvPr id="11" name="Shape 9"/>
          <p:cNvSpPr/>
          <p:nvPr/>
        </p:nvSpPr>
        <p:spPr>
          <a:xfrm>
            <a:off x="4402226" y="2463068"/>
            <a:ext cx="3387242" cy="2430272"/>
          </a:xfrm>
          <a:prstGeom prst="roundRect">
            <a:avLst>
              <a:gd name="adj" fmla="val 1699"/>
            </a:avLst>
          </a:prstGeom>
          <a:solidFill>
            <a:srgbClr val="F6E7DE"/>
          </a:solidFill>
          <a:ln w="19050">
            <a:solidFill>
              <a:srgbClr val="C96442"/>
            </a:solidFill>
            <a:prstDash val="solid"/>
          </a:ln>
        </p:spPr>
      </p:sp>
      <p:sp>
        <p:nvSpPr>
          <p:cNvPr id="12" name="Shape 10"/>
          <p:cNvSpPr/>
          <p:nvPr/>
        </p:nvSpPr>
        <p:spPr>
          <a:xfrm>
            <a:off x="4621682" y="2682524"/>
            <a:ext cx="457200" cy="457200"/>
          </a:xfrm>
          <a:prstGeom prst="ellipse">
            <a:avLst/>
          </a:prstGeom>
          <a:solidFill>
            <a:srgbClr val="C96442"/>
          </a:solidFill>
          <a:ln/>
        </p:spPr>
      </p:sp>
      <p:sp>
        <p:nvSpPr>
          <p:cNvPr id="13" name="Text 11"/>
          <p:cNvSpPr txBox="1"/>
          <p:nvPr/>
        </p:nvSpPr>
        <p:spPr>
          <a:xfrm>
            <a:off x="4621682" y="2682524"/>
            <a:ext cx="457200" cy="457200"/>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500" dirty="0"/>
          </a:p>
        </p:txBody>
      </p:sp>
      <p:sp>
        <p:nvSpPr>
          <p:cNvPr id="14" name="Text 12"/>
          <p:cNvSpPr txBox="1"/>
          <p:nvPr/>
        </p:nvSpPr>
        <p:spPr>
          <a:xfrm>
            <a:off x="4621682" y="3267740"/>
            <a:ext cx="2948330" cy="363728"/>
          </a:xfrm>
          <a:prstGeom prst="rect">
            <a:avLst/>
          </a:prstGeom>
          <a:noFill/>
          <a:ln/>
        </p:spPr>
        <p:txBody>
          <a:bodyPr wrap="square" lIns="0" tIns="0" rIns="0" bIns="0" rtlCol="0" anchor="t"/>
          <a:lstStyle/>
          <a:p>
            <a:pPr algn="l" indent="0" marL="0">
              <a:lnSpc>
                <a:spcPct val="128000"/>
              </a:lnSpc>
              <a:buNone/>
            </a:pPr>
            <a:r>
              <a:rPr lang="en-US" sz="1900" b="1" dirty="0">
                <a:solidFill>
                  <a:srgbClr val="2A2621"/>
                </a:solidFill>
                <a:latin typeface="Arial" pitchFamily="34" charset="0"/>
                <a:ea typeface="Arial" pitchFamily="34" charset="-122"/>
                <a:cs typeface="Arial" pitchFamily="34" charset="-120"/>
              </a:rPr>
              <a:t>VS Code extension</a:t>
            </a:r>
            <a:endParaRPr lang="en-US" sz="1900" dirty="0"/>
          </a:p>
        </p:txBody>
      </p:sp>
      <p:sp>
        <p:nvSpPr>
          <p:cNvPr id="15" name="Text 13"/>
          <p:cNvSpPr txBox="1"/>
          <p:nvPr/>
        </p:nvSpPr>
        <p:spPr>
          <a:xfrm>
            <a:off x="4621682" y="3631468"/>
            <a:ext cx="2948330" cy="300736"/>
          </a:xfrm>
          <a:prstGeom prst="rect">
            <a:avLst/>
          </a:prstGeom>
          <a:noFill/>
          <a:ln/>
        </p:spPr>
        <p:txBody>
          <a:bodyPr wrap="square" lIns="0" tIns="0" rIns="0" bIns="0" rtlCol="0" anchor="t"/>
          <a:lstStyle/>
          <a:p>
            <a:pPr algn="l" indent="0" marL="0">
              <a:lnSpc>
                <a:spcPct val="128000"/>
              </a:lnSpc>
              <a:buNone/>
            </a:pPr>
            <a:r>
              <a:rPr lang="en-US" sz="1400" b="1" dirty="0">
                <a:solidFill>
                  <a:srgbClr val="C96442"/>
                </a:solidFill>
                <a:latin typeface="Arial" pitchFamily="34" charset="0"/>
                <a:ea typeface="Arial" pitchFamily="34" charset="-122"/>
                <a:cs typeface="Arial" pitchFamily="34" charset="-120"/>
              </a:rPr>
              <a:t>Best inside code</a:t>
            </a:r>
            <a:endParaRPr lang="en-US" sz="1400" dirty="0"/>
          </a:p>
        </p:txBody>
      </p:sp>
      <p:sp>
        <p:nvSpPr>
          <p:cNvPr id="16" name="Text 14"/>
          <p:cNvSpPr txBox="1"/>
          <p:nvPr/>
        </p:nvSpPr>
        <p:spPr>
          <a:xfrm>
            <a:off x="4621682" y="4078508"/>
            <a:ext cx="2948330" cy="211328"/>
          </a:xfrm>
          <a:prstGeom prst="rect">
            <a:avLst/>
          </a:prstGeom>
          <a:noFill/>
          <a:ln/>
        </p:spPr>
        <p:txBody>
          <a:bodyPr wrap="square" lIns="0" tIns="0" rIns="0" bIns="0" rtlCol="0" anchor="t"/>
          <a:lstStyle/>
          <a:p>
            <a:pPr algn="l" indent="0" marL="0">
              <a:lnSpc>
                <a:spcPct val="128000"/>
              </a:lnSpc>
              <a:buNone/>
            </a:pPr>
            <a:r>
              <a:rPr lang="en-US" sz="1300" i="1" dirty="0">
                <a:solidFill>
                  <a:srgbClr val="6E675F"/>
                </a:solidFill>
                <a:latin typeface="Arial" pitchFamily="34" charset="0"/>
                <a:ea typeface="Arial" pitchFamily="34" charset="-122"/>
                <a:cs typeface="Arial" pitchFamily="34" charset="-120"/>
              </a:rPr>
              <a:t>Most likely install</a:t>
            </a:r>
            <a:endParaRPr lang="en-US" sz="1300" dirty="0"/>
          </a:p>
        </p:txBody>
      </p:sp>
      <p:sp>
        <p:nvSpPr>
          <p:cNvPr id="17" name="Shape 15"/>
          <p:cNvSpPr/>
          <p:nvPr/>
        </p:nvSpPr>
        <p:spPr>
          <a:xfrm>
            <a:off x="4621682" y="4399564"/>
            <a:ext cx="1417320" cy="256032"/>
          </a:xfrm>
          <a:prstGeom prst="roundRect">
            <a:avLst>
              <a:gd name="adj" fmla="val 178571"/>
            </a:avLst>
          </a:prstGeom>
          <a:ln w="12700">
            <a:solidFill>
              <a:srgbClr val="C96442"/>
            </a:solidFill>
            <a:prstDash val="solid"/>
          </a:ln>
        </p:spPr>
      </p:sp>
      <p:sp>
        <p:nvSpPr>
          <p:cNvPr id="18" name="Text 16"/>
          <p:cNvSpPr txBox="1"/>
          <p:nvPr/>
        </p:nvSpPr>
        <p:spPr>
          <a:xfrm>
            <a:off x="4621682" y="4399564"/>
            <a:ext cx="1417320" cy="256032"/>
          </a:xfrm>
          <a:prstGeom prst="rect">
            <a:avLst/>
          </a:prstGeom>
          <a:noFill/>
          <a:ln/>
        </p:spPr>
        <p:txBody>
          <a:bodyPr wrap="square" lIns="0" tIns="0" rIns="0" bIns="0" rtlCol="0" anchor="ctr"/>
          <a:lstStyle/>
          <a:p>
            <a:pPr algn="ctr" indent="0" marL="0">
              <a:lnSpc>
                <a:spcPct val="128000"/>
              </a:lnSpc>
              <a:buNone/>
            </a:pPr>
            <a:r>
              <a:rPr lang="en-US" sz="1200" b="1" dirty="0">
                <a:solidFill>
                  <a:srgbClr val="C96442"/>
                </a:solidFill>
                <a:latin typeface="Arial" pitchFamily="34" charset="0"/>
                <a:ea typeface="Arial" pitchFamily="34" charset="-122"/>
                <a:cs typeface="Arial" pitchFamily="34" charset="-120"/>
              </a:rPr>
              <a:t>Daily driver</a:t>
            </a:r>
            <a:endParaRPr lang="en-US" sz="1200" dirty="0"/>
          </a:p>
        </p:txBody>
      </p:sp>
      <p:sp>
        <p:nvSpPr>
          <p:cNvPr id="19" name="Shape 17"/>
          <p:cNvSpPr/>
          <p:nvPr/>
        </p:nvSpPr>
        <p:spPr>
          <a:xfrm>
            <a:off x="8027213" y="2463068"/>
            <a:ext cx="3387242" cy="2430272"/>
          </a:xfrm>
          <a:prstGeom prst="roundRect">
            <a:avLst>
              <a:gd name="adj" fmla="val 1699"/>
            </a:avLst>
          </a:prstGeom>
          <a:solidFill>
            <a:srgbClr val="F4F1ED"/>
          </a:solidFill>
          <a:ln w="12700">
            <a:solidFill>
              <a:srgbClr val="E4DFD9"/>
            </a:solidFill>
            <a:prstDash val="solid"/>
          </a:ln>
        </p:spPr>
      </p:sp>
      <p:sp>
        <p:nvSpPr>
          <p:cNvPr id="20" name="Shape 18"/>
          <p:cNvSpPr/>
          <p:nvPr/>
        </p:nvSpPr>
        <p:spPr>
          <a:xfrm>
            <a:off x="8246669" y="2682524"/>
            <a:ext cx="457200" cy="457200"/>
          </a:xfrm>
          <a:prstGeom prst="ellipse">
            <a:avLst/>
          </a:prstGeom>
          <a:solidFill>
            <a:srgbClr val="C96442"/>
          </a:solidFill>
          <a:ln/>
        </p:spPr>
      </p:sp>
      <p:sp>
        <p:nvSpPr>
          <p:cNvPr id="21" name="Text 19"/>
          <p:cNvSpPr txBox="1"/>
          <p:nvPr/>
        </p:nvSpPr>
        <p:spPr>
          <a:xfrm>
            <a:off x="8246669" y="2682524"/>
            <a:ext cx="457200" cy="457200"/>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&gt;_</a:t>
            </a:r>
            <a:endParaRPr lang="en-US" sz="1500" dirty="0"/>
          </a:p>
        </p:txBody>
      </p:sp>
      <p:sp>
        <p:nvSpPr>
          <p:cNvPr id="22" name="Text 20"/>
          <p:cNvSpPr txBox="1"/>
          <p:nvPr/>
        </p:nvSpPr>
        <p:spPr>
          <a:xfrm>
            <a:off x="8246669" y="3267740"/>
            <a:ext cx="2948330" cy="363728"/>
          </a:xfrm>
          <a:prstGeom prst="rect">
            <a:avLst/>
          </a:prstGeom>
          <a:noFill/>
          <a:ln/>
        </p:spPr>
        <p:txBody>
          <a:bodyPr wrap="square" lIns="0" tIns="0" rIns="0" bIns="0" rtlCol="0" anchor="t"/>
          <a:lstStyle/>
          <a:p>
            <a:pPr algn="l" indent="0" marL="0">
              <a:lnSpc>
                <a:spcPct val="128000"/>
              </a:lnSpc>
              <a:buNone/>
            </a:pPr>
            <a:r>
              <a:rPr lang="en-US" sz="1900" b="1" dirty="0">
                <a:solidFill>
                  <a:srgbClr val="2A2621"/>
                </a:solidFill>
                <a:latin typeface="Arial" pitchFamily="34" charset="0"/>
                <a:ea typeface="Arial" pitchFamily="34" charset="-122"/>
                <a:cs typeface="Arial" pitchFamily="34" charset="-120"/>
              </a:rPr>
              <a:t>Claude Code CLI</a:t>
            </a:r>
            <a:endParaRPr lang="en-US" sz="1900" dirty="0"/>
          </a:p>
        </p:txBody>
      </p:sp>
      <p:sp>
        <p:nvSpPr>
          <p:cNvPr id="23" name="Text 21"/>
          <p:cNvSpPr txBox="1"/>
          <p:nvPr/>
        </p:nvSpPr>
        <p:spPr>
          <a:xfrm>
            <a:off x="8246669" y="3631468"/>
            <a:ext cx="2948330" cy="300736"/>
          </a:xfrm>
          <a:prstGeom prst="rect">
            <a:avLst/>
          </a:prstGeom>
          <a:noFill/>
          <a:ln/>
        </p:spPr>
        <p:txBody>
          <a:bodyPr wrap="square" lIns="0" tIns="0" rIns="0" bIns="0" rtlCol="0" anchor="t"/>
          <a:lstStyle/>
          <a:p>
            <a:pPr algn="l" indent="0" marL="0">
              <a:lnSpc>
                <a:spcPct val="128000"/>
              </a:lnSpc>
              <a:buNone/>
            </a:pPr>
            <a:r>
              <a:rPr lang="en-US" sz="1400" b="1" dirty="0">
                <a:solidFill>
                  <a:srgbClr val="C96442"/>
                </a:solidFill>
                <a:latin typeface="Arial" pitchFamily="34" charset="0"/>
                <a:ea typeface="Arial" pitchFamily="34" charset="-122"/>
                <a:cs typeface="Arial" pitchFamily="34" charset="-120"/>
              </a:rPr>
              <a:t>Most capable</a:t>
            </a:r>
            <a:endParaRPr lang="en-US" sz="1400" dirty="0"/>
          </a:p>
        </p:txBody>
      </p:sp>
      <p:sp>
        <p:nvSpPr>
          <p:cNvPr id="24" name="Text 22"/>
          <p:cNvSpPr txBox="1"/>
          <p:nvPr/>
        </p:nvSpPr>
        <p:spPr>
          <a:xfrm>
            <a:off x="8246669" y="4078508"/>
            <a:ext cx="2948330" cy="211328"/>
          </a:xfrm>
          <a:prstGeom prst="rect">
            <a:avLst/>
          </a:prstGeom>
          <a:noFill/>
          <a:ln/>
        </p:spPr>
        <p:txBody>
          <a:bodyPr wrap="square" lIns="0" tIns="0" rIns="0" bIns="0" rtlCol="0" anchor="t"/>
          <a:lstStyle/>
          <a:p>
            <a:pPr algn="l" indent="0" marL="0">
              <a:lnSpc>
                <a:spcPct val="128000"/>
              </a:lnSpc>
              <a:buNone/>
            </a:pPr>
            <a:r>
              <a:rPr lang="en-US" sz="1300" i="1" dirty="0">
                <a:solidFill>
                  <a:srgbClr val="6E675F"/>
                </a:solidFill>
                <a:latin typeface="Arial" pitchFamily="34" charset="0"/>
                <a:ea typeface="Arial" pitchFamily="34" charset="-122"/>
                <a:cs typeface="Arial" pitchFamily="34" charset="-120"/>
              </a:rPr>
              <a:t>For power users</a:t>
            </a:r>
            <a:endParaRPr lang="en-US" sz="1300" dirty="0"/>
          </a:p>
        </p:txBody>
      </p:sp>
      <p:sp>
        <p:nvSpPr>
          <p:cNvPr id="25" name="Shape 23"/>
          <p:cNvSpPr/>
          <p:nvPr/>
        </p:nvSpPr>
        <p:spPr>
          <a:xfrm>
            <a:off x="8246669" y="4399564"/>
            <a:ext cx="1512570" cy="256032"/>
          </a:xfrm>
          <a:prstGeom prst="roundRect">
            <a:avLst>
              <a:gd name="adj" fmla="val 178571"/>
            </a:avLst>
          </a:prstGeom>
          <a:solidFill>
            <a:srgbClr val="C96442"/>
          </a:solidFill>
          <a:ln/>
        </p:spPr>
      </p:sp>
      <p:sp>
        <p:nvSpPr>
          <p:cNvPr id="26" name="Text 24"/>
          <p:cNvSpPr txBox="1"/>
          <p:nvPr/>
        </p:nvSpPr>
        <p:spPr>
          <a:xfrm>
            <a:off x="8246669" y="4399564"/>
            <a:ext cx="1512570" cy="256032"/>
          </a:xfrm>
          <a:prstGeom prst="rect">
            <a:avLst/>
          </a:prstGeom>
          <a:noFill/>
          <a:ln/>
        </p:spPr>
        <p:txBody>
          <a:bodyPr wrap="square" lIns="0" tIns="0" rIns="0" bIns="0" rtlCol="0" anchor="ctr"/>
          <a:lstStyle/>
          <a:p>
            <a:pPr algn="ctr" indent="0" marL="0">
              <a:lnSpc>
                <a:spcPct val="128000"/>
              </a:lnSpc>
              <a:buNone/>
            </a:pPr>
            <a:r>
              <a:rPr lang="en-US" sz="1200" b="1" dirty="0">
                <a:solidFill>
                  <a:srgbClr val="FFFFFF"/>
                </a:solidFill>
                <a:latin typeface="Arial" pitchFamily="34" charset="0"/>
                <a:ea typeface="Arial" pitchFamily="34" charset="-122"/>
                <a:cs typeface="Arial" pitchFamily="34" charset="-120"/>
              </a:rPr>
              <a:t>This training</a:t>
            </a:r>
            <a:endParaRPr lang="en-US" sz="1200" dirty="0"/>
          </a:p>
        </p:txBody>
      </p:sp>
      <p:sp>
        <p:nvSpPr>
          <p:cNvPr id="27" name="Shape 25"/>
          <p:cNvSpPr/>
          <p:nvPr/>
        </p:nvSpPr>
        <p:spPr>
          <a:xfrm>
            <a:off x="777240" y="5259100"/>
            <a:ext cx="10637215" cy="718759"/>
          </a:xfrm>
          <a:prstGeom prst="roundRect">
            <a:avLst>
              <a:gd name="adj" fmla="val 16185"/>
            </a:avLst>
          </a:prstGeom>
          <a:solidFill>
            <a:srgbClr val="F6E7DE"/>
          </a:solidFill>
          <a:ln/>
        </p:spPr>
      </p:sp>
      <p:sp>
        <p:nvSpPr>
          <p:cNvPr id="28" name="Shape 26"/>
          <p:cNvSpPr/>
          <p:nvPr/>
        </p:nvSpPr>
        <p:spPr>
          <a:xfrm>
            <a:off x="1006572" y="5417312"/>
            <a:ext cx="402336" cy="402336"/>
          </a:xfrm>
          <a:prstGeom prst="ellipse">
            <a:avLst/>
          </a:prstGeom>
          <a:solidFill>
            <a:srgbClr val="C96442"/>
          </a:solidFill>
          <a:ln/>
        </p:spPr>
      </p:sp>
      <p:sp>
        <p:nvSpPr>
          <p:cNvPr id="29" name="Text 27"/>
          <p:cNvSpPr txBox="1"/>
          <p:nvPr/>
        </p:nvSpPr>
        <p:spPr>
          <a:xfrm>
            <a:off x="1006572" y="5417312"/>
            <a:ext cx="402336" cy="402336"/>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&gt;_</a:t>
            </a:r>
            <a:endParaRPr lang="en-US" sz="1600" dirty="0"/>
          </a:p>
        </p:txBody>
      </p:sp>
      <p:sp>
        <p:nvSpPr>
          <p:cNvPr id="30" name="Text 28"/>
          <p:cNvSpPr txBox="1"/>
          <p:nvPr/>
        </p:nvSpPr>
        <p:spPr>
          <a:xfrm>
            <a:off x="1573500" y="5488432"/>
            <a:ext cx="9611624" cy="260096"/>
          </a:xfrm>
          <a:prstGeom prst="rect">
            <a:avLst/>
          </a:prstGeom>
          <a:noFill/>
          <a:ln/>
        </p:spPr>
        <p:txBody>
          <a:bodyPr wrap="square" lIns="0" tIns="0" rIns="0" bIns="0" rtlCol="0" anchor="t"/>
          <a:lstStyle/>
          <a:p>
            <a:pPr algn="l" indent="0" marL="0">
              <a:lnSpc>
                <a:spcPct val="128000"/>
              </a:lnSpc>
              <a:buNone/>
            </a:pPr>
            <a:r>
              <a:rPr lang="en-US" sz="1600" dirty="0">
                <a:solidFill>
                  <a:srgbClr val="2A2621"/>
                </a:solidFill>
                <a:latin typeface="Arial" pitchFamily="34" charset="0"/>
                <a:ea typeface="Arial" pitchFamily="34" charset="-122"/>
                <a:cs typeface="Arial" pitchFamily="34" charset="-120"/>
              </a:rPr>
              <a:t>I will use the Claude Code CLI for this tutorial, but everything here works on all three.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6221E"/>
        </a:solidFill>
      </p:bgPr>
    </p:bg>
    <p:spTree>
      <p:nvGrpSpPr>
        <p:cNvPr id="1" name=""/>
        <p:cNvGrpSpPr/>
        <p:nvPr/>
      </p:nvGrpSpPr>
      <p:grpSpPr>
        <a:xfrm>
          <a:off x="0" y="0"/>
          <a:ext cx="0" cy="0"/>
          <a:chOff x="0" y="0"/>
          <a:chExt cx="0" cy="0"/>
        </a:xfrm>
      </p:grpSpPr>
      <p:sp>
        <p:nvSpPr>
          <p:cNvPr id="2" name="Text 0"/>
          <p:cNvSpPr txBox="1"/>
          <p:nvPr/>
        </p:nvSpPr>
        <p:spPr>
          <a:xfrm>
            <a:off x="777240" y="1958213"/>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02 · HOW TO COMMUNICATE WITH CLAUDE</a:t>
            </a:r>
            <a:endParaRPr lang="en-US" sz="1200" dirty="0"/>
          </a:p>
        </p:txBody>
      </p:sp>
      <p:sp>
        <p:nvSpPr>
          <p:cNvPr id="3" name="Text 1"/>
          <p:cNvSpPr txBox="1"/>
          <p:nvPr/>
        </p:nvSpPr>
        <p:spPr>
          <a:xfrm>
            <a:off x="777240" y="2241677"/>
            <a:ext cx="10637215" cy="682752"/>
          </a:xfrm>
          <a:prstGeom prst="rect">
            <a:avLst/>
          </a:prstGeom>
          <a:noFill/>
          <a:ln/>
        </p:spPr>
        <p:txBody>
          <a:bodyPr wrap="square" lIns="0" tIns="0" rIns="0" bIns="0" rtlCol="0" anchor="t"/>
          <a:lstStyle/>
          <a:p>
            <a:pPr algn="l" indent="0" marL="0">
              <a:lnSpc>
                <a:spcPct val="128000"/>
              </a:lnSpc>
              <a:buNone/>
            </a:pPr>
            <a:r>
              <a:rPr lang="en-US" sz="4200" b="1" dirty="0">
                <a:solidFill>
                  <a:srgbClr val="F2EDE6"/>
                </a:solidFill>
                <a:latin typeface="Arial" pitchFamily="34" charset="0"/>
                <a:ea typeface="Arial" pitchFamily="34" charset="-122"/>
                <a:cs typeface="Arial" pitchFamily="34" charset="-120"/>
              </a:rPr>
              <a:t>How to Communicate</a:t>
            </a:r>
            <a:endParaRPr lang="en-US" sz="4200" dirty="0"/>
          </a:p>
        </p:txBody>
      </p:sp>
      <p:sp>
        <p:nvSpPr>
          <p:cNvPr id="4" name="Text 2"/>
          <p:cNvSpPr txBox="1"/>
          <p:nvPr/>
        </p:nvSpPr>
        <p:spPr>
          <a:xfrm>
            <a:off x="777240" y="2924429"/>
            <a:ext cx="10637215" cy="682752"/>
          </a:xfrm>
          <a:prstGeom prst="rect">
            <a:avLst/>
          </a:prstGeom>
          <a:noFill/>
          <a:ln/>
        </p:spPr>
        <p:txBody>
          <a:bodyPr wrap="square" lIns="0" tIns="0" rIns="0" bIns="0" rtlCol="0" anchor="t"/>
          <a:lstStyle/>
          <a:p>
            <a:pPr algn="l" indent="0" marL="0">
              <a:lnSpc>
                <a:spcPct val="128000"/>
              </a:lnSpc>
              <a:buNone/>
            </a:pPr>
            <a:r>
              <a:rPr lang="en-US" sz="4200" b="1" dirty="0">
                <a:solidFill>
                  <a:srgbClr val="C96442"/>
                </a:solidFill>
                <a:latin typeface="Arial" pitchFamily="34" charset="0"/>
                <a:ea typeface="Arial" pitchFamily="34" charset="-122"/>
                <a:cs typeface="Arial" pitchFamily="34" charset="-120"/>
              </a:rPr>
              <a:t>with Claude</a:t>
            </a:r>
            <a:endParaRPr lang="en-US" sz="4200" dirty="0"/>
          </a:p>
        </p:txBody>
      </p:sp>
      <p:sp>
        <p:nvSpPr>
          <p:cNvPr id="5" name="Text 3"/>
          <p:cNvSpPr txBox="1"/>
          <p:nvPr/>
        </p:nvSpPr>
        <p:spPr>
          <a:xfrm>
            <a:off x="777240" y="4009517"/>
            <a:ext cx="8412480" cy="552704"/>
          </a:xfrm>
          <a:prstGeom prst="rect">
            <a:avLst/>
          </a:prstGeom>
          <a:noFill/>
          <a:ln/>
        </p:spPr>
        <p:txBody>
          <a:bodyPr wrap="square" lIns="0" tIns="0" rIns="0" bIns="0" rtlCol="0" anchor="t"/>
          <a:lstStyle/>
          <a:p>
            <a:pPr algn="l" indent="0" marL="0">
              <a:lnSpc>
                <a:spcPct val="128000"/>
              </a:lnSpc>
              <a:buNone/>
            </a:pPr>
            <a:r>
              <a:rPr lang="en-US" sz="1700" dirty="0">
                <a:solidFill>
                  <a:srgbClr val="B8B1A8"/>
                </a:solidFill>
                <a:latin typeface="Arial" pitchFamily="34" charset="0"/>
                <a:ea typeface="Arial" pitchFamily="34" charset="-122"/>
                <a:cs typeface="Arial" pitchFamily="34" charset="-120"/>
              </a:rPr>
              <a:t>Deciding what goes into a request so the right answer comes back the first time.</a:t>
            </a:r>
            <a:endParaRPr lang="en-US" sz="1700" dirty="0"/>
          </a:p>
        </p:txBody>
      </p:sp>
      <p:sp>
        <p:nvSpPr>
          <p:cNvPr id="6" name="Shape 4"/>
          <p:cNvSpPr/>
          <p:nvPr/>
        </p:nvSpPr>
        <p:spPr>
          <a:xfrm>
            <a:off x="777240" y="4799965"/>
            <a:ext cx="1494536" cy="346710"/>
          </a:xfrm>
          <a:prstGeom prst="roundRect">
            <a:avLst>
              <a:gd name="adj" fmla="val 131868"/>
            </a:avLst>
          </a:prstGeom>
          <a:solidFill>
            <a:srgbClr val="332E28"/>
          </a:solidFill>
          <a:ln/>
        </p:spPr>
      </p:sp>
      <p:sp>
        <p:nvSpPr>
          <p:cNvPr id="7" name="Text 5"/>
          <p:cNvSpPr txBox="1"/>
          <p:nvPr/>
        </p:nvSpPr>
        <p:spPr>
          <a:xfrm>
            <a:off x="777240" y="4799965"/>
            <a:ext cx="1494536"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The Three S's</a:t>
            </a:r>
            <a:endParaRPr lang="en-US" sz="1300" dirty="0"/>
          </a:p>
        </p:txBody>
      </p:sp>
      <p:sp>
        <p:nvSpPr>
          <p:cNvPr id="8" name="Shape 6"/>
          <p:cNvSpPr/>
          <p:nvPr/>
        </p:nvSpPr>
        <p:spPr>
          <a:xfrm>
            <a:off x="2381504" y="4799965"/>
            <a:ext cx="1771904" cy="346710"/>
          </a:xfrm>
          <a:prstGeom prst="roundRect">
            <a:avLst>
              <a:gd name="adj" fmla="val 131868"/>
            </a:avLst>
          </a:prstGeom>
          <a:solidFill>
            <a:srgbClr val="332E28"/>
          </a:solidFill>
          <a:ln/>
        </p:spPr>
      </p:sp>
      <p:sp>
        <p:nvSpPr>
          <p:cNvPr id="9" name="Text 7"/>
          <p:cNvSpPr txBox="1"/>
          <p:nvPr/>
        </p:nvSpPr>
        <p:spPr>
          <a:xfrm>
            <a:off x="2381504" y="4799965"/>
            <a:ext cx="1771904"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A worked example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1664208"/>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02 · HOW TO COMMUNICATE WITH CLAUDE</a:t>
            </a:r>
            <a:endParaRPr lang="en-US" sz="1200" dirty="0"/>
          </a:p>
        </p:txBody>
      </p:sp>
      <p:sp>
        <p:nvSpPr>
          <p:cNvPr id="3" name="Text 1"/>
          <p:cNvSpPr txBox="1"/>
          <p:nvPr/>
        </p:nvSpPr>
        <p:spPr>
          <a:xfrm>
            <a:off x="777240" y="1947672"/>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The Three S's</a:t>
            </a:r>
            <a:endParaRPr lang="en-US" sz="4000" dirty="0"/>
          </a:p>
        </p:txBody>
      </p:sp>
      <p:sp>
        <p:nvSpPr>
          <p:cNvPr id="4" name="Text 2"/>
          <p:cNvSpPr txBox="1"/>
          <p:nvPr/>
        </p:nvSpPr>
        <p:spPr>
          <a:xfrm>
            <a:off x="777240" y="3000248"/>
            <a:ext cx="8412480" cy="276352"/>
          </a:xfrm>
          <a:prstGeom prst="rect">
            <a:avLst/>
          </a:prstGeom>
          <a:noFill/>
          <a:ln/>
        </p:spPr>
        <p:txBody>
          <a:bodyPr wrap="square" lIns="0" tIns="0" rIns="0" bIns="0" rtlCol="0" anchor="t"/>
          <a:lstStyle/>
          <a:p>
            <a:pPr algn="l" indent="0" marL="0">
              <a:lnSpc>
                <a:spcPct val="128000"/>
              </a:lnSpc>
              <a:buNone/>
            </a:pPr>
            <a:r>
              <a:rPr lang="en-US" sz="1700" dirty="0">
                <a:solidFill>
                  <a:srgbClr val="6E675F"/>
                </a:solidFill>
                <a:latin typeface="Arial" pitchFamily="34" charset="0"/>
                <a:ea typeface="Arial" pitchFamily="34" charset="-122"/>
                <a:cs typeface="Arial" pitchFamily="34" charset="-120"/>
              </a:rPr>
              <a:t>Simple principles to stay on track.</a:t>
            </a:r>
            <a:endParaRPr lang="en-US" sz="1700" dirty="0"/>
          </a:p>
        </p:txBody>
      </p:sp>
      <p:sp>
        <p:nvSpPr>
          <p:cNvPr id="5" name="Shape 3"/>
          <p:cNvSpPr/>
          <p:nvPr/>
        </p:nvSpPr>
        <p:spPr>
          <a:xfrm>
            <a:off x="777240" y="3514344"/>
            <a:ext cx="384048" cy="384048"/>
          </a:xfrm>
          <a:prstGeom prst="ellipse">
            <a:avLst/>
          </a:prstGeom>
          <a:solidFill>
            <a:srgbClr val="C96442"/>
          </a:solidFill>
          <a:ln/>
        </p:spPr>
      </p:sp>
      <p:sp>
        <p:nvSpPr>
          <p:cNvPr id="6" name="Text 4"/>
          <p:cNvSpPr txBox="1"/>
          <p:nvPr/>
        </p:nvSpPr>
        <p:spPr>
          <a:xfrm>
            <a:off x="777240" y="3514344"/>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7" name="Text 5"/>
          <p:cNvSpPr txBox="1"/>
          <p:nvPr/>
        </p:nvSpPr>
        <p:spPr>
          <a:xfrm>
            <a:off x="1344168" y="3514344"/>
            <a:ext cx="2926080" cy="508000"/>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Situation</a:t>
            </a:r>
            <a:endParaRPr lang="en-US" sz="1600" dirty="0"/>
          </a:p>
        </p:txBody>
      </p:sp>
      <p:sp>
        <p:nvSpPr>
          <p:cNvPr id="8" name="Text 6"/>
          <p:cNvSpPr txBox="1"/>
          <p:nvPr/>
        </p:nvSpPr>
        <p:spPr>
          <a:xfrm>
            <a:off x="1344168" y="3792728"/>
            <a:ext cx="2926080" cy="182880"/>
          </a:xfrm>
          <a:prstGeom prst="rect">
            <a:avLst/>
          </a:prstGeom>
          <a:noFill/>
          <a:ln/>
        </p:spPr>
        <p:txBody>
          <a:bodyPr wrap="square" lIns="0" tIns="0" rIns="0" bIns="0" rtlCol="0" anchor="t"/>
          <a:lstStyle/>
          <a:p>
            <a:pPr algn="l" indent="0" marL="0">
              <a:lnSpc>
                <a:spcPct val="128000"/>
              </a:lnSpc>
              <a:buNone/>
            </a:pPr>
            <a:r>
              <a:rPr lang="en-US" sz="1300" dirty="0">
                <a:solidFill>
                  <a:srgbClr val="C96442"/>
                </a:solidFill>
                <a:latin typeface="Courier New" pitchFamily="34" charset="0"/>
                <a:ea typeface="Courier New" pitchFamily="34" charset="-122"/>
                <a:cs typeface="Courier New" pitchFamily="34" charset="-120"/>
              </a:rPr>
              <a:t>what &amp; why</a:t>
            </a:r>
            <a:endParaRPr lang="en-US" sz="1300" dirty="0"/>
          </a:p>
        </p:txBody>
      </p:sp>
      <p:sp>
        <p:nvSpPr>
          <p:cNvPr id="9" name="Text 7"/>
          <p:cNvSpPr txBox="1"/>
          <p:nvPr/>
        </p:nvSpPr>
        <p:spPr>
          <a:xfrm>
            <a:off x="4489704" y="3514344"/>
            <a:ext cx="6924751" cy="455168"/>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What are you actually trying to do? One sentence of framing before the ask.</a:t>
            </a:r>
            <a:endParaRPr lang="en-US" sz="1400" dirty="0"/>
          </a:p>
        </p:txBody>
      </p:sp>
      <p:sp>
        <p:nvSpPr>
          <p:cNvPr id="10" name="Shape 8"/>
          <p:cNvSpPr/>
          <p:nvPr/>
        </p:nvSpPr>
        <p:spPr>
          <a:xfrm>
            <a:off x="777240" y="4122928"/>
            <a:ext cx="10637215" cy="12700"/>
          </a:xfrm>
          <a:prstGeom prst="rect">
            <a:avLst/>
          </a:prstGeom>
          <a:solidFill>
            <a:srgbClr val="E4DFD9"/>
          </a:solidFill>
          <a:ln/>
        </p:spPr>
      </p:sp>
      <p:sp>
        <p:nvSpPr>
          <p:cNvPr id="11" name="Shape 9"/>
          <p:cNvSpPr/>
          <p:nvPr/>
        </p:nvSpPr>
        <p:spPr>
          <a:xfrm>
            <a:off x="777240" y="4223512"/>
            <a:ext cx="384048" cy="384048"/>
          </a:xfrm>
          <a:prstGeom prst="ellipse">
            <a:avLst/>
          </a:prstGeom>
          <a:solidFill>
            <a:srgbClr val="C96442"/>
          </a:solidFill>
          <a:ln/>
        </p:spPr>
      </p:sp>
      <p:sp>
        <p:nvSpPr>
          <p:cNvPr id="12" name="Text 10"/>
          <p:cNvSpPr txBox="1"/>
          <p:nvPr/>
        </p:nvSpPr>
        <p:spPr>
          <a:xfrm>
            <a:off x="777240" y="4223512"/>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3" name="Text 11"/>
          <p:cNvSpPr txBox="1"/>
          <p:nvPr/>
        </p:nvSpPr>
        <p:spPr>
          <a:xfrm>
            <a:off x="1344168" y="4223512"/>
            <a:ext cx="2926080" cy="508000"/>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Specific examples</a:t>
            </a:r>
            <a:endParaRPr lang="en-US" sz="1600" dirty="0"/>
          </a:p>
        </p:txBody>
      </p:sp>
      <p:sp>
        <p:nvSpPr>
          <p:cNvPr id="14" name="Text 12"/>
          <p:cNvSpPr txBox="1"/>
          <p:nvPr/>
        </p:nvSpPr>
        <p:spPr>
          <a:xfrm>
            <a:off x="1344168" y="4501896"/>
            <a:ext cx="2926080" cy="182880"/>
          </a:xfrm>
          <a:prstGeom prst="rect">
            <a:avLst/>
          </a:prstGeom>
          <a:noFill/>
          <a:ln/>
        </p:spPr>
        <p:txBody>
          <a:bodyPr wrap="square" lIns="0" tIns="0" rIns="0" bIns="0" rtlCol="0" anchor="t"/>
          <a:lstStyle/>
          <a:p>
            <a:pPr algn="l" indent="0" marL="0">
              <a:lnSpc>
                <a:spcPct val="128000"/>
              </a:lnSpc>
              <a:buNone/>
            </a:pPr>
            <a:r>
              <a:rPr lang="en-US" sz="1300" dirty="0">
                <a:solidFill>
                  <a:srgbClr val="C96442"/>
                </a:solidFill>
                <a:latin typeface="Courier New" pitchFamily="34" charset="0"/>
                <a:ea typeface="Courier New" pitchFamily="34" charset="-122"/>
                <a:cs typeface="Courier New" pitchFamily="34" charset="-120"/>
              </a:rPr>
              <a:t>paste it</a:t>
            </a:r>
            <a:endParaRPr lang="en-US" sz="1300" dirty="0"/>
          </a:p>
        </p:txBody>
      </p:sp>
      <p:sp>
        <p:nvSpPr>
          <p:cNvPr id="15" name="Text 13"/>
          <p:cNvSpPr txBox="1"/>
          <p:nvPr/>
        </p:nvSpPr>
        <p:spPr>
          <a:xfrm>
            <a:off x="4489704" y="4223512"/>
            <a:ext cx="6924751" cy="455168"/>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Reference files with @, paste the real error log. Don't describe what you could show.</a:t>
            </a:r>
            <a:endParaRPr lang="en-US" sz="1400" dirty="0"/>
          </a:p>
        </p:txBody>
      </p:sp>
      <p:sp>
        <p:nvSpPr>
          <p:cNvPr id="16" name="Shape 14"/>
          <p:cNvSpPr/>
          <p:nvPr/>
        </p:nvSpPr>
        <p:spPr>
          <a:xfrm>
            <a:off x="777240" y="4832096"/>
            <a:ext cx="10637215" cy="12700"/>
          </a:xfrm>
          <a:prstGeom prst="rect">
            <a:avLst/>
          </a:prstGeom>
          <a:solidFill>
            <a:srgbClr val="E4DFD9"/>
          </a:solidFill>
          <a:ln/>
        </p:spPr>
      </p:sp>
      <p:sp>
        <p:nvSpPr>
          <p:cNvPr id="17" name="Shape 15"/>
          <p:cNvSpPr/>
          <p:nvPr/>
        </p:nvSpPr>
        <p:spPr>
          <a:xfrm>
            <a:off x="777240" y="4932680"/>
            <a:ext cx="384048" cy="384048"/>
          </a:xfrm>
          <a:prstGeom prst="ellipse">
            <a:avLst/>
          </a:prstGeom>
          <a:solidFill>
            <a:srgbClr val="C96442"/>
          </a:solidFill>
          <a:ln/>
        </p:spPr>
      </p:sp>
      <p:sp>
        <p:nvSpPr>
          <p:cNvPr id="18" name="Text 16"/>
          <p:cNvSpPr txBox="1"/>
          <p:nvPr/>
        </p:nvSpPr>
        <p:spPr>
          <a:xfrm>
            <a:off x="777240" y="4932680"/>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9" name="Text 17"/>
          <p:cNvSpPr txBox="1"/>
          <p:nvPr/>
        </p:nvSpPr>
        <p:spPr>
          <a:xfrm>
            <a:off x="1344168" y="4932680"/>
            <a:ext cx="2926080" cy="508000"/>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Success criteria</a:t>
            </a:r>
            <a:endParaRPr lang="en-US" sz="1600" dirty="0"/>
          </a:p>
        </p:txBody>
      </p:sp>
      <p:sp>
        <p:nvSpPr>
          <p:cNvPr id="20" name="Text 18"/>
          <p:cNvSpPr txBox="1"/>
          <p:nvPr/>
        </p:nvSpPr>
        <p:spPr>
          <a:xfrm>
            <a:off x="1344168" y="5211064"/>
            <a:ext cx="2926080" cy="182880"/>
          </a:xfrm>
          <a:prstGeom prst="rect">
            <a:avLst/>
          </a:prstGeom>
          <a:noFill/>
          <a:ln/>
        </p:spPr>
        <p:txBody>
          <a:bodyPr wrap="square" lIns="0" tIns="0" rIns="0" bIns="0" rtlCol="0" anchor="t"/>
          <a:lstStyle/>
          <a:p>
            <a:pPr algn="l" indent="0" marL="0">
              <a:lnSpc>
                <a:spcPct val="128000"/>
              </a:lnSpc>
              <a:buNone/>
            </a:pPr>
            <a:r>
              <a:rPr lang="en-US" sz="1300" dirty="0">
                <a:solidFill>
                  <a:srgbClr val="C96442"/>
                </a:solidFill>
                <a:latin typeface="Courier New" pitchFamily="34" charset="0"/>
                <a:ea typeface="Courier New" pitchFamily="34" charset="-122"/>
                <a:cs typeface="Courier New" pitchFamily="34" charset="-120"/>
              </a:rPr>
              <a:t>definition of done</a:t>
            </a:r>
            <a:endParaRPr lang="en-US" sz="1300" dirty="0"/>
          </a:p>
        </p:txBody>
      </p:sp>
      <p:sp>
        <p:nvSpPr>
          <p:cNvPr id="21" name="Text 19"/>
          <p:cNvSpPr txBox="1"/>
          <p:nvPr/>
        </p:nvSpPr>
        <p:spPr>
          <a:xfrm>
            <a:off x="4489704" y="4932680"/>
            <a:ext cx="6924751"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What does finished look like? Tests pass, tsc clean, the page renders.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972566"/>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02 · HOW TO COMMUNICATE WITH CLAUDE</a:t>
            </a:r>
            <a:endParaRPr lang="en-US" sz="1200" dirty="0"/>
          </a:p>
        </p:txBody>
      </p:sp>
      <p:sp>
        <p:nvSpPr>
          <p:cNvPr id="3" name="Text 1"/>
          <p:cNvSpPr txBox="1"/>
          <p:nvPr/>
        </p:nvSpPr>
        <p:spPr>
          <a:xfrm>
            <a:off x="777240" y="1256030"/>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A Worked Example</a:t>
            </a:r>
            <a:endParaRPr lang="en-US" sz="4000" dirty="0"/>
          </a:p>
        </p:txBody>
      </p:sp>
      <p:sp>
        <p:nvSpPr>
          <p:cNvPr id="4" name="Text 2"/>
          <p:cNvSpPr txBox="1"/>
          <p:nvPr/>
        </p:nvSpPr>
        <p:spPr>
          <a:xfrm>
            <a:off x="777240" y="2308606"/>
            <a:ext cx="8412480" cy="276352"/>
          </a:xfrm>
          <a:prstGeom prst="rect">
            <a:avLst/>
          </a:prstGeom>
          <a:noFill/>
          <a:ln/>
        </p:spPr>
        <p:txBody>
          <a:bodyPr wrap="square" lIns="0" tIns="0" rIns="0" bIns="0" rtlCol="0" anchor="t"/>
          <a:lstStyle/>
          <a:p>
            <a:pPr algn="l" indent="0" marL="0">
              <a:lnSpc>
                <a:spcPct val="128000"/>
              </a:lnSpc>
              <a:buNone/>
            </a:pPr>
            <a:r>
              <a:rPr lang="en-US" sz="1700" dirty="0">
                <a:solidFill>
                  <a:srgbClr val="6E675F"/>
                </a:solidFill>
                <a:latin typeface="Arial" pitchFamily="34" charset="0"/>
                <a:ea typeface="Arial" pitchFamily="34" charset="-122"/>
                <a:cs typeface="Arial" pitchFamily="34" charset="-120"/>
              </a:rPr>
              <a:t>Turning a vague prompt into a useful one.</a:t>
            </a:r>
            <a:endParaRPr lang="en-US" sz="1700" dirty="0"/>
          </a:p>
        </p:txBody>
      </p:sp>
      <p:sp>
        <p:nvSpPr>
          <p:cNvPr id="5" name="Shape 3"/>
          <p:cNvSpPr/>
          <p:nvPr/>
        </p:nvSpPr>
        <p:spPr>
          <a:xfrm>
            <a:off x="777240" y="2822702"/>
            <a:ext cx="5163160" cy="1487424"/>
          </a:xfrm>
          <a:prstGeom prst="roundRect">
            <a:avLst>
              <a:gd name="adj" fmla="val 3023"/>
            </a:avLst>
          </a:prstGeom>
          <a:solidFill>
            <a:srgbClr val="1A1714"/>
          </a:solidFill>
          <a:ln/>
        </p:spPr>
      </p:sp>
      <p:sp>
        <p:nvSpPr>
          <p:cNvPr id="6" name="Shape 4"/>
          <p:cNvSpPr/>
          <p:nvPr/>
        </p:nvSpPr>
        <p:spPr>
          <a:xfrm>
            <a:off x="777240" y="2822702"/>
            <a:ext cx="5163160" cy="274320"/>
          </a:xfrm>
          <a:prstGeom prst="roundRect">
            <a:avLst>
              <a:gd name="adj" fmla="val 88889"/>
            </a:avLst>
          </a:prstGeom>
          <a:solidFill>
            <a:srgbClr val="332E28"/>
          </a:solidFill>
          <a:ln/>
        </p:spPr>
      </p:sp>
      <p:sp>
        <p:nvSpPr>
          <p:cNvPr id="7" name="Shape 5"/>
          <p:cNvSpPr/>
          <p:nvPr/>
        </p:nvSpPr>
        <p:spPr>
          <a:xfrm>
            <a:off x="777240" y="3023870"/>
            <a:ext cx="5163160" cy="73152"/>
          </a:xfrm>
          <a:prstGeom prst="rect">
            <a:avLst/>
          </a:prstGeom>
          <a:solidFill>
            <a:srgbClr val="332E28"/>
          </a:solidFill>
          <a:ln/>
        </p:spPr>
      </p:sp>
      <p:sp>
        <p:nvSpPr>
          <p:cNvPr id="8" name="Shape 6"/>
          <p:cNvSpPr/>
          <p:nvPr/>
        </p:nvSpPr>
        <p:spPr>
          <a:xfrm>
            <a:off x="905256" y="2918714"/>
            <a:ext cx="82296" cy="82296"/>
          </a:xfrm>
          <a:prstGeom prst="ellipse">
            <a:avLst/>
          </a:prstGeom>
          <a:solidFill>
            <a:srgbClr val="E8938A"/>
          </a:solidFill>
          <a:ln/>
        </p:spPr>
      </p:sp>
      <p:sp>
        <p:nvSpPr>
          <p:cNvPr id="9" name="Shape 7"/>
          <p:cNvSpPr/>
          <p:nvPr/>
        </p:nvSpPr>
        <p:spPr>
          <a:xfrm>
            <a:off x="1051560" y="2918714"/>
            <a:ext cx="82296" cy="82296"/>
          </a:xfrm>
          <a:prstGeom prst="ellipse">
            <a:avLst/>
          </a:prstGeom>
          <a:solidFill>
            <a:srgbClr val="9C948A"/>
          </a:solidFill>
          <a:ln/>
        </p:spPr>
      </p:sp>
      <p:sp>
        <p:nvSpPr>
          <p:cNvPr id="10" name="Shape 8"/>
          <p:cNvSpPr/>
          <p:nvPr/>
        </p:nvSpPr>
        <p:spPr>
          <a:xfrm>
            <a:off x="1197864" y="2918714"/>
            <a:ext cx="82296" cy="82296"/>
          </a:xfrm>
          <a:prstGeom prst="ellipse">
            <a:avLst/>
          </a:prstGeom>
          <a:solidFill>
            <a:srgbClr val="8FCB9B"/>
          </a:solidFill>
          <a:ln/>
        </p:spPr>
      </p:sp>
      <p:sp>
        <p:nvSpPr>
          <p:cNvPr id="11" name="Text 9"/>
          <p:cNvSpPr txBox="1"/>
          <p:nvPr/>
        </p:nvSpPr>
        <p:spPr>
          <a:xfrm>
            <a:off x="1380744" y="2850134"/>
            <a:ext cx="4431640" cy="219456"/>
          </a:xfrm>
          <a:prstGeom prst="rect">
            <a:avLst/>
          </a:prstGeom>
          <a:noFill/>
          <a:ln/>
        </p:spPr>
        <p:txBody>
          <a:bodyPr wrap="square" lIns="0" tIns="0" rIns="0" bIns="0" rtlCol="0" anchor="ctr"/>
          <a:lstStyle/>
          <a:p>
            <a:pPr algn="l" indent="0" marL="0">
              <a:lnSpc>
                <a:spcPct val="128000"/>
              </a:lnSpc>
              <a:buNone/>
            </a:pPr>
            <a:r>
              <a:rPr lang="en-US" sz="1000" dirty="0">
                <a:solidFill>
                  <a:srgbClr val="9C948A"/>
                </a:solidFill>
                <a:latin typeface="Courier New" pitchFamily="34" charset="0"/>
                <a:ea typeface="Courier New" pitchFamily="34" charset="-122"/>
                <a:cs typeface="Courier New" pitchFamily="34" charset="-120"/>
              </a:rPr>
              <a:t>before</a:t>
            </a:r>
            <a:endParaRPr lang="en-US" sz="1000" dirty="0"/>
          </a:p>
        </p:txBody>
      </p:sp>
      <p:sp>
        <p:nvSpPr>
          <p:cNvPr id="12" name="Text 10"/>
          <p:cNvSpPr txBox="1"/>
          <p:nvPr/>
        </p:nvSpPr>
        <p:spPr>
          <a:xfrm>
            <a:off x="941832" y="3261614"/>
            <a:ext cx="4833976" cy="220980"/>
          </a:xfrm>
          <a:prstGeom prst="rect">
            <a:avLst/>
          </a:prstGeom>
          <a:noFill/>
          <a:ln/>
        </p:spPr>
        <p:txBody>
          <a:bodyPr wrap="none" lIns="0" tIns="0" rIns="0" bIns="0" rtlCol="0" anchor="t"/>
          <a:lstStyle/>
          <a:p>
            <a:pPr algn="l" indent="0" marL="0">
              <a:lnSpc>
                <a:spcPct val="128000"/>
              </a:lnSpc>
              <a:buNone/>
            </a:pPr>
            <a:r>
              <a:rPr lang="en-US" sz="1200" dirty="0">
                <a:solidFill>
                  <a:srgbClr val="E8938A"/>
                </a:solidFill>
                <a:latin typeface="Courier New" pitchFamily="34" charset="0"/>
                <a:ea typeface="Courier New" pitchFamily="34" charset="-122"/>
                <a:cs typeface="Courier New" pitchFamily="34" charset="-120"/>
              </a:rPr>
              <a:t>Fix the login bug and any</a:t>
            </a:r>
            <a:endParaRPr lang="en-US" sz="1200" dirty="0"/>
          </a:p>
        </p:txBody>
      </p:sp>
      <p:sp>
        <p:nvSpPr>
          <p:cNvPr id="13" name="Text 11"/>
          <p:cNvSpPr txBox="1"/>
          <p:nvPr/>
        </p:nvSpPr>
        <p:spPr>
          <a:xfrm>
            <a:off x="941832" y="3482594"/>
            <a:ext cx="4833976" cy="220980"/>
          </a:xfrm>
          <a:prstGeom prst="rect">
            <a:avLst/>
          </a:prstGeom>
          <a:noFill/>
          <a:ln/>
        </p:spPr>
        <p:txBody>
          <a:bodyPr wrap="none" lIns="0" tIns="0" rIns="0" bIns="0" rtlCol="0" anchor="t"/>
          <a:lstStyle/>
          <a:p>
            <a:pPr algn="l" indent="0" marL="0">
              <a:lnSpc>
                <a:spcPct val="128000"/>
              </a:lnSpc>
              <a:buNone/>
            </a:pPr>
            <a:r>
              <a:rPr lang="en-US" sz="1200" dirty="0">
                <a:solidFill>
                  <a:srgbClr val="E8938A"/>
                </a:solidFill>
                <a:latin typeface="Courier New" pitchFamily="34" charset="0"/>
                <a:ea typeface="Courier New" pitchFamily="34" charset="-122"/>
                <a:cs typeface="Courier New" pitchFamily="34" charset="-120"/>
              </a:rPr>
              <a:t>other bugs you find along</a:t>
            </a:r>
            <a:endParaRPr lang="en-US" sz="1200" dirty="0"/>
          </a:p>
        </p:txBody>
      </p:sp>
      <p:sp>
        <p:nvSpPr>
          <p:cNvPr id="14" name="Text 12"/>
          <p:cNvSpPr txBox="1"/>
          <p:nvPr/>
        </p:nvSpPr>
        <p:spPr>
          <a:xfrm>
            <a:off x="941832" y="3703574"/>
            <a:ext cx="4833976" cy="220980"/>
          </a:xfrm>
          <a:prstGeom prst="rect">
            <a:avLst/>
          </a:prstGeom>
          <a:noFill/>
          <a:ln/>
        </p:spPr>
        <p:txBody>
          <a:bodyPr wrap="none" lIns="0" tIns="0" rIns="0" bIns="0" rtlCol="0" anchor="t"/>
          <a:lstStyle/>
          <a:p>
            <a:pPr algn="l" indent="0" marL="0">
              <a:lnSpc>
                <a:spcPct val="128000"/>
              </a:lnSpc>
              <a:buNone/>
            </a:pPr>
            <a:r>
              <a:rPr lang="en-US" sz="1200" dirty="0">
                <a:solidFill>
                  <a:srgbClr val="E8938A"/>
                </a:solidFill>
                <a:latin typeface="Courier New" pitchFamily="34" charset="0"/>
                <a:ea typeface="Courier New" pitchFamily="34" charset="-122"/>
                <a:cs typeface="Courier New" pitchFamily="34" charset="-120"/>
              </a:rPr>
              <a:t>the way and make no</a:t>
            </a:r>
            <a:endParaRPr lang="en-US" sz="1200" dirty="0"/>
          </a:p>
        </p:txBody>
      </p:sp>
      <p:sp>
        <p:nvSpPr>
          <p:cNvPr id="15" name="Text 13"/>
          <p:cNvSpPr txBox="1"/>
          <p:nvPr/>
        </p:nvSpPr>
        <p:spPr>
          <a:xfrm>
            <a:off x="941832" y="3924554"/>
            <a:ext cx="4833976" cy="220980"/>
          </a:xfrm>
          <a:prstGeom prst="rect">
            <a:avLst/>
          </a:prstGeom>
          <a:noFill/>
          <a:ln/>
        </p:spPr>
        <p:txBody>
          <a:bodyPr wrap="none" lIns="0" tIns="0" rIns="0" bIns="0" rtlCol="0" anchor="t"/>
          <a:lstStyle/>
          <a:p>
            <a:pPr algn="l" indent="0" marL="0">
              <a:lnSpc>
                <a:spcPct val="128000"/>
              </a:lnSpc>
              <a:buNone/>
            </a:pPr>
            <a:r>
              <a:rPr lang="en-US" sz="1200" dirty="0">
                <a:solidFill>
                  <a:srgbClr val="E8938A"/>
                </a:solidFill>
                <a:latin typeface="Courier New" pitchFamily="34" charset="0"/>
                <a:ea typeface="Courier New" pitchFamily="34" charset="-122"/>
                <a:cs typeface="Courier New" pitchFamily="34" charset="-120"/>
              </a:rPr>
              <a:t>mistakes</a:t>
            </a:r>
            <a:endParaRPr lang="en-US" sz="1200" dirty="0"/>
          </a:p>
        </p:txBody>
      </p:sp>
      <p:sp>
        <p:nvSpPr>
          <p:cNvPr id="16" name="Shape 14"/>
          <p:cNvSpPr/>
          <p:nvPr/>
        </p:nvSpPr>
        <p:spPr>
          <a:xfrm>
            <a:off x="6251296" y="2822702"/>
            <a:ext cx="5163160" cy="1708404"/>
          </a:xfrm>
          <a:prstGeom prst="roundRect">
            <a:avLst>
              <a:gd name="adj" fmla="val 2292"/>
            </a:avLst>
          </a:prstGeom>
          <a:solidFill>
            <a:srgbClr val="1A1714"/>
          </a:solidFill>
          <a:ln/>
        </p:spPr>
      </p:sp>
      <p:sp>
        <p:nvSpPr>
          <p:cNvPr id="17" name="Shape 15"/>
          <p:cNvSpPr/>
          <p:nvPr/>
        </p:nvSpPr>
        <p:spPr>
          <a:xfrm>
            <a:off x="6251296" y="2822702"/>
            <a:ext cx="5163160" cy="274320"/>
          </a:xfrm>
          <a:prstGeom prst="roundRect">
            <a:avLst>
              <a:gd name="adj" fmla="val 88889"/>
            </a:avLst>
          </a:prstGeom>
          <a:solidFill>
            <a:srgbClr val="332E28"/>
          </a:solidFill>
          <a:ln/>
        </p:spPr>
      </p:sp>
      <p:sp>
        <p:nvSpPr>
          <p:cNvPr id="18" name="Shape 16"/>
          <p:cNvSpPr/>
          <p:nvPr/>
        </p:nvSpPr>
        <p:spPr>
          <a:xfrm>
            <a:off x="6251296" y="3023870"/>
            <a:ext cx="5163160" cy="73152"/>
          </a:xfrm>
          <a:prstGeom prst="rect">
            <a:avLst/>
          </a:prstGeom>
          <a:solidFill>
            <a:srgbClr val="332E28"/>
          </a:solidFill>
          <a:ln/>
        </p:spPr>
      </p:sp>
      <p:sp>
        <p:nvSpPr>
          <p:cNvPr id="19" name="Shape 17"/>
          <p:cNvSpPr/>
          <p:nvPr/>
        </p:nvSpPr>
        <p:spPr>
          <a:xfrm>
            <a:off x="6379312" y="2918714"/>
            <a:ext cx="82296" cy="82296"/>
          </a:xfrm>
          <a:prstGeom prst="ellipse">
            <a:avLst/>
          </a:prstGeom>
          <a:solidFill>
            <a:srgbClr val="E8938A"/>
          </a:solidFill>
          <a:ln/>
        </p:spPr>
      </p:sp>
      <p:sp>
        <p:nvSpPr>
          <p:cNvPr id="20" name="Shape 18"/>
          <p:cNvSpPr/>
          <p:nvPr/>
        </p:nvSpPr>
        <p:spPr>
          <a:xfrm>
            <a:off x="6525616" y="2918714"/>
            <a:ext cx="82296" cy="82296"/>
          </a:xfrm>
          <a:prstGeom prst="ellipse">
            <a:avLst/>
          </a:prstGeom>
          <a:solidFill>
            <a:srgbClr val="9C948A"/>
          </a:solidFill>
          <a:ln/>
        </p:spPr>
      </p:sp>
      <p:sp>
        <p:nvSpPr>
          <p:cNvPr id="21" name="Shape 19"/>
          <p:cNvSpPr/>
          <p:nvPr/>
        </p:nvSpPr>
        <p:spPr>
          <a:xfrm>
            <a:off x="6671920" y="2918714"/>
            <a:ext cx="82296" cy="82296"/>
          </a:xfrm>
          <a:prstGeom prst="ellipse">
            <a:avLst/>
          </a:prstGeom>
          <a:solidFill>
            <a:srgbClr val="8FCB9B"/>
          </a:solidFill>
          <a:ln/>
        </p:spPr>
      </p:sp>
      <p:sp>
        <p:nvSpPr>
          <p:cNvPr id="22" name="Text 20"/>
          <p:cNvSpPr txBox="1"/>
          <p:nvPr/>
        </p:nvSpPr>
        <p:spPr>
          <a:xfrm>
            <a:off x="6854800" y="2850134"/>
            <a:ext cx="4431640" cy="219456"/>
          </a:xfrm>
          <a:prstGeom prst="rect">
            <a:avLst/>
          </a:prstGeom>
          <a:noFill/>
          <a:ln/>
        </p:spPr>
        <p:txBody>
          <a:bodyPr wrap="square" lIns="0" tIns="0" rIns="0" bIns="0" rtlCol="0" anchor="ctr"/>
          <a:lstStyle/>
          <a:p>
            <a:pPr algn="l" indent="0" marL="0">
              <a:lnSpc>
                <a:spcPct val="128000"/>
              </a:lnSpc>
              <a:buNone/>
            </a:pPr>
            <a:r>
              <a:rPr lang="en-US" sz="1000" dirty="0">
                <a:solidFill>
                  <a:srgbClr val="9C948A"/>
                </a:solidFill>
                <a:latin typeface="Courier New" pitchFamily="34" charset="0"/>
                <a:ea typeface="Courier New" pitchFamily="34" charset="-122"/>
                <a:cs typeface="Courier New" pitchFamily="34" charset="-120"/>
              </a:rPr>
              <a:t>after</a:t>
            </a:r>
            <a:endParaRPr lang="en-US" sz="1000" dirty="0"/>
          </a:p>
        </p:txBody>
      </p:sp>
      <p:sp>
        <p:nvSpPr>
          <p:cNvPr id="23" name="Text 21"/>
          <p:cNvSpPr txBox="1"/>
          <p:nvPr/>
        </p:nvSpPr>
        <p:spPr>
          <a:xfrm>
            <a:off x="6415888" y="3261614"/>
            <a:ext cx="4833976" cy="220980"/>
          </a:xfrm>
          <a:prstGeom prst="rect">
            <a:avLst/>
          </a:prstGeom>
          <a:noFill/>
          <a:ln/>
        </p:spPr>
        <p:txBody>
          <a:bodyPr wrap="none" lIns="0" tIns="0" rIns="0" bIns="0" rtlCol="0" anchor="t"/>
          <a:lstStyle/>
          <a:p>
            <a:pPr algn="l" indent="0" marL="0">
              <a:lnSpc>
                <a:spcPct val="128000"/>
              </a:lnSpc>
              <a:buNone/>
            </a:pPr>
            <a:r>
              <a:rPr lang="en-US" sz="1200" dirty="0">
                <a:solidFill>
                  <a:srgbClr val="8FCB9B"/>
                </a:solidFill>
                <a:latin typeface="Courier New" pitchFamily="34" charset="0"/>
                <a:ea typeface="Courier New" pitchFamily="34" charset="-122"/>
                <a:cs typeface="Courier New" pitchFamily="34" charset="-120"/>
              </a:rPr>
              <a:t>Fix the login bug in</a:t>
            </a:r>
            <a:endParaRPr lang="en-US" sz="1200" dirty="0"/>
          </a:p>
        </p:txBody>
      </p:sp>
      <p:sp>
        <p:nvSpPr>
          <p:cNvPr id="24" name="Text 22"/>
          <p:cNvSpPr txBox="1"/>
          <p:nvPr/>
        </p:nvSpPr>
        <p:spPr>
          <a:xfrm>
            <a:off x="6415888" y="3482594"/>
            <a:ext cx="4833976" cy="220980"/>
          </a:xfrm>
          <a:prstGeom prst="rect">
            <a:avLst/>
          </a:prstGeom>
          <a:noFill/>
          <a:ln/>
        </p:spPr>
        <p:txBody>
          <a:bodyPr wrap="none" lIns="0" tIns="0" rIns="0" bIns="0" rtlCol="0" anchor="t"/>
          <a:lstStyle/>
          <a:p>
            <a:pPr algn="l" indent="0" marL="0">
              <a:lnSpc>
                <a:spcPct val="128000"/>
              </a:lnSpc>
              <a:buNone/>
            </a:pPr>
            <a:r>
              <a:rPr lang="en-US" sz="1200" dirty="0">
                <a:solidFill>
                  <a:srgbClr val="8FCB9B"/>
                </a:solidFill>
                <a:latin typeface="Courier New" pitchFamily="34" charset="0"/>
                <a:ea typeface="Courier New" pitchFamily="34" charset="-122"/>
                <a:cs typeface="Courier New" pitchFamily="34" charset="-120"/>
              </a:rPr>
              <a:t>@Login.tsx. Here is the</a:t>
            </a:r>
            <a:endParaRPr lang="en-US" sz="1200" dirty="0"/>
          </a:p>
        </p:txBody>
      </p:sp>
      <p:sp>
        <p:nvSpPr>
          <p:cNvPr id="25" name="Text 23"/>
          <p:cNvSpPr txBox="1"/>
          <p:nvPr/>
        </p:nvSpPr>
        <p:spPr>
          <a:xfrm>
            <a:off x="6415888" y="3703574"/>
            <a:ext cx="4833976" cy="220980"/>
          </a:xfrm>
          <a:prstGeom prst="rect">
            <a:avLst/>
          </a:prstGeom>
          <a:noFill/>
          <a:ln/>
        </p:spPr>
        <p:txBody>
          <a:bodyPr wrap="none" lIns="0" tIns="0" rIns="0" bIns="0" rtlCol="0" anchor="t"/>
          <a:lstStyle/>
          <a:p>
            <a:pPr algn="l" indent="0" marL="0">
              <a:lnSpc>
                <a:spcPct val="128000"/>
              </a:lnSpc>
              <a:buNone/>
            </a:pPr>
            <a:r>
              <a:rPr lang="en-US" sz="1200" dirty="0">
                <a:solidFill>
                  <a:srgbClr val="8FCB9B"/>
                </a:solidFill>
                <a:latin typeface="Courier New" pitchFamily="34" charset="0"/>
                <a:ea typeface="Courier New" pitchFamily="34" charset="-122"/>
                <a:cs typeface="Courier New" pitchFamily="34" charset="-120"/>
              </a:rPr>
              <a:t>error log: &lt;pasted&gt;.</a:t>
            </a:r>
            <a:endParaRPr lang="en-US" sz="1200" dirty="0"/>
          </a:p>
        </p:txBody>
      </p:sp>
      <p:sp>
        <p:nvSpPr>
          <p:cNvPr id="26" name="Text 24"/>
          <p:cNvSpPr txBox="1"/>
          <p:nvPr/>
        </p:nvSpPr>
        <p:spPr>
          <a:xfrm>
            <a:off x="6415888" y="3924554"/>
            <a:ext cx="4833976" cy="220980"/>
          </a:xfrm>
          <a:prstGeom prst="rect">
            <a:avLst/>
          </a:prstGeom>
          <a:noFill/>
          <a:ln/>
        </p:spPr>
        <p:txBody>
          <a:bodyPr wrap="none" lIns="0" tIns="0" rIns="0" bIns="0" rtlCol="0" anchor="t"/>
          <a:lstStyle/>
          <a:p>
            <a:pPr algn="l" indent="0" marL="0">
              <a:lnSpc>
                <a:spcPct val="128000"/>
              </a:lnSpc>
              <a:buNone/>
            </a:pPr>
            <a:r>
              <a:rPr lang="en-US" sz="1200" dirty="0">
                <a:solidFill>
                  <a:srgbClr val="8FCB9B"/>
                </a:solidFill>
                <a:latin typeface="Courier New" pitchFamily="34" charset="0"/>
                <a:ea typeface="Courier New" pitchFamily="34" charset="-122"/>
                <a:cs typeface="Courier New" pitchFamily="34" charset="-120"/>
              </a:rPr>
              <a:t>Tests must pass and tsc</a:t>
            </a:r>
            <a:endParaRPr lang="en-US" sz="1200" dirty="0"/>
          </a:p>
        </p:txBody>
      </p:sp>
      <p:sp>
        <p:nvSpPr>
          <p:cNvPr id="27" name="Text 25"/>
          <p:cNvSpPr txBox="1"/>
          <p:nvPr/>
        </p:nvSpPr>
        <p:spPr>
          <a:xfrm>
            <a:off x="6415888" y="4145534"/>
            <a:ext cx="4833976" cy="220980"/>
          </a:xfrm>
          <a:prstGeom prst="rect">
            <a:avLst/>
          </a:prstGeom>
          <a:noFill/>
          <a:ln/>
        </p:spPr>
        <p:txBody>
          <a:bodyPr wrap="none" lIns="0" tIns="0" rIns="0" bIns="0" rtlCol="0" anchor="t"/>
          <a:lstStyle/>
          <a:p>
            <a:pPr algn="l" indent="0" marL="0">
              <a:lnSpc>
                <a:spcPct val="128000"/>
              </a:lnSpc>
              <a:buNone/>
            </a:pPr>
            <a:r>
              <a:rPr lang="en-US" sz="1200" dirty="0">
                <a:solidFill>
                  <a:srgbClr val="8FCB9B"/>
                </a:solidFill>
                <a:latin typeface="Courier New" pitchFamily="34" charset="0"/>
                <a:ea typeface="Courier New" pitchFamily="34" charset="-122"/>
                <a:cs typeface="Courier New" pitchFamily="34" charset="-120"/>
              </a:rPr>
              <a:t>must compile clean.</a:t>
            </a:r>
            <a:endParaRPr lang="en-US" sz="1200" dirty="0"/>
          </a:p>
        </p:txBody>
      </p:sp>
      <p:sp>
        <p:nvSpPr>
          <p:cNvPr id="28" name="Shape 26"/>
          <p:cNvSpPr/>
          <p:nvPr/>
        </p:nvSpPr>
        <p:spPr>
          <a:xfrm>
            <a:off x="777240" y="4896866"/>
            <a:ext cx="420624" cy="420624"/>
          </a:xfrm>
          <a:prstGeom prst="ellipse">
            <a:avLst/>
          </a:prstGeom>
          <a:solidFill>
            <a:srgbClr val="C96442"/>
          </a:solidFill>
          <a:ln/>
        </p:spPr>
      </p:sp>
      <p:sp>
        <p:nvSpPr>
          <p:cNvPr id="29" name="Text 27"/>
          <p:cNvSpPr txBox="1"/>
          <p:nvPr/>
        </p:nvSpPr>
        <p:spPr>
          <a:xfrm>
            <a:off x="777240" y="4896866"/>
            <a:ext cx="420624" cy="420624"/>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500" dirty="0"/>
          </a:p>
        </p:txBody>
      </p:sp>
      <p:sp>
        <p:nvSpPr>
          <p:cNvPr id="30" name="Text 28"/>
          <p:cNvSpPr txBox="1"/>
          <p:nvPr/>
        </p:nvSpPr>
        <p:spPr>
          <a:xfrm>
            <a:off x="1380744" y="4896866"/>
            <a:ext cx="2759354"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Situation</a:t>
            </a:r>
            <a:endParaRPr lang="en-US" sz="1600" dirty="0"/>
          </a:p>
        </p:txBody>
      </p:sp>
      <p:sp>
        <p:nvSpPr>
          <p:cNvPr id="31" name="Text 29"/>
          <p:cNvSpPr txBox="1"/>
          <p:nvPr/>
        </p:nvSpPr>
        <p:spPr>
          <a:xfrm>
            <a:off x="1380744" y="5211826"/>
            <a:ext cx="2759354"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Fixing a bug</a:t>
            </a:r>
            <a:endParaRPr lang="en-US" sz="1400" dirty="0"/>
          </a:p>
        </p:txBody>
      </p:sp>
      <p:sp>
        <p:nvSpPr>
          <p:cNvPr id="32" name="Shape 30"/>
          <p:cNvSpPr/>
          <p:nvPr/>
        </p:nvSpPr>
        <p:spPr>
          <a:xfrm>
            <a:off x="4414418" y="4896866"/>
            <a:ext cx="420624" cy="420624"/>
          </a:xfrm>
          <a:prstGeom prst="ellipse">
            <a:avLst/>
          </a:prstGeom>
          <a:solidFill>
            <a:srgbClr val="C96442"/>
          </a:solidFill>
          <a:ln/>
        </p:spPr>
      </p:sp>
      <p:sp>
        <p:nvSpPr>
          <p:cNvPr id="33" name="Text 31"/>
          <p:cNvSpPr txBox="1"/>
          <p:nvPr/>
        </p:nvSpPr>
        <p:spPr>
          <a:xfrm>
            <a:off x="4414418" y="4896866"/>
            <a:ext cx="420624" cy="420624"/>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500" dirty="0"/>
          </a:p>
        </p:txBody>
      </p:sp>
      <p:sp>
        <p:nvSpPr>
          <p:cNvPr id="34" name="Text 32"/>
          <p:cNvSpPr txBox="1"/>
          <p:nvPr/>
        </p:nvSpPr>
        <p:spPr>
          <a:xfrm>
            <a:off x="5017922" y="4896866"/>
            <a:ext cx="2759354"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Specific examples</a:t>
            </a:r>
            <a:endParaRPr lang="en-US" sz="1600" dirty="0"/>
          </a:p>
        </p:txBody>
      </p:sp>
      <p:sp>
        <p:nvSpPr>
          <p:cNvPr id="35" name="Text 33"/>
          <p:cNvSpPr txBox="1"/>
          <p:nvPr/>
        </p:nvSpPr>
        <p:spPr>
          <a:xfrm>
            <a:off x="5017922" y="5211826"/>
            <a:ext cx="2759354"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@Login.tsx + real log</a:t>
            </a:r>
            <a:endParaRPr lang="en-US" sz="1400" dirty="0"/>
          </a:p>
        </p:txBody>
      </p:sp>
      <p:sp>
        <p:nvSpPr>
          <p:cNvPr id="36" name="Shape 34"/>
          <p:cNvSpPr/>
          <p:nvPr/>
        </p:nvSpPr>
        <p:spPr>
          <a:xfrm>
            <a:off x="8051597" y="4896866"/>
            <a:ext cx="420624" cy="420624"/>
          </a:xfrm>
          <a:prstGeom prst="ellipse">
            <a:avLst/>
          </a:prstGeom>
          <a:solidFill>
            <a:srgbClr val="C96442"/>
          </a:solidFill>
          <a:ln/>
        </p:spPr>
      </p:sp>
      <p:sp>
        <p:nvSpPr>
          <p:cNvPr id="37" name="Text 35"/>
          <p:cNvSpPr txBox="1"/>
          <p:nvPr/>
        </p:nvSpPr>
        <p:spPr>
          <a:xfrm>
            <a:off x="8051597" y="4896866"/>
            <a:ext cx="420624" cy="420624"/>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500" dirty="0"/>
          </a:p>
        </p:txBody>
      </p:sp>
      <p:sp>
        <p:nvSpPr>
          <p:cNvPr id="38" name="Text 36"/>
          <p:cNvSpPr txBox="1"/>
          <p:nvPr/>
        </p:nvSpPr>
        <p:spPr>
          <a:xfrm>
            <a:off x="8655101" y="4896866"/>
            <a:ext cx="2759354"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Success criteria</a:t>
            </a:r>
            <a:endParaRPr lang="en-US" sz="1600" dirty="0"/>
          </a:p>
        </p:txBody>
      </p:sp>
      <p:sp>
        <p:nvSpPr>
          <p:cNvPr id="39" name="Text 37"/>
          <p:cNvSpPr txBox="1"/>
          <p:nvPr/>
        </p:nvSpPr>
        <p:spPr>
          <a:xfrm>
            <a:off x="8655101" y="5211826"/>
            <a:ext cx="2759354"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Tests green, tsc clean</a:t>
            </a:r>
            <a:endParaRPr lang="en-US" sz="1400" dirty="0"/>
          </a:p>
        </p:txBody>
      </p:sp>
      <p:sp>
        <p:nvSpPr>
          <p:cNvPr id="40" name="Text 38"/>
          <p:cNvSpPr txBox="1"/>
          <p:nvPr/>
        </p:nvSpPr>
        <p:spPr>
          <a:xfrm>
            <a:off x="777240" y="5920994"/>
            <a:ext cx="10637215" cy="211328"/>
          </a:xfrm>
          <a:prstGeom prst="rect">
            <a:avLst/>
          </a:prstGeom>
          <a:noFill/>
          <a:ln/>
        </p:spPr>
        <p:txBody>
          <a:bodyPr wrap="square" lIns="0" tIns="0" rIns="0" bIns="0" rtlCol="0" anchor="t"/>
          <a:lstStyle/>
          <a:p>
            <a:pPr algn="l" indent="0" marL="0">
              <a:lnSpc>
                <a:spcPct val="128000"/>
              </a:lnSpc>
              <a:buNone/>
            </a:pPr>
            <a:r>
              <a:rPr lang="en-US" sz="1300" i="1" dirty="0">
                <a:solidFill>
                  <a:srgbClr val="6E675F"/>
                </a:solidFill>
                <a:latin typeface="Arial" pitchFamily="34" charset="0"/>
                <a:ea typeface="Arial" pitchFamily="34" charset="-122"/>
                <a:cs typeface="Arial" pitchFamily="34" charset="-120"/>
              </a:rPr>
              <a:t>Not a checklist, just guiding principles.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6221E"/>
        </a:solidFill>
      </p:bgPr>
    </p:bg>
    <p:spTree>
      <p:nvGrpSpPr>
        <p:cNvPr id="1" name=""/>
        <p:cNvGrpSpPr/>
        <p:nvPr/>
      </p:nvGrpSpPr>
      <p:grpSpPr>
        <a:xfrm>
          <a:off x="0" y="0"/>
          <a:ext cx="0" cy="0"/>
          <a:chOff x="0" y="0"/>
          <a:chExt cx="0" cy="0"/>
        </a:xfrm>
      </p:grpSpPr>
      <p:sp>
        <p:nvSpPr>
          <p:cNvPr id="2" name="Text 0"/>
          <p:cNvSpPr txBox="1"/>
          <p:nvPr/>
        </p:nvSpPr>
        <p:spPr>
          <a:xfrm>
            <a:off x="777240" y="2096389"/>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03 · CONTEXT</a:t>
            </a:r>
            <a:endParaRPr lang="en-US" sz="1200" dirty="0"/>
          </a:p>
        </p:txBody>
      </p:sp>
      <p:sp>
        <p:nvSpPr>
          <p:cNvPr id="3" name="Text 1"/>
          <p:cNvSpPr txBox="1"/>
          <p:nvPr/>
        </p:nvSpPr>
        <p:spPr>
          <a:xfrm>
            <a:off x="777240" y="2379853"/>
            <a:ext cx="10637215" cy="682752"/>
          </a:xfrm>
          <a:prstGeom prst="rect">
            <a:avLst/>
          </a:prstGeom>
          <a:noFill/>
          <a:ln/>
        </p:spPr>
        <p:txBody>
          <a:bodyPr wrap="square" lIns="0" tIns="0" rIns="0" bIns="0" rtlCol="0" anchor="t"/>
          <a:lstStyle/>
          <a:p>
            <a:pPr algn="l" indent="0" marL="0">
              <a:lnSpc>
                <a:spcPct val="128000"/>
              </a:lnSpc>
              <a:buNone/>
            </a:pPr>
            <a:r>
              <a:rPr lang="en-US" sz="4200" b="1" dirty="0">
                <a:solidFill>
                  <a:srgbClr val="F2EDE6"/>
                </a:solidFill>
                <a:latin typeface="Arial" pitchFamily="34" charset="0"/>
                <a:ea typeface="Arial" pitchFamily="34" charset="-122"/>
                <a:cs typeface="Arial" pitchFamily="34" charset="-120"/>
              </a:rPr>
              <a:t>What is</a:t>
            </a:r>
            <a:endParaRPr lang="en-US" sz="4200" dirty="0"/>
          </a:p>
        </p:txBody>
      </p:sp>
      <p:sp>
        <p:nvSpPr>
          <p:cNvPr id="4" name="Text 2"/>
          <p:cNvSpPr txBox="1"/>
          <p:nvPr/>
        </p:nvSpPr>
        <p:spPr>
          <a:xfrm>
            <a:off x="777240" y="3062605"/>
            <a:ext cx="10637215" cy="682752"/>
          </a:xfrm>
          <a:prstGeom prst="rect">
            <a:avLst/>
          </a:prstGeom>
          <a:noFill/>
          <a:ln/>
        </p:spPr>
        <p:txBody>
          <a:bodyPr wrap="square" lIns="0" tIns="0" rIns="0" bIns="0" rtlCol="0" anchor="t"/>
          <a:lstStyle/>
          <a:p>
            <a:pPr algn="l" indent="0" marL="0">
              <a:lnSpc>
                <a:spcPct val="128000"/>
              </a:lnSpc>
              <a:buNone/>
            </a:pPr>
            <a:r>
              <a:rPr lang="en-US" sz="4200" b="1" dirty="0">
                <a:solidFill>
                  <a:srgbClr val="C96442"/>
                </a:solidFill>
                <a:latin typeface="Arial" pitchFamily="34" charset="0"/>
                <a:ea typeface="Arial" pitchFamily="34" charset="-122"/>
                <a:cs typeface="Arial" pitchFamily="34" charset="-120"/>
              </a:rPr>
              <a:t>Context?</a:t>
            </a:r>
            <a:endParaRPr lang="en-US" sz="4200" dirty="0"/>
          </a:p>
        </p:txBody>
      </p:sp>
      <p:sp>
        <p:nvSpPr>
          <p:cNvPr id="5" name="Text 3"/>
          <p:cNvSpPr txBox="1"/>
          <p:nvPr/>
        </p:nvSpPr>
        <p:spPr>
          <a:xfrm>
            <a:off x="777240" y="4147693"/>
            <a:ext cx="8412480" cy="276352"/>
          </a:xfrm>
          <a:prstGeom prst="rect">
            <a:avLst/>
          </a:prstGeom>
          <a:noFill/>
          <a:ln/>
        </p:spPr>
        <p:txBody>
          <a:bodyPr wrap="square" lIns="0" tIns="0" rIns="0" bIns="0" rtlCol="0" anchor="t"/>
          <a:lstStyle/>
          <a:p>
            <a:pPr algn="l" indent="0" marL="0">
              <a:lnSpc>
                <a:spcPct val="128000"/>
              </a:lnSpc>
              <a:buNone/>
            </a:pPr>
            <a:r>
              <a:rPr lang="en-US" sz="1700" dirty="0">
                <a:solidFill>
                  <a:srgbClr val="B8B1A8"/>
                </a:solidFill>
                <a:latin typeface="Arial" pitchFamily="34" charset="0"/>
                <a:ea typeface="Arial" pitchFamily="34" charset="-122"/>
                <a:cs typeface="Arial" pitchFamily="34" charset="-120"/>
              </a:rPr>
              <a:t>Context is everything your session is carrying.</a:t>
            </a:r>
            <a:endParaRPr lang="en-US" sz="1700" dirty="0"/>
          </a:p>
        </p:txBody>
      </p:sp>
      <p:sp>
        <p:nvSpPr>
          <p:cNvPr id="6" name="Shape 4"/>
          <p:cNvSpPr/>
          <p:nvPr/>
        </p:nvSpPr>
        <p:spPr>
          <a:xfrm>
            <a:off x="777240" y="4661789"/>
            <a:ext cx="754888" cy="346710"/>
          </a:xfrm>
          <a:prstGeom prst="roundRect">
            <a:avLst>
              <a:gd name="adj" fmla="val 131868"/>
            </a:avLst>
          </a:prstGeom>
          <a:solidFill>
            <a:srgbClr val="332E28"/>
          </a:solidFill>
          <a:ln/>
        </p:spPr>
      </p:sp>
      <p:sp>
        <p:nvSpPr>
          <p:cNvPr id="7" name="Text 5"/>
          <p:cNvSpPr txBox="1"/>
          <p:nvPr/>
        </p:nvSpPr>
        <p:spPr>
          <a:xfrm>
            <a:off x="777240" y="4661789"/>
            <a:ext cx="754888"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Turns</a:t>
            </a:r>
            <a:endParaRPr lang="en-US" sz="1300" dirty="0"/>
          </a:p>
        </p:txBody>
      </p:sp>
      <p:sp>
        <p:nvSpPr>
          <p:cNvPr id="8" name="Shape 6"/>
          <p:cNvSpPr/>
          <p:nvPr/>
        </p:nvSpPr>
        <p:spPr>
          <a:xfrm>
            <a:off x="1641856" y="4661789"/>
            <a:ext cx="1956816" cy="346710"/>
          </a:xfrm>
          <a:prstGeom prst="roundRect">
            <a:avLst>
              <a:gd name="adj" fmla="val 131868"/>
            </a:avLst>
          </a:prstGeom>
          <a:solidFill>
            <a:srgbClr val="332E28"/>
          </a:solidFill>
          <a:ln/>
        </p:spPr>
      </p:sp>
      <p:sp>
        <p:nvSpPr>
          <p:cNvPr id="9" name="Text 7"/>
          <p:cNvSpPr txBox="1"/>
          <p:nvPr/>
        </p:nvSpPr>
        <p:spPr>
          <a:xfrm>
            <a:off x="1641856" y="4661789"/>
            <a:ext cx="1956816"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The context window</a:t>
            </a:r>
            <a:endParaRPr lang="en-US" sz="1300" dirty="0"/>
          </a:p>
        </p:txBody>
      </p:sp>
      <p:sp>
        <p:nvSpPr>
          <p:cNvPr id="10" name="Shape 8"/>
          <p:cNvSpPr/>
          <p:nvPr/>
        </p:nvSpPr>
        <p:spPr>
          <a:xfrm>
            <a:off x="3708400" y="4661789"/>
            <a:ext cx="1032256" cy="346710"/>
          </a:xfrm>
          <a:prstGeom prst="roundRect">
            <a:avLst>
              <a:gd name="adj" fmla="val 131868"/>
            </a:avLst>
          </a:prstGeom>
          <a:solidFill>
            <a:srgbClr val="332E28"/>
          </a:solidFill>
          <a:ln/>
        </p:spPr>
      </p:sp>
      <p:sp>
        <p:nvSpPr>
          <p:cNvPr id="11" name="Text 9"/>
          <p:cNvSpPr txBox="1"/>
          <p:nvPr/>
        </p:nvSpPr>
        <p:spPr>
          <a:xfrm>
            <a:off x="3708400" y="4661789"/>
            <a:ext cx="1032256"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Too much</a:t>
            </a:r>
            <a:endParaRPr lang="en-US" sz="1300" dirty="0"/>
          </a:p>
        </p:txBody>
      </p:sp>
      <p:sp>
        <p:nvSpPr>
          <p:cNvPr id="12" name="Shape 10"/>
          <p:cNvSpPr/>
          <p:nvPr/>
        </p:nvSpPr>
        <p:spPr>
          <a:xfrm>
            <a:off x="4850384" y="4661789"/>
            <a:ext cx="1217168" cy="346710"/>
          </a:xfrm>
          <a:prstGeom prst="roundRect">
            <a:avLst>
              <a:gd name="adj" fmla="val 131868"/>
            </a:avLst>
          </a:prstGeom>
          <a:solidFill>
            <a:srgbClr val="332E28"/>
          </a:solidFill>
          <a:ln/>
        </p:spPr>
      </p:sp>
      <p:sp>
        <p:nvSpPr>
          <p:cNvPr id="13" name="Text 11"/>
          <p:cNvSpPr txBox="1"/>
          <p:nvPr/>
        </p:nvSpPr>
        <p:spPr>
          <a:xfrm>
            <a:off x="4850384" y="4661789"/>
            <a:ext cx="1217168"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Too little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658368"/>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03 · CONTEXT</a:t>
            </a:r>
            <a:endParaRPr lang="en-US" sz="1200" dirty="0"/>
          </a:p>
        </p:txBody>
      </p:sp>
      <p:sp>
        <p:nvSpPr>
          <p:cNvPr id="3" name="Text 1"/>
          <p:cNvSpPr txBox="1"/>
          <p:nvPr/>
        </p:nvSpPr>
        <p:spPr>
          <a:xfrm>
            <a:off x="777240" y="941832"/>
            <a:ext cx="10637215" cy="130048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Every Turn Carries the Whole Conversation</a:t>
            </a:r>
            <a:endParaRPr lang="en-US" sz="4000" dirty="0"/>
          </a:p>
        </p:txBody>
      </p:sp>
      <p:sp>
        <p:nvSpPr>
          <p:cNvPr id="4" name="Shape 2"/>
          <p:cNvSpPr/>
          <p:nvPr/>
        </p:nvSpPr>
        <p:spPr>
          <a:xfrm>
            <a:off x="3390699" y="2644648"/>
            <a:ext cx="2136648" cy="487680"/>
          </a:xfrm>
          <a:prstGeom prst="roundRect">
            <a:avLst>
              <a:gd name="adj" fmla="val 49219"/>
            </a:avLst>
          </a:prstGeom>
          <a:solidFill>
            <a:srgbClr val="C96442"/>
          </a:solidFill>
          <a:ln/>
        </p:spPr>
      </p:sp>
      <p:sp>
        <p:nvSpPr>
          <p:cNvPr id="5" name="Text 3"/>
          <p:cNvSpPr txBox="1"/>
          <p:nvPr/>
        </p:nvSpPr>
        <p:spPr>
          <a:xfrm>
            <a:off x="3537003" y="2790952"/>
            <a:ext cx="1844040" cy="195072"/>
          </a:xfrm>
          <a:prstGeom prst="rect">
            <a:avLst/>
          </a:prstGeom>
          <a:noFill/>
          <a:ln/>
        </p:spPr>
        <p:txBody>
          <a:bodyPr wrap="square" lIns="0" tIns="0" rIns="0" bIns="0" rtlCol="0" anchor="t"/>
          <a:lstStyle/>
          <a:p>
            <a:pPr algn="l" indent="0" marL="0">
              <a:lnSpc>
                <a:spcPct val="128000"/>
              </a:lnSpc>
              <a:buNone/>
            </a:pPr>
            <a:r>
              <a:rPr lang="en-US" sz="1200" dirty="0">
                <a:solidFill>
                  <a:srgbClr val="FFFFFF"/>
                </a:solidFill>
                <a:latin typeface="Arial" pitchFamily="34" charset="0"/>
                <a:ea typeface="Arial" pitchFamily="34" charset="-122"/>
                <a:cs typeface="Arial" pitchFamily="34" charset="-120"/>
              </a:rPr>
              <a:t>Fix the login redirect</a:t>
            </a:r>
            <a:endParaRPr lang="en-US" sz="1200" dirty="0"/>
          </a:p>
        </p:txBody>
      </p:sp>
      <p:sp>
        <p:nvSpPr>
          <p:cNvPr id="6" name="Shape 4"/>
          <p:cNvSpPr/>
          <p:nvPr/>
        </p:nvSpPr>
        <p:spPr>
          <a:xfrm>
            <a:off x="777240" y="3187192"/>
            <a:ext cx="1633728" cy="487680"/>
          </a:xfrm>
          <a:prstGeom prst="roundRect">
            <a:avLst>
              <a:gd name="adj" fmla="val 49219"/>
            </a:avLst>
          </a:prstGeom>
          <a:solidFill>
            <a:srgbClr val="F4F1ED"/>
          </a:solidFill>
          <a:ln w="12700">
            <a:solidFill>
              <a:srgbClr val="E4DFD9"/>
            </a:solidFill>
            <a:prstDash val="solid"/>
          </a:ln>
        </p:spPr>
      </p:sp>
      <p:sp>
        <p:nvSpPr>
          <p:cNvPr id="7" name="Text 5"/>
          <p:cNvSpPr txBox="1"/>
          <p:nvPr/>
        </p:nvSpPr>
        <p:spPr>
          <a:xfrm>
            <a:off x="923544" y="3333496"/>
            <a:ext cx="1341120" cy="195072"/>
          </a:xfrm>
          <a:prstGeom prst="rect">
            <a:avLst/>
          </a:prstGeom>
          <a:noFill/>
          <a:ln/>
        </p:spPr>
        <p:txBody>
          <a:bodyPr wrap="square" lIns="0" tIns="0" rIns="0" bIns="0" rtlCol="0" anchor="t"/>
          <a:lstStyle/>
          <a:p>
            <a:pPr algn="l" indent="0" marL="0">
              <a:lnSpc>
                <a:spcPct val="128000"/>
              </a:lnSpc>
              <a:buNone/>
            </a:pPr>
            <a:r>
              <a:rPr lang="en-US" sz="1200" dirty="0">
                <a:solidFill>
                  <a:srgbClr val="2A2621"/>
                </a:solidFill>
                <a:latin typeface="Arial" pitchFamily="34" charset="0"/>
                <a:ea typeface="Arial" pitchFamily="34" charset="-122"/>
                <a:cs typeface="Arial" pitchFamily="34" charset="-120"/>
              </a:rPr>
              <a:t>Edited Login.tsx</a:t>
            </a:r>
            <a:endParaRPr lang="en-US" sz="1200" dirty="0"/>
          </a:p>
        </p:txBody>
      </p:sp>
      <p:sp>
        <p:nvSpPr>
          <p:cNvPr id="8" name="Shape 6"/>
          <p:cNvSpPr/>
          <p:nvPr/>
        </p:nvSpPr>
        <p:spPr>
          <a:xfrm>
            <a:off x="4061259" y="3729736"/>
            <a:ext cx="1466088" cy="487680"/>
          </a:xfrm>
          <a:prstGeom prst="roundRect">
            <a:avLst>
              <a:gd name="adj" fmla="val 49219"/>
            </a:avLst>
          </a:prstGeom>
          <a:solidFill>
            <a:srgbClr val="C96442"/>
          </a:solidFill>
          <a:ln/>
        </p:spPr>
      </p:sp>
      <p:sp>
        <p:nvSpPr>
          <p:cNvPr id="9" name="Text 7"/>
          <p:cNvSpPr txBox="1"/>
          <p:nvPr/>
        </p:nvSpPr>
        <p:spPr>
          <a:xfrm>
            <a:off x="4207563" y="3876040"/>
            <a:ext cx="1173480" cy="195072"/>
          </a:xfrm>
          <a:prstGeom prst="rect">
            <a:avLst/>
          </a:prstGeom>
          <a:noFill/>
          <a:ln/>
        </p:spPr>
        <p:txBody>
          <a:bodyPr wrap="square" lIns="0" tIns="0" rIns="0" bIns="0" rtlCol="0" anchor="t"/>
          <a:lstStyle/>
          <a:p>
            <a:pPr algn="l" indent="0" marL="0">
              <a:lnSpc>
                <a:spcPct val="128000"/>
              </a:lnSpc>
              <a:buNone/>
            </a:pPr>
            <a:r>
              <a:rPr lang="en-US" sz="1200" dirty="0">
                <a:solidFill>
                  <a:srgbClr val="FFFFFF"/>
                </a:solidFill>
                <a:latin typeface="Arial" pitchFamily="34" charset="0"/>
                <a:ea typeface="Arial" pitchFamily="34" charset="-122"/>
                <a:cs typeface="Arial" pitchFamily="34" charset="-120"/>
              </a:rPr>
              <a:t>Now add a test</a:t>
            </a:r>
            <a:endParaRPr lang="en-US" sz="1200" dirty="0"/>
          </a:p>
        </p:txBody>
      </p:sp>
      <p:sp>
        <p:nvSpPr>
          <p:cNvPr id="10" name="Text 8"/>
          <p:cNvSpPr txBox="1"/>
          <p:nvPr/>
        </p:nvSpPr>
        <p:spPr>
          <a:xfrm>
            <a:off x="1442255" y="4244848"/>
            <a:ext cx="4085092" cy="190500"/>
          </a:xfrm>
          <a:prstGeom prst="rect">
            <a:avLst/>
          </a:prstGeom>
          <a:noFill/>
          <a:ln/>
        </p:spPr>
        <p:txBody>
          <a:bodyPr wrap="square" lIns="0" tIns="0" rIns="0" bIns="0" rtlCol="0" anchor="t"/>
          <a:lstStyle/>
          <a:p>
            <a:pPr algn="r" indent="0" marL="0">
              <a:lnSpc>
                <a:spcPct val="128000"/>
              </a:lnSpc>
              <a:buNone/>
            </a:pPr>
            <a:r>
              <a:rPr lang="en-US" sz="800" dirty="0">
                <a:solidFill>
                  <a:srgbClr val="6E675F"/>
                </a:solidFill>
                <a:latin typeface="Arial" pitchFamily="34" charset="0"/>
                <a:ea typeface="Arial" pitchFamily="34" charset="-122"/>
                <a:cs typeface="Arial" pitchFamily="34" charset="-120"/>
              </a:rPr>
              <a:t>re-reads turns 1-2</a:t>
            </a:r>
            <a:endParaRPr lang="en-US" sz="800" dirty="0"/>
          </a:p>
        </p:txBody>
      </p:sp>
      <p:sp>
        <p:nvSpPr>
          <p:cNvPr id="11" name="Shape 9"/>
          <p:cNvSpPr/>
          <p:nvPr/>
        </p:nvSpPr>
        <p:spPr>
          <a:xfrm>
            <a:off x="777240" y="4490212"/>
            <a:ext cx="1969008" cy="487680"/>
          </a:xfrm>
          <a:prstGeom prst="roundRect">
            <a:avLst>
              <a:gd name="adj" fmla="val 49219"/>
            </a:avLst>
          </a:prstGeom>
          <a:solidFill>
            <a:srgbClr val="F4F1ED"/>
          </a:solidFill>
          <a:ln w="12700">
            <a:solidFill>
              <a:srgbClr val="E4DFD9"/>
            </a:solidFill>
            <a:prstDash val="solid"/>
          </a:ln>
        </p:spPr>
      </p:sp>
      <p:sp>
        <p:nvSpPr>
          <p:cNvPr id="12" name="Text 10"/>
          <p:cNvSpPr txBox="1"/>
          <p:nvPr/>
        </p:nvSpPr>
        <p:spPr>
          <a:xfrm>
            <a:off x="923544" y="4636516"/>
            <a:ext cx="1676400" cy="195072"/>
          </a:xfrm>
          <a:prstGeom prst="rect">
            <a:avLst/>
          </a:prstGeom>
          <a:noFill/>
          <a:ln/>
        </p:spPr>
        <p:txBody>
          <a:bodyPr wrap="square" lIns="0" tIns="0" rIns="0" bIns="0" rtlCol="0" anchor="t"/>
          <a:lstStyle/>
          <a:p>
            <a:pPr algn="l" indent="0" marL="0">
              <a:lnSpc>
                <a:spcPct val="128000"/>
              </a:lnSpc>
              <a:buNone/>
            </a:pPr>
            <a:r>
              <a:rPr lang="en-US" sz="1200" dirty="0">
                <a:solidFill>
                  <a:srgbClr val="2A2621"/>
                </a:solidFill>
                <a:latin typeface="Arial" pitchFamily="34" charset="0"/>
                <a:ea typeface="Arial" pitchFamily="34" charset="-122"/>
                <a:cs typeface="Arial" pitchFamily="34" charset="-120"/>
              </a:rPr>
              <a:t>Added Login.test.tsx</a:t>
            </a:r>
            <a:endParaRPr lang="en-US" sz="1200" dirty="0"/>
          </a:p>
        </p:txBody>
      </p:sp>
      <p:sp>
        <p:nvSpPr>
          <p:cNvPr id="13" name="Shape 11"/>
          <p:cNvSpPr/>
          <p:nvPr/>
        </p:nvSpPr>
        <p:spPr>
          <a:xfrm>
            <a:off x="3474519" y="5032756"/>
            <a:ext cx="2052828" cy="487680"/>
          </a:xfrm>
          <a:prstGeom prst="roundRect">
            <a:avLst>
              <a:gd name="adj" fmla="val 49219"/>
            </a:avLst>
          </a:prstGeom>
          <a:solidFill>
            <a:srgbClr val="C96442"/>
          </a:solidFill>
          <a:ln/>
        </p:spPr>
      </p:sp>
      <p:sp>
        <p:nvSpPr>
          <p:cNvPr id="14" name="Text 12"/>
          <p:cNvSpPr txBox="1"/>
          <p:nvPr/>
        </p:nvSpPr>
        <p:spPr>
          <a:xfrm>
            <a:off x="3620823" y="5179060"/>
            <a:ext cx="1760220" cy="195072"/>
          </a:xfrm>
          <a:prstGeom prst="rect">
            <a:avLst/>
          </a:prstGeom>
          <a:noFill/>
          <a:ln/>
        </p:spPr>
        <p:txBody>
          <a:bodyPr wrap="square" lIns="0" tIns="0" rIns="0" bIns="0" rtlCol="0" anchor="t"/>
          <a:lstStyle/>
          <a:p>
            <a:pPr algn="l" indent="0" marL="0">
              <a:lnSpc>
                <a:spcPct val="128000"/>
              </a:lnSpc>
              <a:buNone/>
            </a:pPr>
            <a:r>
              <a:rPr lang="en-US" sz="1200" dirty="0">
                <a:solidFill>
                  <a:srgbClr val="FFFFFF"/>
                </a:solidFill>
                <a:latin typeface="Arial" pitchFamily="34" charset="0"/>
                <a:ea typeface="Arial" pitchFamily="34" charset="-122"/>
                <a:cs typeface="Arial" pitchFamily="34" charset="-120"/>
              </a:rPr>
              <a:t>Actually, revert that</a:t>
            </a:r>
            <a:endParaRPr lang="en-US" sz="1200" dirty="0"/>
          </a:p>
        </p:txBody>
      </p:sp>
      <p:sp>
        <p:nvSpPr>
          <p:cNvPr id="15" name="Text 13"/>
          <p:cNvSpPr txBox="1"/>
          <p:nvPr/>
        </p:nvSpPr>
        <p:spPr>
          <a:xfrm>
            <a:off x="1442255" y="5547868"/>
            <a:ext cx="4085092" cy="190500"/>
          </a:xfrm>
          <a:prstGeom prst="rect">
            <a:avLst/>
          </a:prstGeom>
          <a:noFill/>
          <a:ln/>
        </p:spPr>
        <p:txBody>
          <a:bodyPr wrap="square" lIns="0" tIns="0" rIns="0" bIns="0" rtlCol="0" anchor="t"/>
          <a:lstStyle/>
          <a:p>
            <a:pPr algn="r" indent="0" marL="0">
              <a:lnSpc>
                <a:spcPct val="128000"/>
              </a:lnSpc>
              <a:buNone/>
            </a:pPr>
            <a:r>
              <a:rPr lang="en-US" sz="800" dirty="0">
                <a:solidFill>
                  <a:srgbClr val="6E675F"/>
                </a:solidFill>
                <a:latin typeface="Arial" pitchFamily="34" charset="0"/>
                <a:ea typeface="Arial" pitchFamily="34" charset="-122"/>
                <a:cs typeface="Arial" pitchFamily="34" charset="-120"/>
              </a:rPr>
              <a:t>re-reads turns 1-4</a:t>
            </a:r>
            <a:endParaRPr lang="en-US" sz="800" dirty="0"/>
          </a:p>
        </p:txBody>
      </p:sp>
      <p:sp>
        <p:nvSpPr>
          <p:cNvPr id="16" name="Shape 14"/>
          <p:cNvSpPr/>
          <p:nvPr/>
        </p:nvSpPr>
        <p:spPr>
          <a:xfrm>
            <a:off x="777240" y="5793232"/>
            <a:ext cx="2136648" cy="487680"/>
          </a:xfrm>
          <a:prstGeom prst="roundRect">
            <a:avLst>
              <a:gd name="adj" fmla="val 49219"/>
            </a:avLst>
          </a:prstGeom>
          <a:solidFill>
            <a:srgbClr val="F4F1ED"/>
          </a:solidFill>
          <a:ln w="12700">
            <a:solidFill>
              <a:srgbClr val="E4DFD9"/>
            </a:solidFill>
            <a:prstDash val="solid"/>
          </a:ln>
        </p:spPr>
      </p:sp>
      <p:sp>
        <p:nvSpPr>
          <p:cNvPr id="17" name="Text 15"/>
          <p:cNvSpPr txBox="1"/>
          <p:nvPr/>
        </p:nvSpPr>
        <p:spPr>
          <a:xfrm>
            <a:off x="923544" y="5939536"/>
            <a:ext cx="1844040" cy="195072"/>
          </a:xfrm>
          <a:prstGeom prst="rect">
            <a:avLst/>
          </a:prstGeom>
          <a:noFill/>
          <a:ln/>
        </p:spPr>
        <p:txBody>
          <a:bodyPr wrap="square" lIns="0" tIns="0" rIns="0" bIns="0" rtlCol="0" anchor="t"/>
          <a:lstStyle/>
          <a:p>
            <a:pPr algn="l" indent="0" marL="0">
              <a:lnSpc>
                <a:spcPct val="128000"/>
              </a:lnSpc>
              <a:buNone/>
            </a:pPr>
            <a:r>
              <a:rPr lang="en-US" sz="1200" dirty="0">
                <a:solidFill>
                  <a:srgbClr val="2A2621"/>
                </a:solidFill>
                <a:latin typeface="Arial" pitchFamily="34" charset="0"/>
                <a:ea typeface="Arial" pitchFamily="34" charset="-122"/>
                <a:cs typeface="Arial" pitchFamily="34" charset="-120"/>
              </a:rPr>
              <a:t>Removed Login.test.tsx</a:t>
            </a:r>
            <a:endParaRPr lang="en-US" sz="1200" dirty="0"/>
          </a:p>
        </p:txBody>
      </p:sp>
      <p:sp>
        <p:nvSpPr>
          <p:cNvPr id="18" name="Shape 16"/>
          <p:cNvSpPr/>
          <p:nvPr/>
        </p:nvSpPr>
        <p:spPr>
          <a:xfrm>
            <a:off x="5838243" y="2644648"/>
            <a:ext cx="5576212" cy="978855"/>
          </a:xfrm>
          <a:prstGeom prst="roundRect">
            <a:avLst>
              <a:gd name="adj" fmla="val 8726"/>
            </a:avLst>
          </a:prstGeom>
          <a:solidFill>
            <a:srgbClr val="F6E7DE"/>
          </a:solidFill>
          <a:ln/>
        </p:spPr>
      </p:sp>
      <p:sp>
        <p:nvSpPr>
          <p:cNvPr id="19" name="Text 17"/>
          <p:cNvSpPr txBox="1"/>
          <p:nvPr/>
        </p:nvSpPr>
        <p:spPr>
          <a:xfrm>
            <a:off x="6067574" y="2873980"/>
            <a:ext cx="5117549" cy="520192"/>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The entire transcript is re-sent </a:t>
            </a:r>
            <a:pPr algn="l" indent="0" marL="0">
              <a:lnSpc>
                <a:spcPct val="128000"/>
              </a:lnSpc>
              <a:buNone/>
            </a:pPr>
            <a:endParaRPr lang="en-US" sz="1600" dirty="0"/>
          </a:p>
          <a:p>
            <a:pPr algn="l" indent="0" marL="0">
              <a:lnSpc>
                <a:spcPct val="128000"/>
              </a:lnSpc>
              <a:buNone/>
            </a:pPr>
            <a:r>
              <a:rPr lang="en-US" sz="1600" b="1" dirty="0">
                <a:solidFill>
                  <a:srgbClr val="C96442"/>
                </a:solidFill>
                <a:latin typeface="Arial" pitchFamily="34" charset="0"/>
                <a:ea typeface="Arial" pitchFamily="34" charset="-122"/>
                <a:cs typeface="Arial" pitchFamily="34" charset="-120"/>
              </a:rPr>
              <a:t>EVERY SINGLE TURN</a:t>
            </a:r>
            <a:endParaRPr lang="en-US" sz="1600" dirty="0"/>
          </a:p>
        </p:txBody>
      </p:sp>
      <p:sp>
        <p:nvSpPr>
          <p:cNvPr id="20" name="Shape 18"/>
          <p:cNvSpPr/>
          <p:nvPr/>
        </p:nvSpPr>
        <p:spPr>
          <a:xfrm>
            <a:off x="5838243" y="3989263"/>
            <a:ext cx="5576212" cy="718759"/>
          </a:xfrm>
          <a:prstGeom prst="roundRect">
            <a:avLst>
              <a:gd name="adj" fmla="val 16185"/>
            </a:avLst>
          </a:prstGeom>
          <a:ln w="15875">
            <a:solidFill>
              <a:srgbClr val="C96442"/>
            </a:solidFill>
            <a:prstDash val="solid"/>
          </a:ln>
        </p:spPr>
      </p:sp>
      <p:sp>
        <p:nvSpPr>
          <p:cNvPr id="21" name="Text 19"/>
          <p:cNvSpPr txBox="1"/>
          <p:nvPr/>
        </p:nvSpPr>
        <p:spPr>
          <a:xfrm>
            <a:off x="6067574" y="4218595"/>
            <a:ext cx="5117549" cy="260096"/>
          </a:xfrm>
          <a:prstGeom prst="rect">
            <a:avLst/>
          </a:prstGeom>
          <a:noFill/>
          <a:ln/>
        </p:spPr>
        <p:txBody>
          <a:bodyPr wrap="square" lIns="0" tIns="0" rIns="0" bIns="0" rtlCol="0" anchor="t"/>
          <a:lstStyle/>
          <a:p>
            <a:pPr algn="l" indent="0" marL="0">
              <a:lnSpc>
                <a:spcPct val="128000"/>
              </a:lnSpc>
              <a:buNone/>
            </a:pPr>
            <a:r>
              <a:rPr lang="en-US" sz="1600" dirty="0">
                <a:solidFill>
                  <a:srgbClr val="2A2621"/>
                </a:solidFill>
                <a:latin typeface="Arial" pitchFamily="34" charset="0"/>
                <a:ea typeface="Arial" pitchFamily="34" charset="-122"/>
                <a:cs typeface="Arial" pitchFamily="34" charset="-120"/>
              </a:rPr>
              <a:t>and all of it fills up your context window...</a:t>
            </a:r>
            <a:endParaRPr lang="en-US" sz="1600" dirty="0"/>
          </a:p>
        </p:txBody>
      </p:sp>
      <p:sp>
        <p:nvSpPr>
          <p:cNvPr id="22" name="Text 20"/>
          <p:cNvSpPr txBox="1"/>
          <p:nvPr/>
        </p:nvSpPr>
        <p:spPr>
          <a:xfrm>
            <a:off x="5838243" y="5073782"/>
            <a:ext cx="5576212" cy="243840"/>
          </a:xfrm>
          <a:prstGeom prst="rect">
            <a:avLst/>
          </a:prstGeom>
          <a:noFill/>
          <a:ln/>
        </p:spPr>
        <p:txBody>
          <a:bodyPr wrap="square" lIns="0" tIns="0" rIns="0" bIns="0" rtlCol="0" anchor="t"/>
          <a:lstStyle/>
          <a:p>
            <a:pPr algn="l" indent="0" marL="0">
              <a:lnSpc>
                <a:spcPct val="128000"/>
              </a:lnSpc>
              <a:buNone/>
            </a:pPr>
            <a:r>
              <a:rPr lang="en-US" sz="1500" dirty="0">
                <a:solidFill>
                  <a:srgbClr val="2A2621"/>
                </a:solidFill>
                <a:latin typeface="Arial" pitchFamily="34" charset="0"/>
                <a:ea typeface="Arial" pitchFamily="34" charset="-122"/>
                <a:cs typeface="Arial" pitchFamily="34" charset="-120"/>
              </a:rPr>
              <a:t>Managing it is your job, not the model's.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1510411"/>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03 · CONTEXT</a:t>
            </a:r>
            <a:endParaRPr lang="en-US" sz="1200" dirty="0"/>
          </a:p>
        </p:txBody>
      </p:sp>
      <p:sp>
        <p:nvSpPr>
          <p:cNvPr id="3" name="Text 1"/>
          <p:cNvSpPr txBox="1"/>
          <p:nvPr/>
        </p:nvSpPr>
        <p:spPr>
          <a:xfrm>
            <a:off x="777240" y="1793875"/>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What is the Context Window?</a:t>
            </a:r>
            <a:endParaRPr lang="en-US" sz="4000" dirty="0"/>
          </a:p>
        </p:txBody>
      </p:sp>
      <p:sp>
        <p:nvSpPr>
          <p:cNvPr id="4" name="Text 2"/>
          <p:cNvSpPr txBox="1"/>
          <p:nvPr/>
        </p:nvSpPr>
        <p:spPr>
          <a:xfrm>
            <a:off x="777240" y="2846451"/>
            <a:ext cx="8412480" cy="552704"/>
          </a:xfrm>
          <a:prstGeom prst="rect">
            <a:avLst/>
          </a:prstGeom>
          <a:noFill/>
          <a:ln/>
        </p:spPr>
        <p:txBody>
          <a:bodyPr wrap="square" lIns="0" tIns="0" rIns="0" bIns="0" rtlCol="0" anchor="t"/>
          <a:lstStyle/>
          <a:p>
            <a:pPr algn="l" indent="0" marL="0">
              <a:lnSpc>
                <a:spcPct val="128000"/>
              </a:lnSpc>
              <a:buNone/>
            </a:pPr>
            <a:r>
              <a:rPr lang="en-US" sz="1700" dirty="0">
                <a:solidFill>
                  <a:srgbClr val="6E675F"/>
                </a:solidFill>
                <a:latin typeface="Arial" pitchFamily="34" charset="0"/>
                <a:ea typeface="Arial" pitchFamily="34" charset="-122"/>
                <a:cs typeface="Arial" pitchFamily="34" charset="-120"/>
              </a:rPr>
              <a:t>Everything the agent is carrying right now: your prompts, its replies, every file it read, every command it ran.</a:t>
            </a:r>
            <a:endParaRPr lang="en-US" sz="1700" dirty="0"/>
          </a:p>
        </p:txBody>
      </p:sp>
      <p:sp>
        <p:nvSpPr>
          <p:cNvPr id="5" name="Text 3"/>
          <p:cNvSpPr txBox="1"/>
          <p:nvPr/>
        </p:nvSpPr>
        <p:spPr>
          <a:xfrm>
            <a:off x="777240" y="3636899"/>
            <a:ext cx="2461492" cy="222885"/>
          </a:xfrm>
          <a:prstGeom prst="rect">
            <a:avLst/>
          </a:prstGeom>
          <a:noFill/>
          <a:ln/>
        </p:spPr>
        <p:txBody>
          <a:bodyPr wrap="square" lIns="0" tIns="0" rIns="0" bIns="0" rtlCol="0" anchor="t"/>
          <a:lstStyle/>
          <a:p>
            <a:pPr algn="l" indent="0" marL="0">
              <a:lnSpc>
                <a:spcPct val="128000"/>
              </a:lnSpc>
              <a:buNone/>
            </a:pPr>
            <a:r>
              <a:rPr lang="en-US" sz="1300" b="1" dirty="0">
                <a:solidFill>
                  <a:srgbClr val="C96442"/>
                </a:solidFill>
                <a:latin typeface="Arial" pitchFamily="34" charset="0"/>
                <a:ea typeface="Arial" pitchFamily="34" charset="-122"/>
                <a:cs typeface="Arial" pitchFamily="34" charset="-120"/>
              </a:rPr>
              <a:t>Plan</a:t>
            </a:r>
            <a:endParaRPr lang="en-US" sz="1300" dirty="0"/>
          </a:p>
        </p:txBody>
      </p:sp>
      <p:sp>
        <p:nvSpPr>
          <p:cNvPr id="6" name="Text 4"/>
          <p:cNvSpPr txBox="1"/>
          <p:nvPr/>
        </p:nvSpPr>
        <p:spPr>
          <a:xfrm>
            <a:off x="3330172" y="3636899"/>
            <a:ext cx="7992844" cy="222885"/>
          </a:xfrm>
          <a:prstGeom prst="rect">
            <a:avLst/>
          </a:prstGeom>
          <a:noFill/>
          <a:ln/>
        </p:spPr>
        <p:txBody>
          <a:bodyPr wrap="square" lIns="0" tIns="0" rIns="0" bIns="0" rtlCol="0" anchor="t"/>
          <a:lstStyle/>
          <a:p>
            <a:pPr algn="l" indent="0" marL="0">
              <a:lnSpc>
                <a:spcPct val="128000"/>
              </a:lnSpc>
              <a:buNone/>
            </a:pPr>
            <a:r>
              <a:rPr lang="en-US" sz="1300" b="1" dirty="0">
                <a:solidFill>
                  <a:srgbClr val="C96442"/>
                </a:solidFill>
                <a:latin typeface="Arial" pitchFamily="34" charset="0"/>
                <a:ea typeface="Arial" pitchFamily="34" charset="-122"/>
                <a:cs typeface="Arial" pitchFamily="34" charset="-120"/>
              </a:rPr>
              <a:t>Executing work</a:t>
            </a:r>
            <a:endParaRPr lang="en-US" sz="1300" dirty="0"/>
          </a:p>
        </p:txBody>
      </p:sp>
      <p:sp>
        <p:nvSpPr>
          <p:cNvPr id="7" name="Shape 5"/>
          <p:cNvSpPr/>
          <p:nvPr/>
        </p:nvSpPr>
        <p:spPr>
          <a:xfrm>
            <a:off x="777240" y="3951224"/>
            <a:ext cx="407201" cy="384048"/>
          </a:xfrm>
          <a:prstGeom prst="roundRect">
            <a:avLst>
              <a:gd name="adj" fmla="val 22676"/>
            </a:avLst>
          </a:prstGeom>
          <a:solidFill>
            <a:srgbClr val="2E86C1"/>
          </a:solidFill>
          <a:ln/>
        </p:spPr>
      </p:sp>
      <p:sp>
        <p:nvSpPr>
          <p:cNvPr id="8" name="Shape 6"/>
          <p:cNvSpPr/>
          <p:nvPr/>
        </p:nvSpPr>
        <p:spPr>
          <a:xfrm>
            <a:off x="1202729" y="3951224"/>
            <a:ext cx="832689" cy="384048"/>
          </a:xfrm>
          <a:prstGeom prst="roundRect">
            <a:avLst>
              <a:gd name="adj" fmla="val 22676"/>
            </a:avLst>
          </a:prstGeom>
          <a:solidFill>
            <a:srgbClr val="5DADE2"/>
          </a:solidFill>
          <a:ln/>
        </p:spPr>
      </p:sp>
      <p:sp>
        <p:nvSpPr>
          <p:cNvPr id="9" name="Shape 7"/>
          <p:cNvSpPr/>
          <p:nvPr/>
        </p:nvSpPr>
        <p:spPr>
          <a:xfrm>
            <a:off x="2053706" y="3951224"/>
            <a:ext cx="1258178" cy="384048"/>
          </a:xfrm>
          <a:prstGeom prst="roundRect">
            <a:avLst>
              <a:gd name="adj" fmla="val 22676"/>
            </a:avLst>
          </a:prstGeom>
          <a:solidFill>
            <a:srgbClr val="8E44AD"/>
          </a:solidFill>
          <a:ln/>
        </p:spPr>
      </p:sp>
      <p:sp>
        <p:nvSpPr>
          <p:cNvPr id="10" name="Shape 8"/>
          <p:cNvSpPr/>
          <p:nvPr/>
        </p:nvSpPr>
        <p:spPr>
          <a:xfrm>
            <a:off x="3330172" y="3951224"/>
            <a:ext cx="1258178" cy="384048"/>
          </a:xfrm>
          <a:prstGeom prst="roundRect">
            <a:avLst>
              <a:gd name="adj" fmla="val 22676"/>
            </a:avLst>
          </a:prstGeom>
          <a:solidFill>
            <a:srgbClr val="27AE60"/>
          </a:solidFill>
          <a:ln/>
        </p:spPr>
      </p:sp>
      <p:sp>
        <p:nvSpPr>
          <p:cNvPr id="11" name="Shape 9"/>
          <p:cNvSpPr/>
          <p:nvPr/>
        </p:nvSpPr>
        <p:spPr>
          <a:xfrm>
            <a:off x="4606637" y="3951224"/>
            <a:ext cx="1790039" cy="384048"/>
          </a:xfrm>
          <a:prstGeom prst="roundRect">
            <a:avLst>
              <a:gd name="adj" fmla="val 22676"/>
            </a:avLst>
          </a:prstGeom>
          <a:solidFill>
            <a:srgbClr val="F1C40F"/>
          </a:solidFill>
          <a:ln/>
        </p:spPr>
      </p:sp>
      <p:sp>
        <p:nvSpPr>
          <p:cNvPr id="12" name="Shape 10"/>
          <p:cNvSpPr/>
          <p:nvPr/>
        </p:nvSpPr>
        <p:spPr>
          <a:xfrm>
            <a:off x="6414964" y="3951224"/>
            <a:ext cx="939061" cy="384048"/>
          </a:xfrm>
          <a:prstGeom prst="roundRect">
            <a:avLst>
              <a:gd name="adj" fmla="val 22676"/>
            </a:avLst>
          </a:prstGeom>
          <a:solidFill>
            <a:srgbClr val="E67E22"/>
          </a:solidFill>
          <a:ln/>
        </p:spPr>
      </p:sp>
      <p:sp>
        <p:nvSpPr>
          <p:cNvPr id="13" name="Shape 11"/>
          <p:cNvSpPr/>
          <p:nvPr/>
        </p:nvSpPr>
        <p:spPr>
          <a:xfrm>
            <a:off x="7372313" y="3951224"/>
            <a:ext cx="4042142" cy="384048"/>
          </a:xfrm>
          <a:prstGeom prst="roundRect">
            <a:avLst>
              <a:gd name="adj" fmla="val 22676"/>
            </a:avLst>
          </a:prstGeom>
          <a:solidFill>
            <a:srgbClr val="F4F1ED"/>
          </a:solidFill>
          <a:ln w="12700">
            <a:solidFill>
              <a:srgbClr val="E4DFD9"/>
            </a:solidFill>
            <a:prstDash val="solid"/>
          </a:ln>
        </p:spPr>
      </p:sp>
      <p:sp>
        <p:nvSpPr>
          <p:cNvPr id="14" name="Text 12"/>
          <p:cNvSpPr txBox="1"/>
          <p:nvPr/>
        </p:nvSpPr>
        <p:spPr>
          <a:xfrm>
            <a:off x="7372313" y="3951224"/>
            <a:ext cx="4042142" cy="384048"/>
          </a:xfrm>
          <a:prstGeom prst="rect">
            <a:avLst/>
          </a:prstGeom>
          <a:noFill/>
          <a:ln/>
        </p:spPr>
        <p:txBody>
          <a:bodyPr wrap="square" lIns="0" tIns="0" rIns="0" bIns="0" rtlCol="0" anchor="t"/>
          <a:lstStyle/>
          <a:p>
            <a:pPr algn="ctr" indent="0" marL="0">
              <a:lnSpc>
                <a:spcPct val="128000"/>
              </a:lnSpc>
              <a:buNone/>
            </a:pPr>
            <a:r>
              <a:rPr lang="en-US" sz="1300" dirty="0">
                <a:solidFill>
                  <a:srgbClr val="6E675F"/>
                </a:solidFill>
                <a:latin typeface="Arial" pitchFamily="34" charset="0"/>
                <a:ea typeface="Arial" pitchFamily="34" charset="-122"/>
                <a:cs typeface="Arial" pitchFamily="34" charset="-120"/>
              </a:rPr>
              <a:t>still free</a:t>
            </a:r>
            <a:endParaRPr lang="en-US" sz="1300" dirty="0"/>
          </a:p>
        </p:txBody>
      </p:sp>
      <p:sp>
        <p:nvSpPr>
          <p:cNvPr id="15" name="Shape 13"/>
          <p:cNvSpPr/>
          <p:nvPr/>
        </p:nvSpPr>
        <p:spPr>
          <a:xfrm>
            <a:off x="777240" y="4515295"/>
            <a:ext cx="118872" cy="118872"/>
          </a:xfrm>
          <a:prstGeom prst="roundRect">
            <a:avLst>
              <a:gd name="adj" fmla="val 118343"/>
            </a:avLst>
          </a:prstGeom>
          <a:solidFill>
            <a:srgbClr val="2E86C1"/>
          </a:solidFill>
          <a:ln/>
        </p:spPr>
      </p:sp>
      <p:sp>
        <p:nvSpPr>
          <p:cNvPr id="16" name="Text 14"/>
          <p:cNvSpPr txBox="1"/>
          <p:nvPr/>
        </p:nvSpPr>
        <p:spPr>
          <a:xfrm>
            <a:off x="969264" y="4463288"/>
            <a:ext cx="1362710" cy="222885"/>
          </a:xfrm>
          <a:prstGeom prst="rect">
            <a:avLst/>
          </a:prstGeom>
          <a:noFill/>
          <a:ln/>
        </p:spPr>
        <p:txBody>
          <a:bodyPr wrap="square" lIns="0" tIns="0" rIns="0" bIns="0" rtlCol="0" anchor="t"/>
          <a:lstStyle/>
          <a:p>
            <a:pPr algn="l" indent="0" marL="0">
              <a:lnSpc>
                <a:spcPct val="128000"/>
              </a:lnSpc>
              <a:buNone/>
            </a:pPr>
            <a:r>
              <a:rPr lang="en-US" sz="1300" dirty="0">
                <a:solidFill>
                  <a:srgbClr val="6E675F"/>
                </a:solidFill>
                <a:latin typeface="Arial" pitchFamily="34" charset="0"/>
                <a:ea typeface="Arial" pitchFamily="34" charset="-122"/>
                <a:cs typeface="Arial" pitchFamily="34" charset="-120"/>
              </a:rPr>
              <a:t>initial prompt</a:t>
            </a:r>
            <a:endParaRPr lang="en-US" sz="1300" dirty="0"/>
          </a:p>
        </p:txBody>
      </p:sp>
      <p:sp>
        <p:nvSpPr>
          <p:cNvPr id="17" name="Shape 15"/>
          <p:cNvSpPr/>
          <p:nvPr/>
        </p:nvSpPr>
        <p:spPr>
          <a:xfrm>
            <a:off x="2478278" y="4515295"/>
            <a:ext cx="118872" cy="118872"/>
          </a:xfrm>
          <a:prstGeom prst="roundRect">
            <a:avLst>
              <a:gd name="adj" fmla="val 118343"/>
            </a:avLst>
          </a:prstGeom>
          <a:solidFill>
            <a:srgbClr val="5DADE2"/>
          </a:solidFill>
          <a:ln/>
        </p:spPr>
      </p:sp>
      <p:sp>
        <p:nvSpPr>
          <p:cNvPr id="18" name="Text 16"/>
          <p:cNvSpPr txBox="1"/>
          <p:nvPr/>
        </p:nvSpPr>
        <p:spPr>
          <a:xfrm>
            <a:off x="2670302" y="4463288"/>
            <a:ext cx="1635125" cy="222885"/>
          </a:xfrm>
          <a:prstGeom prst="rect">
            <a:avLst/>
          </a:prstGeom>
          <a:noFill/>
          <a:ln/>
        </p:spPr>
        <p:txBody>
          <a:bodyPr wrap="square" lIns="0" tIns="0" rIns="0" bIns="0" rtlCol="0" anchor="t"/>
          <a:lstStyle/>
          <a:p>
            <a:pPr algn="l" indent="0" marL="0">
              <a:lnSpc>
                <a:spcPct val="128000"/>
              </a:lnSpc>
              <a:buNone/>
            </a:pPr>
            <a:r>
              <a:rPr lang="en-US" sz="1300" dirty="0">
                <a:solidFill>
                  <a:srgbClr val="6E675F"/>
                </a:solidFill>
                <a:latin typeface="Arial" pitchFamily="34" charset="0"/>
                <a:ea typeface="Arial" pitchFamily="34" charset="-122"/>
                <a:cs typeface="Arial" pitchFamily="34" charset="-120"/>
              </a:rPr>
              <a:t>project structure</a:t>
            </a:r>
            <a:endParaRPr lang="en-US" sz="1300" dirty="0"/>
          </a:p>
        </p:txBody>
      </p:sp>
      <p:sp>
        <p:nvSpPr>
          <p:cNvPr id="19" name="Shape 17"/>
          <p:cNvSpPr/>
          <p:nvPr/>
        </p:nvSpPr>
        <p:spPr>
          <a:xfrm>
            <a:off x="4451731" y="4515295"/>
            <a:ext cx="118872" cy="118872"/>
          </a:xfrm>
          <a:prstGeom prst="roundRect">
            <a:avLst>
              <a:gd name="adj" fmla="val 118343"/>
            </a:avLst>
          </a:prstGeom>
          <a:solidFill>
            <a:srgbClr val="8E44AD"/>
          </a:solidFill>
          <a:ln/>
        </p:spPr>
      </p:sp>
      <p:sp>
        <p:nvSpPr>
          <p:cNvPr id="20" name="Text 18"/>
          <p:cNvSpPr txBox="1"/>
          <p:nvPr/>
        </p:nvSpPr>
        <p:spPr>
          <a:xfrm>
            <a:off x="4643755" y="4463288"/>
            <a:ext cx="1544320" cy="222885"/>
          </a:xfrm>
          <a:prstGeom prst="rect">
            <a:avLst/>
          </a:prstGeom>
          <a:noFill/>
          <a:ln/>
        </p:spPr>
        <p:txBody>
          <a:bodyPr wrap="square" lIns="0" tIns="0" rIns="0" bIns="0" rtlCol="0" anchor="t"/>
          <a:lstStyle/>
          <a:p>
            <a:pPr algn="l" indent="0" marL="0">
              <a:lnSpc>
                <a:spcPct val="128000"/>
              </a:lnSpc>
              <a:buNone/>
            </a:pPr>
            <a:r>
              <a:rPr lang="en-US" sz="1300" dirty="0">
                <a:solidFill>
                  <a:srgbClr val="6E675F"/>
                </a:solidFill>
                <a:latin typeface="Arial" pitchFamily="34" charset="0"/>
                <a:ea typeface="Arial" pitchFamily="34" charset="-122"/>
                <a:cs typeface="Arial" pitchFamily="34" charset="-120"/>
              </a:rPr>
              <a:t>writing the plan</a:t>
            </a:r>
            <a:endParaRPr lang="en-US" sz="1300" dirty="0"/>
          </a:p>
        </p:txBody>
      </p:sp>
      <p:sp>
        <p:nvSpPr>
          <p:cNvPr id="21" name="Shape 19"/>
          <p:cNvSpPr/>
          <p:nvPr/>
        </p:nvSpPr>
        <p:spPr>
          <a:xfrm>
            <a:off x="6334379" y="4515295"/>
            <a:ext cx="118872" cy="118872"/>
          </a:xfrm>
          <a:prstGeom prst="roundRect">
            <a:avLst>
              <a:gd name="adj" fmla="val 118343"/>
            </a:avLst>
          </a:prstGeom>
          <a:solidFill>
            <a:srgbClr val="27AE60"/>
          </a:solidFill>
          <a:ln/>
        </p:spPr>
      </p:sp>
      <p:sp>
        <p:nvSpPr>
          <p:cNvPr id="22" name="Text 20"/>
          <p:cNvSpPr txBox="1"/>
          <p:nvPr/>
        </p:nvSpPr>
        <p:spPr>
          <a:xfrm>
            <a:off x="6526403" y="4463288"/>
            <a:ext cx="1271905" cy="222885"/>
          </a:xfrm>
          <a:prstGeom prst="rect">
            <a:avLst/>
          </a:prstGeom>
          <a:noFill/>
          <a:ln/>
        </p:spPr>
        <p:txBody>
          <a:bodyPr wrap="square" lIns="0" tIns="0" rIns="0" bIns="0" rtlCol="0" anchor="t"/>
          <a:lstStyle/>
          <a:p>
            <a:pPr algn="l" indent="0" marL="0">
              <a:lnSpc>
                <a:spcPct val="128000"/>
              </a:lnSpc>
              <a:buNone/>
            </a:pPr>
            <a:r>
              <a:rPr lang="en-US" sz="1300" dirty="0">
                <a:solidFill>
                  <a:srgbClr val="6E675F"/>
                </a:solidFill>
                <a:latin typeface="Arial" pitchFamily="34" charset="0"/>
                <a:ea typeface="Arial" pitchFamily="34" charset="-122"/>
                <a:cs typeface="Arial" pitchFamily="34" charset="-120"/>
              </a:rPr>
              <a:t>writing tests</a:t>
            </a:r>
            <a:endParaRPr lang="en-US" sz="1300" dirty="0"/>
          </a:p>
        </p:txBody>
      </p:sp>
      <p:sp>
        <p:nvSpPr>
          <p:cNvPr id="23" name="Shape 21"/>
          <p:cNvSpPr/>
          <p:nvPr/>
        </p:nvSpPr>
        <p:spPr>
          <a:xfrm>
            <a:off x="7944612" y="4515295"/>
            <a:ext cx="118872" cy="118872"/>
          </a:xfrm>
          <a:prstGeom prst="roundRect">
            <a:avLst>
              <a:gd name="adj" fmla="val 118343"/>
            </a:avLst>
          </a:prstGeom>
          <a:solidFill>
            <a:srgbClr val="F1C40F"/>
          </a:solidFill>
          <a:ln/>
        </p:spPr>
      </p:sp>
      <p:sp>
        <p:nvSpPr>
          <p:cNvPr id="24" name="Text 22"/>
          <p:cNvSpPr txBox="1"/>
          <p:nvPr/>
        </p:nvSpPr>
        <p:spPr>
          <a:xfrm>
            <a:off x="8136636" y="4463288"/>
            <a:ext cx="1181100" cy="222885"/>
          </a:xfrm>
          <a:prstGeom prst="rect">
            <a:avLst/>
          </a:prstGeom>
          <a:noFill/>
          <a:ln/>
        </p:spPr>
        <p:txBody>
          <a:bodyPr wrap="square" lIns="0" tIns="0" rIns="0" bIns="0" rtlCol="0" anchor="t"/>
          <a:lstStyle/>
          <a:p>
            <a:pPr algn="l" indent="0" marL="0">
              <a:lnSpc>
                <a:spcPct val="128000"/>
              </a:lnSpc>
              <a:buNone/>
            </a:pPr>
            <a:r>
              <a:rPr lang="en-US" sz="1300" dirty="0">
                <a:solidFill>
                  <a:srgbClr val="6E675F"/>
                </a:solidFill>
                <a:latin typeface="Arial" pitchFamily="34" charset="0"/>
                <a:ea typeface="Arial" pitchFamily="34" charset="-122"/>
                <a:cs typeface="Arial" pitchFamily="34" charset="-120"/>
              </a:rPr>
              <a:t>writing code</a:t>
            </a:r>
            <a:endParaRPr lang="en-US" sz="1300" dirty="0"/>
          </a:p>
        </p:txBody>
      </p:sp>
      <p:sp>
        <p:nvSpPr>
          <p:cNvPr id="25" name="Shape 23"/>
          <p:cNvSpPr/>
          <p:nvPr/>
        </p:nvSpPr>
        <p:spPr>
          <a:xfrm>
            <a:off x="9464040" y="4515295"/>
            <a:ext cx="118872" cy="118872"/>
          </a:xfrm>
          <a:prstGeom prst="roundRect">
            <a:avLst>
              <a:gd name="adj" fmla="val 118343"/>
            </a:avLst>
          </a:prstGeom>
          <a:solidFill>
            <a:srgbClr val="E67E22"/>
          </a:solidFill>
          <a:ln/>
        </p:spPr>
      </p:sp>
      <p:sp>
        <p:nvSpPr>
          <p:cNvPr id="26" name="Text 24"/>
          <p:cNvSpPr txBox="1"/>
          <p:nvPr/>
        </p:nvSpPr>
        <p:spPr>
          <a:xfrm>
            <a:off x="9656064" y="4463288"/>
            <a:ext cx="908685" cy="222885"/>
          </a:xfrm>
          <a:prstGeom prst="rect">
            <a:avLst/>
          </a:prstGeom>
          <a:noFill/>
          <a:ln/>
        </p:spPr>
        <p:txBody>
          <a:bodyPr wrap="square" lIns="0" tIns="0" rIns="0" bIns="0" rtlCol="0" anchor="t"/>
          <a:lstStyle/>
          <a:p>
            <a:pPr algn="l" indent="0" marL="0">
              <a:lnSpc>
                <a:spcPct val="128000"/>
              </a:lnSpc>
              <a:buNone/>
            </a:pPr>
            <a:r>
              <a:rPr lang="en-US" sz="1300" dirty="0">
                <a:solidFill>
                  <a:srgbClr val="6E675F"/>
                </a:solidFill>
                <a:latin typeface="Arial" pitchFamily="34" charset="0"/>
                <a:ea typeface="Arial" pitchFamily="34" charset="-122"/>
                <a:cs typeface="Arial" pitchFamily="34" charset="-120"/>
              </a:rPr>
              <a:t>verifying</a:t>
            </a:r>
            <a:endParaRPr lang="en-US" sz="1300" dirty="0"/>
          </a:p>
        </p:txBody>
      </p:sp>
      <p:sp>
        <p:nvSpPr>
          <p:cNvPr id="27" name="Shape 25"/>
          <p:cNvSpPr/>
          <p:nvPr/>
        </p:nvSpPr>
        <p:spPr>
          <a:xfrm>
            <a:off x="777240" y="5051933"/>
            <a:ext cx="420624" cy="420624"/>
          </a:xfrm>
          <a:prstGeom prst="ellipse">
            <a:avLst/>
          </a:prstGeom>
          <a:solidFill>
            <a:srgbClr val="C96442"/>
          </a:solidFill>
          <a:ln/>
        </p:spPr>
      </p:sp>
      <p:sp>
        <p:nvSpPr>
          <p:cNvPr id="28" name="Text 26"/>
          <p:cNvSpPr txBox="1"/>
          <p:nvPr/>
        </p:nvSpPr>
        <p:spPr>
          <a:xfrm>
            <a:off x="777240" y="5051933"/>
            <a:ext cx="420624" cy="420624"/>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500" dirty="0"/>
          </a:p>
        </p:txBody>
      </p:sp>
      <p:sp>
        <p:nvSpPr>
          <p:cNvPr id="29" name="Text 27"/>
          <p:cNvSpPr txBox="1"/>
          <p:nvPr/>
        </p:nvSpPr>
        <p:spPr>
          <a:xfrm>
            <a:off x="1380744" y="5051933"/>
            <a:ext cx="2759354"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Too much</a:t>
            </a:r>
            <a:endParaRPr lang="en-US" sz="1600" dirty="0"/>
          </a:p>
        </p:txBody>
      </p:sp>
      <p:sp>
        <p:nvSpPr>
          <p:cNvPr id="30" name="Text 28"/>
          <p:cNvSpPr txBox="1"/>
          <p:nvPr/>
        </p:nvSpPr>
        <p:spPr>
          <a:xfrm>
            <a:off x="1380744" y="5366893"/>
            <a:ext cx="2759354"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Hallucinations.</a:t>
            </a:r>
            <a:endParaRPr lang="en-US" sz="1400" dirty="0"/>
          </a:p>
        </p:txBody>
      </p:sp>
      <p:sp>
        <p:nvSpPr>
          <p:cNvPr id="31" name="Shape 29"/>
          <p:cNvSpPr/>
          <p:nvPr/>
        </p:nvSpPr>
        <p:spPr>
          <a:xfrm>
            <a:off x="4414418" y="5051933"/>
            <a:ext cx="420624" cy="420624"/>
          </a:xfrm>
          <a:prstGeom prst="ellipse">
            <a:avLst/>
          </a:prstGeom>
          <a:solidFill>
            <a:srgbClr val="C96442"/>
          </a:solidFill>
          <a:ln/>
        </p:spPr>
      </p:sp>
      <p:sp>
        <p:nvSpPr>
          <p:cNvPr id="32" name="Text 30"/>
          <p:cNvSpPr txBox="1"/>
          <p:nvPr/>
        </p:nvSpPr>
        <p:spPr>
          <a:xfrm>
            <a:off x="4414418" y="5051933"/>
            <a:ext cx="420624" cy="420624"/>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500" dirty="0"/>
          </a:p>
        </p:txBody>
      </p:sp>
      <p:sp>
        <p:nvSpPr>
          <p:cNvPr id="33" name="Text 31"/>
          <p:cNvSpPr txBox="1"/>
          <p:nvPr/>
        </p:nvSpPr>
        <p:spPr>
          <a:xfrm>
            <a:off x="5017922" y="5051933"/>
            <a:ext cx="2759354"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Too little</a:t>
            </a:r>
            <a:endParaRPr lang="en-US" sz="1600" dirty="0"/>
          </a:p>
        </p:txBody>
      </p:sp>
      <p:sp>
        <p:nvSpPr>
          <p:cNvPr id="34" name="Text 32"/>
          <p:cNvSpPr txBox="1"/>
          <p:nvPr/>
        </p:nvSpPr>
        <p:spPr>
          <a:xfrm>
            <a:off x="5017922" y="5366893"/>
            <a:ext cx="2759354"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Adds investigation overhead.</a:t>
            </a:r>
            <a:endParaRPr lang="en-US" sz="1400" dirty="0"/>
          </a:p>
        </p:txBody>
      </p:sp>
      <p:sp>
        <p:nvSpPr>
          <p:cNvPr id="35" name="Shape 33"/>
          <p:cNvSpPr/>
          <p:nvPr/>
        </p:nvSpPr>
        <p:spPr>
          <a:xfrm>
            <a:off x="8051597" y="5051933"/>
            <a:ext cx="420624" cy="420624"/>
          </a:xfrm>
          <a:prstGeom prst="ellipse">
            <a:avLst/>
          </a:prstGeom>
          <a:solidFill>
            <a:srgbClr val="C96442"/>
          </a:solidFill>
          <a:ln/>
        </p:spPr>
      </p:sp>
      <p:sp>
        <p:nvSpPr>
          <p:cNvPr id="36" name="Text 34"/>
          <p:cNvSpPr txBox="1"/>
          <p:nvPr/>
        </p:nvSpPr>
        <p:spPr>
          <a:xfrm>
            <a:off x="8051597" y="5051933"/>
            <a:ext cx="420624" cy="420624"/>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500" dirty="0"/>
          </a:p>
        </p:txBody>
      </p:sp>
      <p:sp>
        <p:nvSpPr>
          <p:cNvPr id="37" name="Text 35"/>
          <p:cNvSpPr txBox="1"/>
          <p:nvPr/>
        </p:nvSpPr>
        <p:spPr>
          <a:xfrm>
            <a:off x="8655101" y="5051933"/>
            <a:ext cx="2759354"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Just right</a:t>
            </a:r>
            <a:endParaRPr lang="en-US" sz="1600" dirty="0"/>
          </a:p>
        </p:txBody>
      </p:sp>
      <p:sp>
        <p:nvSpPr>
          <p:cNvPr id="38" name="Text 36"/>
          <p:cNvSpPr txBox="1"/>
          <p:nvPr/>
        </p:nvSpPr>
        <p:spPr>
          <a:xfrm>
            <a:off x="8655101" y="5366893"/>
            <a:ext cx="2759354"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Enough to do the task right.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1034288"/>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03 · CONTEXT</a:t>
            </a:r>
            <a:endParaRPr lang="en-US" sz="1200" dirty="0"/>
          </a:p>
        </p:txBody>
      </p:sp>
      <p:sp>
        <p:nvSpPr>
          <p:cNvPr id="3" name="Text 1"/>
          <p:cNvSpPr txBox="1"/>
          <p:nvPr/>
        </p:nvSpPr>
        <p:spPr>
          <a:xfrm>
            <a:off x="777240" y="1317752"/>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Too Much Context</a:t>
            </a:r>
            <a:endParaRPr lang="en-US" sz="4000" dirty="0"/>
          </a:p>
        </p:txBody>
      </p:sp>
      <p:sp>
        <p:nvSpPr>
          <p:cNvPr id="4" name="Text 2"/>
          <p:cNvSpPr txBox="1"/>
          <p:nvPr/>
        </p:nvSpPr>
        <p:spPr>
          <a:xfrm>
            <a:off x="777240" y="2411857"/>
            <a:ext cx="758952" cy="292608"/>
          </a:xfrm>
          <a:prstGeom prst="rect">
            <a:avLst/>
          </a:prstGeom>
          <a:noFill/>
          <a:ln/>
        </p:spPr>
        <p:txBody>
          <a:bodyPr wrap="square" lIns="0" tIns="0" rIns="0" bIns="0" rtlCol="0" anchor="t"/>
          <a:lstStyle/>
          <a:p>
            <a:pPr algn="l" indent="0" marL="0">
              <a:lnSpc>
                <a:spcPct val="128000"/>
              </a:lnSpc>
              <a:buNone/>
            </a:pPr>
            <a:r>
              <a:rPr lang="en-US" sz="1300" dirty="0">
                <a:solidFill>
                  <a:srgbClr val="6E675F"/>
                </a:solidFill>
                <a:latin typeface="Arial" pitchFamily="34" charset="0"/>
                <a:ea typeface="Arial" pitchFamily="34" charset="-122"/>
                <a:cs typeface="Arial" pitchFamily="34" charset="-120"/>
              </a:rPr>
              <a:t>Turn 1</a:t>
            </a:r>
            <a:endParaRPr lang="en-US" sz="1300" dirty="0"/>
          </a:p>
        </p:txBody>
      </p:sp>
      <p:sp>
        <p:nvSpPr>
          <p:cNvPr id="5" name="Shape 3"/>
          <p:cNvSpPr/>
          <p:nvPr/>
        </p:nvSpPr>
        <p:spPr>
          <a:xfrm>
            <a:off x="1645920" y="2370328"/>
            <a:ext cx="292608" cy="292608"/>
          </a:xfrm>
          <a:prstGeom prst="ellipse">
            <a:avLst/>
          </a:prstGeom>
          <a:solidFill>
            <a:srgbClr val="C0392B"/>
          </a:solidFill>
          <a:ln/>
        </p:spPr>
      </p:sp>
      <p:sp>
        <p:nvSpPr>
          <p:cNvPr id="6" name="Text 4"/>
          <p:cNvSpPr txBox="1"/>
          <p:nvPr/>
        </p:nvSpPr>
        <p:spPr>
          <a:xfrm>
            <a:off x="777240" y="2823337"/>
            <a:ext cx="758952" cy="292608"/>
          </a:xfrm>
          <a:prstGeom prst="rect">
            <a:avLst/>
          </a:prstGeom>
          <a:noFill/>
          <a:ln/>
        </p:spPr>
        <p:txBody>
          <a:bodyPr wrap="square" lIns="0" tIns="0" rIns="0" bIns="0" rtlCol="0" anchor="t"/>
          <a:lstStyle/>
          <a:p>
            <a:pPr algn="l" indent="0" marL="0">
              <a:lnSpc>
                <a:spcPct val="128000"/>
              </a:lnSpc>
              <a:buNone/>
            </a:pPr>
            <a:r>
              <a:rPr lang="en-US" sz="1300" dirty="0">
                <a:solidFill>
                  <a:srgbClr val="6E675F"/>
                </a:solidFill>
                <a:latin typeface="Arial" pitchFamily="34" charset="0"/>
                <a:ea typeface="Arial" pitchFamily="34" charset="-122"/>
                <a:cs typeface="Arial" pitchFamily="34" charset="-120"/>
              </a:rPr>
              <a:t>Turn 2</a:t>
            </a:r>
            <a:endParaRPr lang="en-US" sz="1300" dirty="0"/>
          </a:p>
        </p:txBody>
      </p:sp>
      <p:sp>
        <p:nvSpPr>
          <p:cNvPr id="7" name="Shape 5"/>
          <p:cNvSpPr/>
          <p:nvPr/>
        </p:nvSpPr>
        <p:spPr>
          <a:xfrm>
            <a:off x="1645920" y="2781808"/>
            <a:ext cx="292608" cy="292608"/>
          </a:xfrm>
          <a:prstGeom prst="ellipse">
            <a:avLst/>
          </a:prstGeom>
          <a:solidFill>
            <a:srgbClr val="C0392B"/>
          </a:solidFill>
          <a:ln/>
        </p:spPr>
      </p:sp>
      <p:sp>
        <p:nvSpPr>
          <p:cNvPr id="8" name="Shape 6"/>
          <p:cNvSpPr/>
          <p:nvPr/>
        </p:nvSpPr>
        <p:spPr>
          <a:xfrm>
            <a:off x="2029968" y="2781808"/>
            <a:ext cx="292608" cy="292608"/>
          </a:xfrm>
          <a:prstGeom prst="ellipse">
            <a:avLst/>
          </a:prstGeom>
          <a:solidFill>
            <a:srgbClr val="27AE60"/>
          </a:solidFill>
          <a:ln/>
        </p:spPr>
      </p:sp>
      <p:sp>
        <p:nvSpPr>
          <p:cNvPr id="9" name="Text 7"/>
          <p:cNvSpPr txBox="1"/>
          <p:nvPr/>
        </p:nvSpPr>
        <p:spPr>
          <a:xfrm>
            <a:off x="777240" y="3234817"/>
            <a:ext cx="758952" cy="292608"/>
          </a:xfrm>
          <a:prstGeom prst="rect">
            <a:avLst/>
          </a:prstGeom>
          <a:noFill/>
          <a:ln/>
        </p:spPr>
        <p:txBody>
          <a:bodyPr wrap="square" lIns="0" tIns="0" rIns="0" bIns="0" rtlCol="0" anchor="t"/>
          <a:lstStyle/>
          <a:p>
            <a:pPr algn="l" indent="0" marL="0">
              <a:lnSpc>
                <a:spcPct val="128000"/>
              </a:lnSpc>
              <a:buNone/>
            </a:pPr>
            <a:r>
              <a:rPr lang="en-US" sz="1300" dirty="0">
                <a:solidFill>
                  <a:srgbClr val="6E675F"/>
                </a:solidFill>
                <a:latin typeface="Arial" pitchFamily="34" charset="0"/>
                <a:ea typeface="Arial" pitchFamily="34" charset="-122"/>
                <a:cs typeface="Arial" pitchFamily="34" charset="-120"/>
              </a:rPr>
              <a:t>Turn 3</a:t>
            </a:r>
            <a:endParaRPr lang="en-US" sz="1300" dirty="0"/>
          </a:p>
        </p:txBody>
      </p:sp>
      <p:sp>
        <p:nvSpPr>
          <p:cNvPr id="10" name="Shape 8"/>
          <p:cNvSpPr/>
          <p:nvPr/>
        </p:nvSpPr>
        <p:spPr>
          <a:xfrm>
            <a:off x="1645920" y="3193288"/>
            <a:ext cx="292608" cy="292608"/>
          </a:xfrm>
          <a:prstGeom prst="ellipse">
            <a:avLst/>
          </a:prstGeom>
          <a:solidFill>
            <a:srgbClr val="C0392B"/>
          </a:solidFill>
          <a:ln/>
        </p:spPr>
      </p:sp>
      <p:sp>
        <p:nvSpPr>
          <p:cNvPr id="11" name="Shape 9"/>
          <p:cNvSpPr/>
          <p:nvPr/>
        </p:nvSpPr>
        <p:spPr>
          <a:xfrm>
            <a:off x="2029968" y="3193288"/>
            <a:ext cx="292608" cy="292608"/>
          </a:xfrm>
          <a:prstGeom prst="ellipse">
            <a:avLst/>
          </a:prstGeom>
          <a:solidFill>
            <a:srgbClr val="27AE60"/>
          </a:solidFill>
          <a:ln/>
        </p:spPr>
      </p:sp>
      <p:sp>
        <p:nvSpPr>
          <p:cNvPr id="12" name="Shape 10"/>
          <p:cNvSpPr/>
          <p:nvPr/>
        </p:nvSpPr>
        <p:spPr>
          <a:xfrm>
            <a:off x="2414016" y="3193288"/>
            <a:ext cx="292608" cy="292608"/>
          </a:xfrm>
          <a:prstGeom prst="ellipse">
            <a:avLst/>
          </a:prstGeom>
          <a:solidFill>
            <a:srgbClr val="27AE60"/>
          </a:solidFill>
          <a:ln/>
        </p:spPr>
      </p:sp>
      <p:sp>
        <p:nvSpPr>
          <p:cNvPr id="13" name="Text 11"/>
          <p:cNvSpPr txBox="1"/>
          <p:nvPr/>
        </p:nvSpPr>
        <p:spPr>
          <a:xfrm>
            <a:off x="777240" y="3646297"/>
            <a:ext cx="758952" cy="292608"/>
          </a:xfrm>
          <a:prstGeom prst="rect">
            <a:avLst/>
          </a:prstGeom>
          <a:noFill/>
          <a:ln/>
        </p:spPr>
        <p:txBody>
          <a:bodyPr wrap="square" lIns="0" tIns="0" rIns="0" bIns="0" rtlCol="0" anchor="t"/>
          <a:lstStyle/>
          <a:p>
            <a:pPr algn="l" indent="0" marL="0">
              <a:lnSpc>
                <a:spcPct val="128000"/>
              </a:lnSpc>
              <a:buNone/>
            </a:pPr>
            <a:r>
              <a:rPr lang="en-US" sz="1300" dirty="0">
                <a:solidFill>
                  <a:srgbClr val="6E675F"/>
                </a:solidFill>
                <a:latin typeface="Arial" pitchFamily="34" charset="0"/>
                <a:ea typeface="Arial" pitchFamily="34" charset="-122"/>
                <a:cs typeface="Arial" pitchFamily="34" charset="-120"/>
              </a:rPr>
              <a:t>Turn 4</a:t>
            </a:r>
            <a:endParaRPr lang="en-US" sz="1300" dirty="0"/>
          </a:p>
        </p:txBody>
      </p:sp>
      <p:sp>
        <p:nvSpPr>
          <p:cNvPr id="14" name="Shape 12"/>
          <p:cNvSpPr/>
          <p:nvPr/>
        </p:nvSpPr>
        <p:spPr>
          <a:xfrm>
            <a:off x="1645920" y="3604768"/>
            <a:ext cx="292608" cy="292608"/>
          </a:xfrm>
          <a:prstGeom prst="ellipse">
            <a:avLst/>
          </a:prstGeom>
          <a:solidFill>
            <a:srgbClr val="C0392B"/>
          </a:solidFill>
          <a:ln/>
        </p:spPr>
      </p:sp>
      <p:sp>
        <p:nvSpPr>
          <p:cNvPr id="15" name="Shape 13"/>
          <p:cNvSpPr/>
          <p:nvPr/>
        </p:nvSpPr>
        <p:spPr>
          <a:xfrm>
            <a:off x="2029968" y="3604768"/>
            <a:ext cx="292608" cy="292608"/>
          </a:xfrm>
          <a:prstGeom prst="ellipse">
            <a:avLst/>
          </a:prstGeom>
          <a:solidFill>
            <a:srgbClr val="27AE60"/>
          </a:solidFill>
          <a:ln/>
        </p:spPr>
      </p:sp>
      <p:sp>
        <p:nvSpPr>
          <p:cNvPr id="16" name="Shape 14"/>
          <p:cNvSpPr/>
          <p:nvPr/>
        </p:nvSpPr>
        <p:spPr>
          <a:xfrm>
            <a:off x="2414016" y="3604768"/>
            <a:ext cx="292608" cy="292608"/>
          </a:xfrm>
          <a:prstGeom prst="ellipse">
            <a:avLst/>
          </a:prstGeom>
          <a:solidFill>
            <a:srgbClr val="27AE60"/>
          </a:solidFill>
          <a:ln/>
        </p:spPr>
      </p:sp>
      <p:sp>
        <p:nvSpPr>
          <p:cNvPr id="17" name="Shape 15"/>
          <p:cNvSpPr/>
          <p:nvPr/>
        </p:nvSpPr>
        <p:spPr>
          <a:xfrm>
            <a:off x="2798064" y="3604768"/>
            <a:ext cx="292608" cy="292608"/>
          </a:xfrm>
          <a:prstGeom prst="ellipse">
            <a:avLst/>
          </a:prstGeom>
          <a:solidFill>
            <a:srgbClr val="2E86C1"/>
          </a:solidFill>
          <a:ln/>
        </p:spPr>
      </p:sp>
      <p:sp>
        <p:nvSpPr>
          <p:cNvPr id="18" name="Text 16"/>
          <p:cNvSpPr txBox="1"/>
          <p:nvPr/>
        </p:nvSpPr>
        <p:spPr>
          <a:xfrm>
            <a:off x="777240" y="4057777"/>
            <a:ext cx="758952" cy="292608"/>
          </a:xfrm>
          <a:prstGeom prst="rect">
            <a:avLst/>
          </a:prstGeom>
          <a:noFill/>
          <a:ln/>
        </p:spPr>
        <p:txBody>
          <a:bodyPr wrap="square" lIns="0" tIns="0" rIns="0" bIns="0" rtlCol="0" anchor="t"/>
          <a:lstStyle/>
          <a:p>
            <a:pPr algn="l" indent="0" marL="0">
              <a:lnSpc>
                <a:spcPct val="128000"/>
              </a:lnSpc>
              <a:buNone/>
            </a:pPr>
            <a:r>
              <a:rPr lang="en-US" sz="1300" dirty="0">
                <a:solidFill>
                  <a:srgbClr val="6E675F"/>
                </a:solidFill>
                <a:latin typeface="Arial" pitchFamily="34" charset="0"/>
                <a:ea typeface="Arial" pitchFamily="34" charset="-122"/>
                <a:cs typeface="Arial" pitchFamily="34" charset="-120"/>
              </a:rPr>
              <a:t>Turn 5</a:t>
            </a:r>
            <a:endParaRPr lang="en-US" sz="1300" dirty="0"/>
          </a:p>
        </p:txBody>
      </p:sp>
      <p:sp>
        <p:nvSpPr>
          <p:cNvPr id="19" name="Shape 17"/>
          <p:cNvSpPr/>
          <p:nvPr/>
        </p:nvSpPr>
        <p:spPr>
          <a:xfrm>
            <a:off x="1645920" y="4016248"/>
            <a:ext cx="292608" cy="292608"/>
          </a:xfrm>
          <a:prstGeom prst="ellipse">
            <a:avLst/>
          </a:prstGeom>
          <a:solidFill>
            <a:srgbClr val="C0392B"/>
          </a:solidFill>
          <a:ln/>
        </p:spPr>
      </p:sp>
      <p:sp>
        <p:nvSpPr>
          <p:cNvPr id="20" name="Shape 18"/>
          <p:cNvSpPr/>
          <p:nvPr/>
        </p:nvSpPr>
        <p:spPr>
          <a:xfrm>
            <a:off x="2029968" y="4016248"/>
            <a:ext cx="292608" cy="292608"/>
          </a:xfrm>
          <a:prstGeom prst="ellipse">
            <a:avLst/>
          </a:prstGeom>
          <a:solidFill>
            <a:srgbClr val="27AE60"/>
          </a:solidFill>
          <a:ln/>
        </p:spPr>
      </p:sp>
      <p:sp>
        <p:nvSpPr>
          <p:cNvPr id="21" name="Shape 19"/>
          <p:cNvSpPr/>
          <p:nvPr/>
        </p:nvSpPr>
        <p:spPr>
          <a:xfrm>
            <a:off x="2414016" y="4016248"/>
            <a:ext cx="292608" cy="292608"/>
          </a:xfrm>
          <a:prstGeom prst="ellipse">
            <a:avLst/>
          </a:prstGeom>
          <a:solidFill>
            <a:srgbClr val="27AE60"/>
          </a:solidFill>
          <a:ln/>
        </p:spPr>
      </p:sp>
      <p:sp>
        <p:nvSpPr>
          <p:cNvPr id="22" name="Shape 20"/>
          <p:cNvSpPr/>
          <p:nvPr/>
        </p:nvSpPr>
        <p:spPr>
          <a:xfrm>
            <a:off x="2798064" y="4016248"/>
            <a:ext cx="292608" cy="292608"/>
          </a:xfrm>
          <a:prstGeom prst="ellipse">
            <a:avLst/>
          </a:prstGeom>
          <a:solidFill>
            <a:srgbClr val="2E86C1"/>
          </a:solidFill>
          <a:ln/>
        </p:spPr>
      </p:sp>
      <p:sp>
        <p:nvSpPr>
          <p:cNvPr id="23" name="Shape 21"/>
          <p:cNvSpPr/>
          <p:nvPr/>
        </p:nvSpPr>
        <p:spPr>
          <a:xfrm>
            <a:off x="3182112" y="4016248"/>
            <a:ext cx="292608" cy="292608"/>
          </a:xfrm>
          <a:prstGeom prst="ellipse">
            <a:avLst/>
          </a:prstGeom>
          <a:solidFill>
            <a:srgbClr val="F1C40F"/>
          </a:solidFill>
          <a:ln/>
        </p:spPr>
      </p:sp>
      <p:sp>
        <p:nvSpPr>
          <p:cNvPr id="24" name="Text 22"/>
          <p:cNvSpPr txBox="1"/>
          <p:nvPr/>
        </p:nvSpPr>
        <p:spPr>
          <a:xfrm>
            <a:off x="777240" y="4469257"/>
            <a:ext cx="758952" cy="292608"/>
          </a:xfrm>
          <a:prstGeom prst="rect">
            <a:avLst/>
          </a:prstGeom>
          <a:noFill/>
          <a:ln/>
        </p:spPr>
        <p:txBody>
          <a:bodyPr wrap="square" lIns="0" tIns="0" rIns="0" bIns="0" rtlCol="0" anchor="t"/>
          <a:lstStyle/>
          <a:p>
            <a:pPr algn="l" indent="0" marL="0">
              <a:lnSpc>
                <a:spcPct val="128000"/>
              </a:lnSpc>
              <a:buNone/>
            </a:pPr>
            <a:r>
              <a:rPr lang="en-US" sz="1300" dirty="0">
                <a:solidFill>
                  <a:srgbClr val="6E675F"/>
                </a:solidFill>
                <a:latin typeface="Arial" pitchFamily="34" charset="0"/>
                <a:ea typeface="Arial" pitchFamily="34" charset="-122"/>
                <a:cs typeface="Arial" pitchFamily="34" charset="-120"/>
              </a:rPr>
              <a:t>Turn 6</a:t>
            </a:r>
            <a:endParaRPr lang="en-US" sz="1300" dirty="0"/>
          </a:p>
        </p:txBody>
      </p:sp>
      <p:sp>
        <p:nvSpPr>
          <p:cNvPr id="25" name="Shape 23"/>
          <p:cNvSpPr/>
          <p:nvPr/>
        </p:nvSpPr>
        <p:spPr>
          <a:xfrm>
            <a:off x="1645920" y="4427728"/>
            <a:ext cx="292608" cy="292608"/>
          </a:xfrm>
          <a:prstGeom prst="ellipse">
            <a:avLst/>
          </a:prstGeom>
          <a:solidFill>
            <a:srgbClr val="C0392B"/>
          </a:solidFill>
          <a:ln/>
        </p:spPr>
      </p:sp>
      <p:sp>
        <p:nvSpPr>
          <p:cNvPr id="26" name="Shape 24"/>
          <p:cNvSpPr/>
          <p:nvPr/>
        </p:nvSpPr>
        <p:spPr>
          <a:xfrm>
            <a:off x="2029968" y="4427728"/>
            <a:ext cx="292608" cy="292608"/>
          </a:xfrm>
          <a:prstGeom prst="ellipse">
            <a:avLst/>
          </a:prstGeom>
          <a:solidFill>
            <a:srgbClr val="27AE60"/>
          </a:solidFill>
          <a:ln/>
        </p:spPr>
      </p:sp>
      <p:sp>
        <p:nvSpPr>
          <p:cNvPr id="27" name="Shape 25"/>
          <p:cNvSpPr/>
          <p:nvPr/>
        </p:nvSpPr>
        <p:spPr>
          <a:xfrm>
            <a:off x="2414016" y="4427728"/>
            <a:ext cx="292608" cy="292608"/>
          </a:xfrm>
          <a:prstGeom prst="ellipse">
            <a:avLst/>
          </a:prstGeom>
          <a:solidFill>
            <a:srgbClr val="27AE60"/>
          </a:solidFill>
          <a:ln/>
        </p:spPr>
      </p:sp>
      <p:sp>
        <p:nvSpPr>
          <p:cNvPr id="28" name="Shape 26"/>
          <p:cNvSpPr/>
          <p:nvPr/>
        </p:nvSpPr>
        <p:spPr>
          <a:xfrm>
            <a:off x="2798064" y="4427728"/>
            <a:ext cx="292608" cy="292608"/>
          </a:xfrm>
          <a:prstGeom prst="ellipse">
            <a:avLst/>
          </a:prstGeom>
          <a:solidFill>
            <a:srgbClr val="2E86C1"/>
          </a:solidFill>
          <a:ln/>
        </p:spPr>
      </p:sp>
      <p:sp>
        <p:nvSpPr>
          <p:cNvPr id="29" name="Shape 27"/>
          <p:cNvSpPr/>
          <p:nvPr/>
        </p:nvSpPr>
        <p:spPr>
          <a:xfrm>
            <a:off x="3182112" y="4427728"/>
            <a:ext cx="292608" cy="292608"/>
          </a:xfrm>
          <a:prstGeom prst="ellipse">
            <a:avLst/>
          </a:prstGeom>
          <a:solidFill>
            <a:srgbClr val="F1C40F"/>
          </a:solidFill>
          <a:ln/>
        </p:spPr>
      </p:sp>
      <p:sp>
        <p:nvSpPr>
          <p:cNvPr id="30" name="Shape 28"/>
          <p:cNvSpPr/>
          <p:nvPr/>
        </p:nvSpPr>
        <p:spPr>
          <a:xfrm>
            <a:off x="3566160" y="4427728"/>
            <a:ext cx="292608" cy="292608"/>
          </a:xfrm>
          <a:prstGeom prst="ellipse">
            <a:avLst/>
          </a:prstGeom>
          <a:solidFill>
            <a:srgbClr val="C0392B"/>
          </a:solidFill>
          <a:ln/>
        </p:spPr>
      </p:sp>
      <p:sp>
        <p:nvSpPr>
          <p:cNvPr id="31" name="Text 29"/>
          <p:cNvSpPr txBox="1"/>
          <p:nvPr/>
        </p:nvSpPr>
        <p:spPr>
          <a:xfrm>
            <a:off x="777240" y="4880737"/>
            <a:ext cx="758952" cy="292608"/>
          </a:xfrm>
          <a:prstGeom prst="rect">
            <a:avLst/>
          </a:prstGeom>
          <a:noFill/>
          <a:ln/>
        </p:spPr>
        <p:txBody>
          <a:bodyPr wrap="square" lIns="0" tIns="0" rIns="0" bIns="0" rtlCol="0" anchor="t"/>
          <a:lstStyle/>
          <a:p>
            <a:pPr algn="l" indent="0" marL="0">
              <a:lnSpc>
                <a:spcPct val="128000"/>
              </a:lnSpc>
              <a:buNone/>
            </a:pPr>
            <a:r>
              <a:rPr lang="en-US" sz="1300" dirty="0">
                <a:solidFill>
                  <a:srgbClr val="6E675F"/>
                </a:solidFill>
                <a:latin typeface="Arial" pitchFamily="34" charset="0"/>
                <a:ea typeface="Arial" pitchFamily="34" charset="-122"/>
                <a:cs typeface="Arial" pitchFamily="34" charset="-120"/>
              </a:rPr>
              <a:t>Turn N</a:t>
            </a:r>
            <a:endParaRPr lang="en-US" sz="1300" dirty="0"/>
          </a:p>
        </p:txBody>
      </p:sp>
      <p:sp>
        <p:nvSpPr>
          <p:cNvPr id="32" name="Shape 30"/>
          <p:cNvSpPr/>
          <p:nvPr/>
        </p:nvSpPr>
        <p:spPr>
          <a:xfrm>
            <a:off x="1645920" y="4839208"/>
            <a:ext cx="292608" cy="292608"/>
          </a:xfrm>
          <a:prstGeom prst="ellipse">
            <a:avLst/>
          </a:prstGeom>
          <a:solidFill>
            <a:srgbClr val="C0392B"/>
          </a:solidFill>
          <a:ln/>
        </p:spPr>
      </p:sp>
      <p:sp>
        <p:nvSpPr>
          <p:cNvPr id="33" name="Shape 31"/>
          <p:cNvSpPr/>
          <p:nvPr/>
        </p:nvSpPr>
        <p:spPr>
          <a:xfrm>
            <a:off x="2029968" y="4839208"/>
            <a:ext cx="292608" cy="292608"/>
          </a:xfrm>
          <a:prstGeom prst="ellipse">
            <a:avLst/>
          </a:prstGeom>
          <a:solidFill>
            <a:srgbClr val="27AE60"/>
          </a:solidFill>
          <a:ln/>
        </p:spPr>
      </p:sp>
      <p:sp>
        <p:nvSpPr>
          <p:cNvPr id="34" name="Shape 32"/>
          <p:cNvSpPr/>
          <p:nvPr/>
        </p:nvSpPr>
        <p:spPr>
          <a:xfrm>
            <a:off x="2414016" y="4839208"/>
            <a:ext cx="292608" cy="292608"/>
          </a:xfrm>
          <a:prstGeom prst="ellipse">
            <a:avLst/>
          </a:prstGeom>
          <a:solidFill>
            <a:srgbClr val="27AE60"/>
          </a:solidFill>
          <a:ln/>
        </p:spPr>
      </p:sp>
      <p:sp>
        <p:nvSpPr>
          <p:cNvPr id="35" name="Shape 33"/>
          <p:cNvSpPr/>
          <p:nvPr/>
        </p:nvSpPr>
        <p:spPr>
          <a:xfrm>
            <a:off x="2798064" y="4839208"/>
            <a:ext cx="292608" cy="292608"/>
          </a:xfrm>
          <a:prstGeom prst="ellipse">
            <a:avLst/>
          </a:prstGeom>
          <a:solidFill>
            <a:srgbClr val="2E86C1"/>
          </a:solidFill>
          <a:ln/>
        </p:spPr>
      </p:sp>
      <p:sp>
        <p:nvSpPr>
          <p:cNvPr id="36" name="Shape 34"/>
          <p:cNvSpPr/>
          <p:nvPr/>
        </p:nvSpPr>
        <p:spPr>
          <a:xfrm>
            <a:off x="3182112" y="4839208"/>
            <a:ext cx="292608" cy="292608"/>
          </a:xfrm>
          <a:prstGeom prst="ellipse">
            <a:avLst/>
          </a:prstGeom>
          <a:solidFill>
            <a:srgbClr val="F1C40F"/>
          </a:solidFill>
          <a:ln/>
        </p:spPr>
      </p:sp>
      <p:sp>
        <p:nvSpPr>
          <p:cNvPr id="37" name="Shape 35"/>
          <p:cNvSpPr/>
          <p:nvPr/>
        </p:nvSpPr>
        <p:spPr>
          <a:xfrm>
            <a:off x="3566160" y="4839208"/>
            <a:ext cx="292608" cy="292608"/>
          </a:xfrm>
          <a:prstGeom prst="ellipse">
            <a:avLst/>
          </a:prstGeom>
          <a:solidFill>
            <a:srgbClr val="C0392B"/>
          </a:solidFill>
          <a:ln/>
        </p:spPr>
      </p:sp>
      <p:sp>
        <p:nvSpPr>
          <p:cNvPr id="38" name="Shape 36"/>
          <p:cNvSpPr/>
          <p:nvPr/>
        </p:nvSpPr>
        <p:spPr>
          <a:xfrm>
            <a:off x="3950208" y="4839208"/>
            <a:ext cx="292608" cy="292608"/>
          </a:xfrm>
          <a:prstGeom prst="ellipse">
            <a:avLst/>
          </a:prstGeom>
          <a:solidFill>
            <a:srgbClr val="27AE60"/>
          </a:solidFill>
          <a:ln/>
        </p:spPr>
      </p:sp>
      <p:sp>
        <p:nvSpPr>
          <p:cNvPr id="39" name="Shape 37"/>
          <p:cNvSpPr/>
          <p:nvPr/>
        </p:nvSpPr>
        <p:spPr>
          <a:xfrm>
            <a:off x="4334256" y="4839208"/>
            <a:ext cx="292608" cy="292608"/>
          </a:xfrm>
          <a:prstGeom prst="ellipse">
            <a:avLst/>
          </a:prstGeom>
          <a:solidFill>
            <a:srgbClr val="2E86C1"/>
          </a:solidFill>
          <a:ln/>
        </p:spPr>
      </p:sp>
      <p:sp>
        <p:nvSpPr>
          <p:cNvPr id="40" name="Text 38"/>
          <p:cNvSpPr txBox="1"/>
          <p:nvPr/>
        </p:nvSpPr>
        <p:spPr>
          <a:xfrm>
            <a:off x="4718304" y="4839208"/>
            <a:ext cx="1097280" cy="292608"/>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  ?</a:t>
            </a:r>
            <a:endParaRPr lang="en-US" sz="1400" dirty="0"/>
          </a:p>
        </p:txBody>
      </p:sp>
      <p:sp>
        <p:nvSpPr>
          <p:cNvPr id="41" name="Text 39"/>
          <p:cNvSpPr txBox="1"/>
          <p:nvPr/>
        </p:nvSpPr>
        <p:spPr>
          <a:xfrm>
            <a:off x="777240" y="5497576"/>
            <a:ext cx="4543580" cy="243840"/>
          </a:xfrm>
          <a:prstGeom prst="rect">
            <a:avLst/>
          </a:prstGeom>
          <a:noFill/>
          <a:ln/>
        </p:spPr>
        <p:txBody>
          <a:bodyPr wrap="square" lIns="0" tIns="0" rIns="0" bIns="0" rtlCol="0" anchor="t"/>
          <a:lstStyle/>
          <a:p>
            <a:pPr algn="l" indent="0" marL="0">
              <a:lnSpc>
                <a:spcPct val="128000"/>
              </a:lnSpc>
              <a:buNone/>
            </a:pPr>
            <a:r>
              <a:rPr lang="en-US" sz="1500" i="1" dirty="0">
                <a:solidFill>
                  <a:srgbClr val="6E675F"/>
                </a:solidFill>
                <a:latin typeface="Arial" pitchFamily="34" charset="0"/>
                <a:ea typeface="Arial" pitchFamily="34" charset="-122"/>
                <a:cs typeface="Arial" pitchFamily="34" charset="-120"/>
              </a:rPr>
              <a:t>Nobody fails at turn two.</a:t>
            </a:r>
            <a:endParaRPr lang="en-US" sz="1500" dirty="0"/>
          </a:p>
        </p:txBody>
      </p:sp>
      <p:sp>
        <p:nvSpPr>
          <p:cNvPr id="42" name="Text 40"/>
          <p:cNvSpPr txBox="1"/>
          <p:nvPr/>
        </p:nvSpPr>
        <p:spPr>
          <a:xfrm>
            <a:off x="5631716" y="2370328"/>
            <a:ext cx="5782739" cy="487680"/>
          </a:xfrm>
          <a:prstGeom prst="rect">
            <a:avLst/>
          </a:prstGeom>
          <a:noFill/>
          <a:ln/>
        </p:spPr>
        <p:txBody>
          <a:bodyPr wrap="square" lIns="0" tIns="0" rIns="0" bIns="0" rtlCol="0" anchor="t"/>
          <a:lstStyle/>
          <a:p>
            <a:pPr algn="l" indent="0" marL="0">
              <a:lnSpc>
                <a:spcPct val="128000"/>
              </a:lnSpc>
              <a:buNone/>
            </a:pPr>
            <a:r>
              <a:rPr lang="en-US" sz="1500" dirty="0">
                <a:solidFill>
                  <a:srgbClr val="2A2621"/>
                </a:solidFill>
                <a:latin typeface="Arial" pitchFamily="34" charset="0"/>
                <a:ea typeface="Arial" pitchFamily="34" charset="-122"/>
                <a:cs typeface="Arial" pitchFamily="34" charset="-120"/>
              </a:rPr>
              <a:t>You don't fail because the task got harder.</a:t>
            </a:r>
            <a:pPr algn="l" indent="0" marL="0">
              <a:lnSpc>
                <a:spcPct val="128000"/>
              </a:lnSpc>
              <a:buNone/>
            </a:pPr>
            <a:endParaRPr lang="en-US" sz="1500" dirty="0"/>
          </a:p>
          <a:p>
            <a:pPr algn="l" indent="0" marL="0">
              <a:lnSpc>
                <a:spcPct val="128000"/>
              </a:lnSpc>
              <a:buNone/>
            </a:pPr>
            <a:r>
              <a:rPr lang="en-US" sz="1500" b="1" dirty="0">
                <a:solidFill>
                  <a:srgbClr val="2A2621"/>
                </a:solidFill>
                <a:latin typeface="Arial" pitchFamily="34" charset="0"/>
                <a:ea typeface="Arial" pitchFamily="34" charset="-122"/>
                <a:cs typeface="Arial" pitchFamily="34" charset="-120"/>
              </a:rPr>
              <a:t>You fail because there's too much to hold.</a:t>
            </a:r>
            <a:endParaRPr lang="en-US" sz="1500" dirty="0"/>
          </a:p>
        </p:txBody>
      </p:sp>
      <p:sp>
        <p:nvSpPr>
          <p:cNvPr id="43" name="Shape 41"/>
          <p:cNvSpPr/>
          <p:nvPr/>
        </p:nvSpPr>
        <p:spPr>
          <a:xfrm>
            <a:off x="5631716" y="3223768"/>
            <a:ext cx="384048" cy="384048"/>
          </a:xfrm>
          <a:prstGeom prst="ellipse">
            <a:avLst/>
          </a:prstGeom>
          <a:solidFill>
            <a:srgbClr val="C96442"/>
          </a:solidFill>
          <a:ln/>
        </p:spPr>
      </p:sp>
      <p:sp>
        <p:nvSpPr>
          <p:cNvPr id="44" name="Text 42"/>
          <p:cNvSpPr txBox="1"/>
          <p:nvPr/>
        </p:nvSpPr>
        <p:spPr>
          <a:xfrm>
            <a:off x="5631716" y="3223768"/>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45" name="Text 43"/>
          <p:cNvSpPr txBox="1"/>
          <p:nvPr/>
        </p:nvSpPr>
        <p:spPr>
          <a:xfrm>
            <a:off x="6198644" y="3223768"/>
            <a:ext cx="1850476" cy="520192"/>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Contradictory information</a:t>
            </a:r>
            <a:endParaRPr lang="en-US" sz="1600" dirty="0"/>
          </a:p>
        </p:txBody>
      </p:sp>
      <p:sp>
        <p:nvSpPr>
          <p:cNvPr id="46" name="Text 44"/>
          <p:cNvSpPr txBox="1"/>
          <p:nvPr/>
        </p:nvSpPr>
        <p:spPr>
          <a:xfrm>
            <a:off x="8268577" y="3223768"/>
            <a:ext cx="3145878" cy="455168"/>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Lots of detail in the window, some of it no longer true.</a:t>
            </a:r>
            <a:endParaRPr lang="en-US" sz="1400" dirty="0"/>
          </a:p>
        </p:txBody>
      </p:sp>
      <p:sp>
        <p:nvSpPr>
          <p:cNvPr id="47" name="Shape 45"/>
          <p:cNvSpPr/>
          <p:nvPr/>
        </p:nvSpPr>
        <p:spPr>
          <a:xfrm>
            <a:off x="5631716" y="3844544"/>
            <a:ext cx="5782739" cy="12700"/>
          </a:xfrm>
          <a:prstGeom prst="rect">
            <a:avLst/>
          </a:prstGeom>
          <a:solidFill>
            <a:srgbClr val="E4DFD9"/>
          </a:solidFill>
          <a:ln/>
        </p:spPr>
      </p:sp>
      <p:sp>
        <p:nvSpPr>
          <p:cNvPr id="48" name="Shape 46"/>
          <p:cNvSpPr/>
          <p:nvPr/>
        </p:nvSpPr>
        <p:spPr>
          <a:xfrm>
            <a:off x="5631716" y="3945128"/>
            <a:ext cx="384048" cy="384048"/>
          </a:xfrm>
          <a:prstGeom prst="ellipse">
            <a:avLst/>
          </a:prstGeom>
          <a:solidFill>
            <a:srgbClr val="C96442"/>
          </a:solidFill>
          <a:ln/>
        </p:spPr>
      </p:sp>
      <p:sp>
        <p:nvSpPr>
          <p:cNvPr id="49" name="Text 47"/>
          <p:cNvSpPr txBox="1"/>
          <p:nvPr/>
        </p:nvSpPr>
        <p:spPr>
          <a:xfrm>
            <a:off x="5631716" y="3945128"/>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50" name="Text 48"/>
          <p:cNvSpPr txBox="1"/>
          <p:nvPr/>
        </p:nvSpPr>
        <p:spPr>
          <a:xfrm>
            <a:off x="6198644" y="3945128"/>
            <a:ext cx="1850476" cy="520192"/>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Abandoned approaches</a:t>
            </a:r>
            <a:endParaRPr lang="en-US" sz="1600" dirty="0"/>
          </a:p>
        </p:txBody>
      </p:sp>
      <p:sp>
        <p:nvSpPr>
          <p:cNvPr id="51" name="Text 49"/>
          <p:cNvSpPr txBox="1"/>
          <p:nvPr/>
        </p:nvSpPr>
        <p:spPr>
          <a:xfrm>
            <a:off x="8268577" y="3945128"/>
            <a:ext cx="3145878" cy="682752"/>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Old attempts still sitting in memory, competing with the current one.</a:t>
            </a:r>
            <a:endParaRPr lang="en-US" sz="1400" dirty="0"/>
          </a:p>
        </p:txBody>
      </p:sp>
      <p:sp>
        <p:nvSpPr>
          <p:cNvPr id="52" name="Shape 50"/>
          <p:cNvSpPr/>
          <p:nvPr/>
        </p:nvSpPr>
        <p:spPr>
          <a:xfrm>
            <a:off x="5631716" y="4728464"/>
            <a:ext cx="5782739" cy="12700"/>
          </a:xfrm>
          <a:prstGeom prst="rect">
            <a:avLst/>
          </a:prstGeom>
          <a:solidFill>
            <a:srgbClr val="E4DFD9"/>
          </a:solidFill>
          <a:ln/>
        </p:spPr>
      </p:sp>
      <p:sp>
        <p:nvSpPr>
          <p:cNvPr id="53" name="Shape 51"/>
          <p:cNvSpPr/>
          <p:nvPr/>
        </p:nvSpPr>
        <p:spPr>
          <a:xfrm>
            <a:off x="5631716" y="4829048"/>
            <a:ext cx="384048" cy="384048"/>
          </a:xfrm>
          <a:prstGeom prst="ellipse">
            <a:avLst/>
          </a:prstGeom>
          <a:solidFill>
            <a:srgbClr val="C96442"/>
          </a:solidFill>
          <a:ln/>
        </p:spPr>
      </p:sp>
      <p:sp>
        <p:nvSpPr>
          <p:cNvPr id="54" name="Text 52"/>
          <p:cNvSpPr txBox="1"/>
          <p:nvPr/>
        </p:nvSpPr>
        <p:spPr>
          <a:xfrm>
            <a:off x="5631716" y="4829048"/>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55" name="Text 53"/>
          <p:cNvSpPr txBox="1"/>
          <p:nvPr/>
        </p:nvSpPr>
        <p:spPr>
          <a:xfrm>
            <a:off x="6198644" y="4829048"/>
            <a:ext cx="1850476" cy="520192"/>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Hallucinations and mistakes</a:t>
            </a:r>
            <a:endParaRPr lang="en-US" sz="1600" dirty="0"/>
          </a:p>
        </p:txBody>
      </p:sp>
      <p:sp>
        <p:nvSpPr>
          <p:cNvPr id="56" name="Text 54"/>
          <p:cNvSpPr txBox="1"/>
          <p:nvPr/>
        </p:nvSpPr>
        <p:spPr>
          <a:xfrm>
            <a:off x="8268577" y="4829048"/>
            <a:ext cx="3145878" cy="455168"/>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Small errors creep in, and they compound as the session runs on.</a:t>
            </a:r>
            <a:endParaRPr lang="en-US" sz="1400" dirty="0"/>
          </a:p>
        </p:txBody>
      </p:sp>
      <p:sp>
        <p:nvSpPr>
          <p:cNvPr id="57" name="Shape 55"/>
          <p:cNvSpPr/>
          <p:nvPr/>
        </p:nvSpPr>
        <p:spPr>
          <a:xfrm>
            <a:off x="5631716" y="5449824"/>
            <a:ext cx="5782739" cy="12700"/>
          </a:xfrm>
          <a:prstGeom prst="rect">
            <a:avLst/>
          </a:prstGeom>
          <a:solidFill>
            <a:srgbClr val="E4DFD9"/>
          </a:solidFill>
          <a:ln/>
        </p:spPr>
      </p:sp>
      <p:sp>
        <p:nvSpPr>
          <p:cNvPr id="58" name="Shape 56"/>
          <p:cNvSpPr/>
          <p:nvPr/>
        </p:nvSpPr>
        <p:spPr>
          <a:xfrm>
            <a:off x="5631716" y="5550408"/>
            <a:ext cx="384048" cy="384048"/>
          </a:xfrm>
          <a:prstGeom prst="ellipse">
            <a:avLst/>
          </a:prstGeom>
          <a:solidFill>
            <a:srgbClr val="C96442"/>
          </a:solidFill>
          <a:ln/>
        </p:spPr>
      </p:sp>
      <p:sp>
        <p:nvSpPr>
          <p:cNvPr id="59" name="Text 57"/>
          <p:cNvSpPr txBox="1"/>
          <p:nvPr/>
        </p:nvSpPr>
        <p:spPr>
          <a:xfrm>
            <a:off x="5631716" y="5550408"/>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60" name="Text 58"/>
          <p:cNvSpPr txBox="1"/>
          <p:nvPr/>
        </p:nvSpPr>
        <p:spPr>
          <a:xfrm>
            <a:off x="6198644" y="5550408"/>
            <a:ext cx="1850476" cy="520192"/>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Costs effort to clear</a:t>
            </a:r>
            <a:endParaRPr lang="en-US" sz="1600" dirty="0"/>
          </a:p>
        </p:txBody>
      </p:sp>
      <p:sp>
        <p:nvSpPr>
          <p:cNvPr id="61" name="Text 59"/>
          <p:cNvSpPr txBox="1"/>
          <p:nvPr/>
        </p:nvSpPr>
        <p:spPr>
          <a:xfrm>
            <a:off x="8268577" y="5550408"/>
            <a:ext cx="3145878" cy="455168"/>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You now pay to get the memory back to something clean.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658368"/>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03 · CONTEXT</a:t>
            </a:r>
            <a:endParaRPr lang="en-US" sz="1200" dirty="0"/>
          </a:p>
        </p:txBody>
      </p:sp>
      <p:sp>
        <p:nvSpPr>
          <p:cNvPr id="3" name="Text 1"/>
          <p:cNvSpPr txBox="1"/>
          <p:nvPr/>
        </p:nvSpPr>
        <p:spPr>
          <a:xfrm>
            <a:off x="777240" y="941832"/>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Too Little Context</a:t>
            </a:r>
            <a:endParaRPr lang="en-US" sz="4000" dirty="0"/>
          </a:p>
        </p:txBody>
      </p:sp>
      <p:sp>
        <p:nvSpPr>
          <p:cNvPr id="4" name="Text 2"/>
          <p:cNvSpPr txBox="1"/>
          <p:nvPr/>
        </p:nvSpPr>
        <p:spPr>
          <a:xfrm>
            <a:off x="777240" y="1994408"/>
            <a:ext cx="8412480" cy="276352"/>
          </a:xfrm>
          <a:prstGeom prst="rect">
            <a:avLst/>
          </a:prstGeom>
          <a:noFill/>
          <a:ln/>
        </p:spPr>
        <p:txBody>
          <a:bodyPr wrap="square" lIns="0" tIns="0" rIns="0" bIns="0" rtlCol="0" anchor="t"/>
          <a:lstStyle/>
          <a:p>
            <a:pPr algn="l" indent="0" marL="0">
              <a:lnSpc>
                <a:spcPct val="128000"/>
              </a:lnSpc>
              <a:buNone/>
            </a:pPr>
            <a:r>
              <a:rPr lang="en-US" sz="1700" dirty="0">
                <a:solidFill>
                  <a:srgbClr val="6E675F"/>
                </a:solidFill>
                <a:latin typeface="Arial" pitchFamily="34" charset="0"/>
                <a:ea typeface="Arial" pitchFamily="34" charset="-122"/>
                <a:cs typeface="Arial" pitchFamily="34" charset="-120"/>
              </a:rPr>
              <a:t>Like a vague bug report is not helpful, so too is a vague prompt.</a:t>
            </a:r>
            <a:endParaRPr lang="en-US" sz="1700" dirty="0"/>
          </a:p>
        </p:txBody>
      </p:sp>
      <p:sp>
        <p:nvSpPr>
          <p:cNvPr id="5" name="Shape 3"/>
          <p:cNvSpPr/>
          <p:nvPr/>
        </p:nvSpPr>
        <p:spPr>
          <a:xfrm>
            <a:off x="777240" y="2508504"/>
            <a:ext cx="4543580" cy="1708404"/>
          </a:xfrm>
          <a:prstGeom prst="roundRect">
            <a:avLst>
              <a:gd name="adj" fmla="val 2292"/>
            </a:avLst>
          </a:prstGeom>
          <a:solidFill>
            <a:srgbClr val="1A1714"/>
          </a:solidFill>
          <a:ln/>
        </p:spPr>
      </p:sp>
      <p:sp>
        <p:nvSpPr>
          <p:cNvPr id="6" name="Shape 4"/>
          <p:cNvSpPr/>
          <p:nvPr/>
        </p:nvSpPr>
        <p:spPr>
          <a:xfrm>
            <a:off x="777240" y="2508504"/>
            <a:ext cx="4543580" cy="274320"/>
          </a:xfrm>
          <a:prstGeom prst="roundRect">
            <a:avLst>
              <a:gd name="adj" fmla="val 88889"/>
            </a:avLst>
          </a:prstGeom>
          <a:solidFill>
            <a:srgbClr val="332E28"/>
          </a:solidFill>
          <a:ln/>
        </p:spPr>
      </p:sp>
      <p:sp>
        <p:nvSpPr>
          <p:cNvPr id="7" name="Shape 5"/>
          <p:cNvSpPr/>
          <p:nvPr/>
        </p:nvSpPr>
        <p:spPr>
          <a:xfrm>
            <a:off x="777240" y="2709672"/>
            <a:ext cx="4543580" cy="73152"/>
          </a:xfrm>
          <a:prstGeom prst="rect">
            <a:avLst/>
          </a:prstGeom>
          <a:solidFill>
            <a:srgbClr val="332E28"/>
          </a:solidFill>
          <a:ln/>
        </p:spPr>
      </p:sp>
      <p:sp>
        <p:nvSpPr>
          <p:cNvPr id="8" name="Shape 6"/>
          <p:cNvSpPr/>
          <p:nvPr/>
        </p:nvSpPr>
        <p:spPr>
          <a:xfrm>
            <a:off x="905256" y="2604516"/>
            <a:ext cx="82296" cy="82296"/>
          </a:xfrm>
          <a:prstGeom prst="ellipse">
            <a:avLst/>
          </a:prstGeom>
          <a:solidFill>
            <a:srgbClr val="E8938A"/>
          </a:solidFill>
          <a:ln/>
        </p:spPr>
      </p:sp>
      <p:sp>
        <p:nvSpPr>
          <p:cNvPr id="9" name="Shape 7"/>
          <p:cNvSpPr/>
          <p:nvPr/>
        </p:nvSpPr>
        <p:spPr>
          <a:xfrm>
            <a:off x="1051560" y="2604516"/>
            <a:ext cx="82296" cy="82296"/>
          </a:xfrm>
          <a:prstGeom prst="ellipse">
            <a:avLst/>
          </a:prstGeom>
          <a:solidFill>
            <a:srgbClr val="9C948A"/>
          </a:solidFill>
          <a:ln/>
        </p:spPr>
      </p:sp>
      <p:sp>
        <p:nvSpPr>
          <p:cNvPr id="10" name="Shape 8"/>
          <p:cNvSpPr/>
          <p:nvPr/>
        </p:nvSpPr>
        <p:spPr>
          <a:xfrm>
            <a:off x="1197864" y="2604516"/>
            <a:ext cx="82296" cy="82296"/>
          </a:xfrm>
          <a:prstGeom prst="ellipse">
            <a:avLst/>
          </a:prstGeom>
          <a:solidFill>
            <a:srgbClr val="8FCB9B"/>
          </a:solidFill>
          <a:ln/>
        </p:spPr>
      </p:sp>
      <p:sp>
        <p:nvSpPr>
          <p:cNvPr id="11" name="Text 9"/>
          <p:cNvSpPr txBox="1"/>
          <p:nvPr/>
        </p:nvSpPr>
        <p:spPr>
          <a:xfrm>
            <a:off x="1380744" y="2535936"/>
            <a:ext cx="3812060" cy="219456"/>
          </a:xfrm>
          <a:prstGeom prst="rect">
            <a:avLst/>
          </a:prstGeom>
          <a:noFill/>
          <a:ln/>
        </p:spPr>
        <p:txBody>
          <a:bodyPr wrap="square" lIns="0" tIns="0" rIns="0" bIns="0" rtlCol="0" anchor="ctr"/>
          <a:lstStyle/>
          <a:p>
            <a:pPr algn="l" indent="0" marL="0">
              <a:lnSpc>
                <a:spcPct val="128000"/>
              </a:lnSpc>
              <a:buNone/>
            </a:pPr>
            <a:r>
              <a:rPr lang="en-US" sz="1000" dirty="0">
                <a:solidFill>
                  <a:srgbClr val="9C948A"/>
                </a:solidFill>
                <a:latin typeface="Courier New" pitchFamily="34" charset="0"/>
                <a:ea typeface="Courier New" pitchFamily="34" charset="-122"/>
                <a:cs typeface="Courier New" pitchFamily="34" charset="-120"/>
              </a:rPr>
              <a:t>unhelpful</a:t>
            </a:r>
            <a:endParaRPr lang="en-US" sz="1000" dirty="0"/>
          </a:p>
        </p:txBody>
      </p:sp>
      <p:sp>
        <p:nvSpPr>
          <p:cNvPr id="12" name="Text 10"/>
          <p:cNvSpPr txBox="1"/>
          <p:nvPr/>
        </p:nvSpPr>
        <p:spPr>
          <a:xfrm>
            <a:off x="941832" y="2947416"/>
            <a:ext cx="4214396" cy="220980"/>
          </a:xfrm>
          <a:prstGeom prst="rect">
            <a:avLst/>
          </a:prstGeom>
          <a:noFill/>
          <a:ln/>
        </p:spPr>
        <p:txBody>
          <a:bodyPr wrap="none" lIns="0" tIns="0" rIns="0" bIns="0" rtlCol="0" anchor="t"/>
          <a:lstStyle/>
          <a:p>
            <a:pPr algn="l" indent="0" marL="0">
              <a:lnSpc>
                <a:spcPct val="128000"/>
              </a:lnSpc>
              <a:buNone/>
            </a:pPr>
            <a:r>
              <a:rPr lang="en-US" sz="1200" dirty="0">
                <a:solidFill>
                  <a:srgbClr val="E8938A"/>
                </a:solidFill>
                <a:latin typeface="Courier New" pitchFamily="34" charset="0"/>
                <a:ea typeface="Courier New" pitchFamily="34" charset="-122"/>
                <a:cs typeface="Courier New" pitchFamily="34" charset="-120"/>
              </a:rPr>
              <a:t>It doesn't work.</a:t>
            </a:r>
            <a:endParaRPr lang="en-US" sz="1200" dirty="0"/>
          </a:p>
        </p:txBody>
      </p:sp>
      <p:sp>
        <p:nvSpPr>
          <p:cNvPr id="13" name="Text 11"/>
          <p:cNvSpPr txBox="1"/>
          <p:nvPr/>
        </p:nvSpPr>
        <p:spPr>
          <a:xfrm>
            <a:off x="941832" y="3168396"/>
            <a:ext cx="4214396" cy="220980"/>
          </a:xfrm>
          <a:prstGeom prst="rect">
            <a:avLst/>
          </a:prstGeom>
          <a:noFill/>
          <a:ln/>
        </p:spPr>
        <p:txBody>
          <a:bodyPr wrap="none" lIns="0" tIns="0" rIns="0" bIns="0" rtlCol="0" anchor="t"/>
          <a:lstStyle/>
          <a:p>
            <a:pPr algn="l" indent="0" marL="0">
              <a:lnSpc>
                <a:spcPct val="128000"/>
              </a:lnSpc>
              <a:buNone/>
            </a:pPr>
            <a:endParaRPr lang="en-US" sz="1200" dirty="0"/>
          </a:p>
        </p:txBody>
      </p:sp>
      <p:sp>
        <p:nvSpPr>
          <p:cNvPr id="14" name="Text 12"/>
          <p:cNvSpPr txBox="1"/>
          <p:nvPr/>
        </p:nvSpPr>
        <p:spPr>
          <a:xfrm>
            <a:off x="941832" y="3389376"/>
            <a:ext cx="4214396" cy="220980"/>
          </a:xfrm>
          <a:prstGeom prst="rect">
            <a:avLst/>
          </a:prstGeom>
          <a:noFill/>
          <a:ln/>
        </p:spPr>
        <p:txBody>
          <a:bodyPr wrap="none" lIns="0" tIns="0" rIns="0" bIns="0" rtlCol="0" anchor="t"/>
          <a:lstStyle/>
          <a:p>
            <a:pPr algn="l" indent="0" marL="0">
              <a:lnSpc>
                <a:spcPct val="128000"/>
              </a:lnSpc>
              <a:buNone/>
            </a:pPr>
            <a:r>
              <a:rPr lang="en-US" sz="1200" dirty="0">
                <a:solidFill>
                  <a:srgbClr val="E8938A"/>
                </a:solidFill>
                <a:latin typeface="Courier New" pitchFamily="34" charset="0"/>
                <a:ea typeface="Courier New" pitchFamily="34" charset="-122"/>
                <a:cs typeface="Courier New" pitchFamily="34" charset="-120"/>
              </a:rPr>
              <a:t>Page doesn't look right.</a:t>
            </a:r>
            <a:endParaRPr lang="en-US" sz="1200" dirty="0"/>
          </a:p>
        </p:txBody>
      </p:sp>
      <p:sp>
        <p:nvSpPr>
          <p:cNvPr id="15" name="Text 13"/>
          <p:cNvSpPr txBox="1"/>
          <p:nvPr/>
        </p:nvSpPr>
        <p:spPr>
          <a:xfrm>
            <a:off x="941832" y="3610356"/>
            <a:ext cx="4214396" cy="220980"/>
          </a:xfrm>
          <a:prstGeom prst="rect">
            <a:avLst/>
          </a:prstGeom>
          <a:noFill/>
          <a:ln/>
        </p:spPr>
        <p:txBody>
          <a:bodyPr wrap="none" lIns="0" tIns="0" rIns="0" bIns="0" rtlCol="0" anchor="t"/>
          <a:lstStyle/>
          <a:p>
            <a:pPr algn="l" indent="0" marL="0">
              <a:lnSpc>
                <a:spcPct val="128000"/>
              </a:lnSpc>
              <a:buNone/>
            </a:pPr>
            <a:endParaRPr lang="en-US" sz="1200" dirty="0"/>
          </a:p>
        </p:txBody>
      </p:sp>
      <p:sp>
        <p:nvSpPr>
          <p:cNvPr id="16" name="Text 14"/>
          <p:cNvSpPr txBox="1"/>
          <p:nvPr/>
        </p:nvSpPr>
        <p:spPr>
          <a:xfrm>
            <a:off x="941832" y="3831336"/>
            <a:ext cx="4214396" cy="220980"/>
          </a:xfrm>
          <a:prstGeom prst="rect">
            <a:avLst/>
          </a:prstGeom>
          <a:noFill/>
          <a:ln/>
        </p:spPr>
        <p:txBody>
          <a:bodyPr wrap="none" lIns="0" tIns="0" rIns="0" bIns="0" rtlCol="0" anchor="t"/>
          <a:lstStyle/>
          <a:p>
            <a:pPr algn="l" indent="0" marL="0">
              <a:lnSpc>
                <a:spcPct val="128000"/>
              </a:lnSpc>
              <a:buNone/>
            </a:pPr>
            <a:r>
              <a:rPr lang="en-US" sz="1200" dirty="0">
                <a:solidFill>
                  <a:srgbClr val="E8938A"/>
                </a:solidFill>
                <a:latin typeface="Courier New" pitchFamily="34" charset="0"/>
                <a:ea typeface="Courier New" pitchFamily="34" charset="-122"/>
                <a:cs typeface="Courier New" pitchFamily="34" charset="-120"/>
              </a:rPr>
              <a:t>Can you fix the thing?</a:t>
            </a:r>
            <a:endParaRPr lang="en-US" sz="1200" dirty="0"/>
          </a:p>
        </p:txBody>
      </p:sp>
      <p:sp>
        <p:nvSpPr>
          <p:cNvPr id="17" name="Shape 15"/>
          <p:cNvSpPr/>
          <p:nvPr/>
        </p:nvSpPr>
        <p:spPr>
          <a:xfrm>
            <a:off x="5631716" y="2508504"/>
            <a:ext cx="384048" cy="384048"/>
          </a:xfrm>
          <a:prstGeom prst="ellipse">
            <a:avLst/>
          </a:prstGeom>
          <a:solidFill>
            <a:srgbClr val="C96442"/>
          </a:solidFill>
          <a:ln/>
        </p:spPr>
      </p:sp>
      <p:sp>
        <p:nvSpPr>
          <p:cNvPr id="18" name="Text 16"/>
          <p:cNvSpPr txBox="1"/>
          <p:nvPr/>
        </p:nvSpPr>
        <p:spPr>
          <a:xfrm>
            <a:off x="5631716" y="2508504"/>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9" name="Text 17"/>
          <p:cNvSpPr txBox="1"/>
          <p:nvPr/>
        </p:nvSpPr>
        <p:spPr>
          <a:xfrm>
            <a:off x="6198644" y="2508504"/>
            <a:ext cx="1850476" cy="520192"/>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No steps to reproduce</a:t>
            </a:r>
            <a:endParaRPr lang="en-US" sz="1600" dirty="0"/>
          </a:p>
        </p:txBody>
      </p:sp>
      <p:sp>
        <p:nvSpPr>
          <p:cNvPr id="20" name="Text 18"/>
          <p:cNvSpPr txBox="1"/>
          <p:nvPr/>
        </p:nvSpPr>
        <p:spPr>
          <a:xfrm>
            <a:off x="8268577" y="2508504"/>
            <a:ext cx="3145878" cy="682752"/>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Nothing to run, so nothing can be confirmed before a fix is attempted.</a:t>
            </a:r>
            <a:endParaRPr lang="en-US" sz="1400" dirty="0"/>
          </a:p>
        </p:txBody>
      </p:sp>
      <p:sp>
        <p:nvSpPr>
          <p:cNvPr id="21" name="Shape 19"/>
          <p:cNvSpPr/>
          <p:nvPr/>
        </p:nvSpPr>
        <p:spPr>
          <a:xfrm>
            <a:off x="5631716" y="3291840"/>
            <a:ext cx="5782739" cy="12700"/>
          </a:xfrm>
          <a:prstGeom prst="rect">
            <a:avLst/>
          </a:prstGeom>
          <a:solidFill>
            <a:srgbClr val="E4DFD9"/>
          </a:solidFill>
          <a:ln/>
        </p:spPr>
      </p:sp>
      <p:sp>
        <p:nvSpPr>
          <p:cNvPr id="22" name="Shape 20"/>
          <p:cNvSpPr/>
          <p:nvPr/>
        </p:nvSpPr>
        <p:spPr>
          <a:xfrm>
            <a:off x="5631716" y="3392424"/>
            <a:ext cx="384048" cy="384048"/>
          </a:xfrm>
          <a:prstGeom prst="ellipse">
            <a:avLst/>
          </a:prstGeom>
          <a:solidFill>
            <a:srgbClr val="C96442"/>
          </a:solidFill>
          <a:ln/>
        </p:spPr>
      </p:sp>
      <p:sp>
        <p:nvSpPr>
          <p:cNvPr id="23" name="Text 21"/>
          <p:cNvSpPr txBox="1"/>
          <p:nvPr/>
        </p:nvSpPr>
        <p:spPr>
          <a:xfrm>
            <a:off x="5631716" y="3392424"/>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4" name="Text 22"/>
          <p:cNvSpPr txBox="1"/>
          <p:nvPr/>
        </p:nvSpPr>
        <p:spPr>
          <a:xfrm>
            <a:off x="6198644" y="3392424"/>
            <a:ext cx="1850476" cy="520192"/>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Unclear expected vs outcome</a:t>
            </a:r>
            <a:endParaRPr lang="en-US" sz="1600" dirty="0"/>
          </a:p>
        </p:txBody>
      </p:sp>
      <p:sp>
        <p:nvSpPr>
          <p:cNvPr id="25" name="Text 23"/>
          <p:cNvSpPr txBox="1"/>
          <p:nvPr/>
        </p:nvSpPr>
        <p:spPr>
          <a:xfrm>
            <a:off x="8268577" y="3392424"/>
            <a:ext cx="3145878" cy="455168"/>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No way to tell whether the change worked or only looked like it did.</a:t>
            </a:r>
            <a:endParaRPr lang="en-US" sz="1400" dirty="0"/>
          </a:p>
        </p:txBody>
      </p:sp>
      <p:sp>
        <p:nvSpPr>
          <p:cNvPr id="26" name="Shape 24"/>
          <p:cNvSpPr/>
          <p:nvPr/>
        </p:nvSpPr>
        <p:spPr>
          <a:xfrm>
            <a:off x="5631716" y="4013200"/>
            <a:ext cx="5782739" cy="12700"/>
          </a:xfrm>
          <a:prstGeom prst="rect">
            <a:avLst/>
          </a:prstGeom>
          <a:solidFill>
            <a:srgbClr val="E4DFD9"/>
          </a:solidFill>
          <a:ln/>
        </p:spPr>
      </p:sp>
      <p:sp>
        <p:nvSpPr>
          <p:cNvPr id="27" name="Shape 25"/>
          <p:cNvSpPr/>
          <p:nvPr/>
        </p:nvSpPr>
        <p:spPr>
          <a:xfrm>
            <a:off x="5631716" y="4113784"/>
            <a:ext cx="384048" cy="384048"/>
          </a:xfrm>
          <a:prstGeom prst="ellipse">
            <a:avLst/>
          </a:prstGeom>
          <a:solidFill>
            <a:srgbClr val="C96442"/>
          </a:solidFill>
          <a:ln/>
        </p:spPr>
      </p:sp>
      <p:sp>
        <p:nvSpPr>
          <p:cNvPr id="28" name="Text 26"/>
          <p:cNvSpPr txBox="1"/>
          <p:nvPr/>
        </p:nvSpPr>
        <p:spPr>
          <a:xfrm>
            <a:off x="5631716" y="4113784"/>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9" name="Text 27"/>
          <p:cNvSpPr txBox="1"/>
          <p:nvPr/>
        </p:nvSpPr>
        <p:spPr>
          <a:xfrm>
            <a:off x="6198644" y="4113784"/>
            <a:ext cx="1850476" cy="780288"/>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Need to ask questions and investigate</a:t>
            </a:r>
            <a:endParaRPr lang="en-US" sz="1600" dirty="0"/>
          </a:p>
        </p:txBody>
      </p:sp>
      <p:sp>
        <p:nvSpPr>
          <p:cNvPr id="30" name="Text 28"/>
          <p:cNvSpPr txBox="1"/>
          <p:nvPr/>
        </p:nvSpPr>
        <p:spPr>
          <a:xfrm>
            <a:off x="8268577" y="4113784"/>
            <a:ext cx="3145878" cy="455168"/>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The work starts with a hunt for the information you already had.</a:t>
            </a:r>
            <a:endParaRPr lang="en-US" sz="1400" dirty="0"/>
          </a:p>
        </p:txBody>
      </p:sp>
      <p:sp>
        <p:nvSpPr>
          <p:cNvPr id="31" name="Shape 29"/>
          <p:cNvSpPr/>
          <p:nvPr/>
        </p:nvSpPr>
        <p:spPr>
          <a:xfrm>
            <a:off x="777240" y="5461000"/>
            <a:ext cx="10637215" cy="978855"/>
          </a:xfrm>
          <a:prstGeom prst="roundRect">
            <a:avLst>
              <a:gd name="adj" fmla="val 8726"/>
            </a:avLst>
          </a:prstGeom>
          <a:solidFill>
            <a:srgbClr val="F6E7DE"/>
          </a:solidFill>
          <a:ln/>
        </p:spPr>
      </p:sp>
      <p:sp>
        <p:nvSpPr>
          <p:cNvPr id="32" name="Text 30"/>
          <p:cNvSpPr txBox="1"/>
          <p:nvPr/>
        </p:nvSpPr>
        <p:spPr>
          <a:xfrm>
            <a:off x="1006572" y="5690332"/>
            <a:ext cx="10178552" cy="520192"/>
          </a:xfrm>
          <a:prstGeom prst="rect">
            <a:avLst/>
          </a:prstGeom>
          <a:noFill/>
          <a:ln/>
        </p:spPr>
        <p:txBody>
          <a:bodyPr wrap="square" lIns="0" tIns="0" rIns="0" bIns="0" rtlCol="0" anchor="t"/>
          <a:lstStyle/>
          <a:p>
            <a:pPr algn="l" indent="0" marL="0">
              <a:lnSpc>
                <a:spcPct val="128000"/>
              </a:lnSpc>
              <a:buNone/>
            </a:pPr>
            <a:r>
              <a:rPr lang="en-US" sz="1600" dirty="0">
                <a:solidFill>
                  <a:srgbClr val="2A2621"/>
                </a:solidFill>
                <a:latin typeface="Arial" pitchFamily="34" charset="0"/>
                <a:ea typeface="Arial" pitchFamily="34" charset="-122"/>
                <a:cs typeface="Arial" pitchFamily="34" charset="-120"/>
              </a:rPr>
              <a:t>And now you're making Claude do its own investigation — which leads to wasted tokens, wasted time...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6221E"/>
        </a:solidFill>
      </p:bgPr>
    </p:bg>
    <p:spTree>
      <p:nvGrpSpPr>
        <p:cNvPr id="1" name=""/>
        <p:cNvGrpSpPr/>
        <p:nvPr/>
      </p:nvGrpSpPr>
      <p:grpSpPr>
        <a:xfrm>
          <a:off x="0" y="0"/>
          <a:ext cx="0" cy="0"/>
          <a:chOff x="0" y="0"/>
          <a:chExt cx="0" cy="0"/>
        </a:xfrm>
      </p:grpSpPr>
      <p:sp>
        <p:nvSpPr>
          <p:cNvPr id="2" name="Text 0"/>
          <p:cNvSpPr txBox="1"/>
          <p:nvPr/>
        </p:nvSpPr>
        <p:spPr>
          <a:xfrm>
            <a:off x="777240" y="2063877"/>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04 · CONTEXT MANAGEMENT</a:t>
            </a:r>
            <a:endParaRPr lang="en-US" sz="1200" dirty="0"/>
          </a:p>
        </p:txBody>
      </p:sp>
      <p:sp>
        <p:nvSpPr>
          <p:cNvPr id="3" name="Text 1"/>
          <p:cNvSpPr txBox="1"/>
          <p:nvPr/>
        </p:nvSpPr>
        <p:spPr>
          <a:xfrm>
            <a:off x="777240" y="2347341"/>
            <a:ext cx="10637215" cy="715264"/>
          </a:xfrm>
          <a:prstGeom prst="rect">
            <a:avLst/>
          </a:prstGeom>
          <a:noFill/>
          <a:ln/>
        </p:spPr>
        <p:txBody>
          <a:bodyPr wrap="square" lIns="0" tIns="0" rIns="0" bIns="0" rtlCol="0" anchor="t"/>
          <a:lstStyle/>
          <a:p>
            <a:pPr algn="l" indent="0" marL="0">
              <a:lnSpc>
                <a:spcPct val="128000"/>
              </a:lnSpc>
              <a:buNone/>
            </a:pPr>
            <a:r>
              <a:rPr lang="en-US" sz="4400" b="1" dirty="0">
                <a:solidFill>
                  <a:srgbClr val="F2EDE6"/>
                </a:solidFill>
                <a:latin typeface="Arial" pitchFamily="34" charset="0"/>
                <a:ea typeface="Arial" pitchFamily="34" charset="-122"/>
                <a:cs typeface="Arial" pitchFamily="34" charset="-120"/>
              </a:rPr>
              <a:t>Context</a:t>
            </a:r>
            <a:endParaRPr lang="en-US" sz="4400" dirty="0"/>
          </a:p>
        </p:txBody>
      </p:sp>
      <p:sp>
        <p:nvSpPr>
          <p:cNvPr id="4" name="Text 2"/>
          <p:cNvSpPr txBox="1"/>
          <p:nvPr/>
        </p:nvSpPr>
        <p:spPr>
          <a:xfrm>
            <a:off x="777240" y="3062605"/>
            <a:ext cx="10637215" cy="715264"/>
          </a:xfrm>
          <a:prstGeom prst="rect">
            <a:avLst/>
          </a:prstGeom>
          <a:noFill/>
          <a:ln/>
        </p:spPr>
        <p:txBody>
          <a:bodyPr wrap="square" lIns="0" tIns="0" rIns="0" bIns="0" rtlCol="0" anchor="t"/>
          <a:lstStyle/>
          <a:p>
            <a:pPr algn="l" indent="0" marL="0">
              <a:lnSpc>
                <a:spcPct val="128000"/>
              </a:lnSpc>
              <a:buNone/>
            </a:pPr>
            <a:r>
              <a:rPr lang="en-US" sz="4400" b="1" dirty="0">
                <a:solidFill>
                  <a:srgbClr val="C96442"/>
                </a:solidFill>
                <a:latin typeface="Arial" pitchFamily="34" charset="0"/>
                <a:ea typeface="Arial" pitchFamily="34" charset="-122"/>
                <a:cs typeface="Arial" pitchFamily="34" charset="-120"/>
              </a:rPr>
              <a:t>Management</a:t>
            </a:r>
            <a:endParaRPr lang="en-US" sz="4400" dirty="0"/>
          </a:p>
        </p:txBody>
      </p:sp>
      <p:sp>
        <p:nvSpPr>
          <p:cNvPr id="5" name="Text 3"/>
          <p:cNvSpPr txBox="1"/>
          <p:nvPr/>
        </p:nvSpPr>
        <p:spPr>
          <a:xfrm>
            <a:off x="777240" y="4180205"/>
            <a:ext cx="8412480" cy="276352"/>
          </a:xfrm>
          <a:prstGeom prst="rect">
            <a:avLst/>
          </a:prstGeom>
          <a:noFill/>
          <a:ln/>
        </p:spPr>
        <p:txBody>
          <a:bodyPr wrap="square" lIns="0" tIns="0" rIns="0" bIns="0" rtlCol="0" anchor="t"/>
          <a:lstStyle/>
          <a:p>
            <a:pPr algn="l" indent="0" marL="0">
              <a:lnSpc>
                <a:spcPct val="128000"/>
              </a:lnSpc>
              <a:buNone/>
            </a:pPr>
            <a:r>
              <a:rPr lang="en-US" sz="1700" dirty="0">
                <a:solidFill>
                  <a:srgbClr val="B8B1A8"/>
                </a:solidFill>
                <a:latin typeface="Arial" pitchFamily="34" charset="0"/>
                <a:ea typeface="Arial" pitchFamily="34" charset="-122"/>
                <a:cs typeface="Arial" pitchFamily="34" charset="-120"/>
              </a:rPr>
              <a:t>Know your budget and use it wisely.</a:t>
            </a:r>
            <a:endParaRPr lang="en-US" sz="1700" dirty="0"/>
          </a:p>
        </p:txBody>
      </p:sp>
      <p:sp>
        <p:nvSpPr>
          <p:cNvPr id="6" name="Shape 4"/>
          <p:cNvSpPr/>
          <p:nvPr/>
        </p:nvSpPr>
        <p:spPr>
          <a:xfrm>
            <a:off x="777240" y="4694301"/>
            <a:ext cx="754888" cy="346710"/>
          </a:xfrm>
          <a:prstGeom prst="roundRect">
            <a:avLst>
              <a:gd name="adj" fmla="val 131868"/>
            </a:avLst>
          </a:prstGeom>
          <a:solidFill>
            <a:srgbClr val="332E28"/>
          </a:solidFill>
          <a:ln/>
        </p:spPr>
      </p:sp>
      <p:sp>
        <p:nvSpPr>
          <p:cNvPr id="7" name="Text 5"/>
          <p:cNvSpPr txBox="1"/>
          <p:nvPr/>
        </p:nvSpPr>
        <p:spPr>
          <a:xfrm>
            <a:off x="777240" y="4694301"/>
            <a:ext cx="754888"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Clear</a:t>
            </a:r>
            <a:endParaRPr lang="en-US" sz="1300" dirty="0"/>
          </a:p>
        </p:txBody>
      </p:sp>
      <p:sp>
        <p:nvSpPr>
          <p:cNvPr id="8" name="Shape 6"/>
          <p:cNvSpPr/>
          <p:nvPr/>
        </p:nvSpPr>
        <p:spPr>
          <a:xfrm>
            <a:off x="1641856" y="4694301"/>
            <a:ext cx="847344" cy="346710"/>
          </a:xfrm>
          <a:prstGeom prst="roundRect">
            <a:avLst>
              <a:gd name="adj" fmla="val 131868"/>
            </a:avLst>
          </a:prstGeom>
          <a:solidFill>
            <a:srgbClr val="332E28"/>
          </a:solidFill>
          <a:ln/>
        </p:spPr>
      </p:sp>
      <p:sp>
        <p:nvSpPr>
          <p:cNvPr id="9" name="Text 7"/>
          <p:cNvSpPr txBox="1"/>
          <p:nvPr/>
        </p:nvSpPr>
        <p:spPr>
          <a:xfrm>
            <a:off x="1641856" y="4694301"/>
            <a:ext cx="847344"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Rewind</a:t>
            </a:r>
            <a:endParaRPr lang="en-US" sz="1300" dirty="0"/>
          </a:p>
        </p:txBody>
      </p:sp>
      <p:sp>
        <p:nvSpPr>
          <p:cNvPr id="10" name="Shape 8"/>
          <p:cNvSpPr/>
          <p:nvPr/>
        </p:nvSpPr>
        <p:spPr>
          <a:xfrm>
            <a:off x="2598928" y="4694301"/>
            <a:ext cx="939800" cy="346710"/>
          </a:xfrm>
          <a:prstGeom prst="roundRect">
            <a:avLst>
              <a:gd name="adj" fmla="val 131868"/>
            </a:avLst>
          </a:prstGeom>
          <a:solidFill>
            <a:srgbClr val="332E28"/>
          </a:solidFill>
          <a:ln/>
        </p:spPr>
      </p:sp>
      <p:sp>
        <p:nvSpPr>
          <p:cNvPr id="11" name="Text 9"/>
          <p:cNvSpPr txBox="1"/>
          <p:nvPr/>
        </p:nvSpPr>
        <p:spPr>
          <a:xfrm>
            <a:off x="2598928" y="4694301"/>
            <a:ext cx="939800"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Compact</a:t>
            </a:r>
            <a:endParaRPr lang="en-US" sz="1300" dirty="0"/>
          </a:p>
        </p:txBody>
      </p:sp>
      <p:sp>
        <p:nvSpPr>
          <p:cNvPr id="12" name="Shape 10"/>
          <p:cNvSpPr/>
          <p:nvPr/>
        </p:nvSpPr>
        <p:spPr>
          <a:xfrm>
            <a:off x="3648456" y="4694301"/>
            <a:ext cx="1586992" cy="346710"/>
          </a:xfrm>
          <a:prstGeom prst="roundRect">
            <a:avLst>
              <a:gd name="adj" fmla="val 131868"/>
            </a:avLst>
          </a:prstGeom>
          <a:solidFill>
            <a:srgbClr val="332E28"/>
          </a:solidFill>
          <a:ln/>
        </p:spPr>
      </p:sp>
      <p:sp>
        <p:nvSpPr>
          <p:cNvPr id="13" name="Text 11"/>
          <p:cNvSpPr txBox="1"/>
          <p:nvPr/>
        </p:nvSpPr>
        <p:spPr>
          <a:xfrm>
            <a:off x="3648456" y="4694301"/>
            <a:ext cx="1586992"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Model &amp; effort</a:t>
            </a:r>
            <a:endParaRPr lang="en-US" sz="1300" dirty="0"/>
          </a:p>
        </p:txBody>
      </p:sp>
      <p:sp>
        <p:nvSpPr>
          <p:cNvPr id="14" name="Shape 12"/>
          <p:cNvSpPr/>
          <p:nvPr/>
        </p:nvSpPr>
        <p:spPr>
          <a:xfrm>
            <a:off x="5345176" y="4694301"/>
            <a:ext cx="1124712" cy="346710"/>
          </a:xfrm>
          <a:prstGeom prst="roundRect">
            <a:avLst>
              <a:gd name="adj" fmla="val 131868"/>
            </a:avLst>
          </a:prstGeom>
          <a:solidFill>
            <a:srgbClr val="332E28"/>
          </a:solidFill>
          <a:ln/>
        </p:spPr>
      </p:sp>
      <p:sp>
        <p:nvSpPr>
          <p:cNvPr id="15" name="Text 13"/>
          <p:cNvSpPr txBox="1"/>
          <p:nvPr/>
        </p:nvSpPr>
        <p:spPr>
          <a:xfrm>
            <a:off x="5345176" y="4694301"/>
            <a:ext cx="1124712"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Plan mode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1097788"/>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04 · CONTEXT MANAGEMENT</a:t>
            </a:r>
            <a:endParaRPr lang="en-US" sz="1200" dirty="0"/>
          </a:p>
        </p:txBody>
      </p:sp>
      <p:sp>
        <p:nvSpPr>
          <p:cNvPr id="3" name="Text 1"/>
          <p:cNvSpPr txBox="1"/>
          <p:nvPr/>
        </p:nvSpPr>
        <p:spPr>
          <a:xfrm>
            <a:off x="777240" y="1381252"/>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Chat Functions</a:t>
            </a:r>
            <a:endParaRPr lang="en-US" sz="4000" dirty="0"/>
          </a:p>
        </p:txBody>
      </p:sp>
      <p:sp>
        <p:nvSpPr>
          <p:cNvPr id="4" name="Text 2"/>
          <p:cNvSpPr txBox="1"/>
          <p:nvPr/>
        </p:nvSpPr>
        <p:spPr>
          <a:xfrm>
            <a:off x="777240" y="2433828"/>
            <a:ext cx="8412480" cy="276352"/>
          </a:xfrm>
          <a:prstGeom prst="rect">
            <a:avLst/>
          </a:prstGeom>
          <a:noFill/>
          <a:ln/>
        </p:spPr>
        <p:txBody>
          <a:bodyPr wrap="square" lIns="0" tIns="0" rIns="0" bIns="0" rtlCol="0" anchor="t"/>
          <a:lstStyle/>
          <a:p>
            <a:pPr algn="l" indent="0" marL="0">
              <a:lnSpc>
                <a:spcPct val="128000"/>
              </a:lnSpc>
              <a:buNone/>
            </a:pPr>
            <a:r>
              <a:rPr lang="en-US" sz="1700" dirty="0">
                <a:solidFill>
                  <a:srgbClr val="6E675F"/>
                </a:solidFill>
                <a:latin typeface="Arial" pitchFamily="34" charset="0"/>
                <a:ea typeface="Arial" pitchFamily="34" charset="-122"/>
                <a:cs typeface="Arial" pitchFamily="34" charset="-120"/>
              </a:rPr>
              <a:t>Simple commands to master your chat sessions.</a:t>
            </a:r>
            <a:endParaRPr lang="en-US" sz="1700" dirty="0"/>
          </a:p>
        </p:txBody>
      </p:sp>
      <p:sp>
        <p:nvSpPr>
          <p:cNvPr id="5" name="Shape 3"/>
          <p:cNvSpPr/>
          <p:nvPr/>
        </p:nvSpPr>
        <p:spPr>
          <a:xfrm>
            <a:off x="777240" y="2947924"/>
            <a:ext cx="457200" cy="457200"/>
          </a:xfrm>
          <a:prstGeom prst="ellipse">
            <a:avLst/>
          </a:prstGeom>
          <a:solidFill>
            <a:srgbClr val="C96442"/>
          </a:solidFill>
          <a:ln/>
        </p:spPr>
      </p:sp>
      <p:sp>
        <p:nvSpPr>
          <p:cNvPr id="6" name="Text 4"/>
          <p:cNvSpPr txBox="1"/>
          <p:nvPr/>
        </p:nvSpPr>
        <p:spPr>
          <a:xfrm>
            <a:off x="777240" y="2947924"/>
            <a:ext cx="457200" cy="457200"/>
          </a:xfrm>
          <a:prstGeom prst="rect">
            <a:avLst/>
          </a:prstGeom>
          <a:noFill/>
          <a:ln/>
        </p:spPr>
        <p:txBody>
          <a:bodyPr wrap="square" lIns="0" tIns="0" rIns="0" bIns="0" rtlCol="0" anchor="ctr"/>
          <a:lstStyle/>
          <a:p>
            <a:pPr algn="ctr" indent="0" marL="0">
              <a:lnSpc>
                <a:spcPct val="128000"/>
              </a:lnSpc>
              <a:buNone/>
            </a:pPr>
            <a:r>
              <a:rPr lang="en-US" sz="1708" b="1" dirty="0">
                <a:solidFill>
                  <a:srgbClr val="FFFFFF"/>
                </a:solidFill>
                <a:latin typeface="Arial" pitchFamily="34" charset="0"/>
                <a:ea typeface="Arial" pitchFamily="34" charset="-122"/>
                <a:cs typeface="Arial" pitchFamily="34" charset="-120"/>
              </a:rPr>
              <a:t>⌫</a:t>
            </a:r>
            <a:endParaRPr lang="en-US" sz="1500" dirty="0"/>
          </a:p>
        </p:txBody>
      </p:sp>
      <p:sp>
        <p:nvSpPr>
          <p:cNvPr id="7" name="Text 5"/>
          <p:cNvSpPr txBox="1"/>
          <p:nvPr/>
        </p:nvSpPr>
        <p:spPr>
          <a:xfrm>
            <a:off x="1417320" y="2947924"/>
            <a:ext cx="2926080" cy="508000"/>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Clear</a:t>
            </a:r>
            <a:endParaRPr lang="en-US" sz="1600" dirty="0"/>
          </a:p>
        </p:txBody>
      </p:sp>
      <p:sp>
        <p:nvSpPr>
          <p:cNvPr id="8" name="Text 6"/>
          <p:cNvSpPr txBox="1"/>
          <p:nvPr/>
        </p:nvSpPr>
        <p:spPr>
          <a:xfrm>
            <a:off x="1417320" y="3226308"/>
            <a:ext cx="2926080" cy="182880"/>
          </a:xfrm>
          <a:prstGeom prst="rect">
            <a:avLst/>
          </a:prstGeom>
          <a:noFill/>
          <a:ln/>
        </p:spPr>
        <p:txBody>
          <a:bodyPr wrap="square" lIns="0" tIns="0" rIns="0" bIns="0" rtlCol="0" anchor="t"/>
          <a:lstStyle/>
          <a:p>
            <a:pPr algn="l" indent="0" marL="0">
              <a:lnSpc>
                <a:spcPct val="128000"/>
              </a:lnSpc>
              <a:buNone/>
            </a:pPr>
            <a:r>
              <a:rPr lang="en-US" sz="1300" dirty="0">
                <a:solidFill>
                  <a:srgbClr val="C96442"/>
                </a:solidFill>
                <a:latin typeface="Courier New" pitchFamily="34" charset="0"/>
                <a:ea typeface="Courier New" pitchFamily="34" charset="-122"/>
                <a:cs typeface="Courier New" pitchFamily="34" charset="-120"/>
              </a:rPr>
              <a:t>/clear</a:t>
            </a:r>
            <a:endParaRPr lang="en-US" sz="1300" dirty="0"/>
          </a:p>
        </p:txBody>
      </p:sp>
      <p:sp>
        <p:nvSpPr>
          <p:cNvPr id="9" name="Text 7"/>
          <p:cNvSpPr txBox="1"/>
          <p:nvPr/>
        </p:nvSpPr>
        <p:spPr>
          <a:xfrm>
            <a:off x="4562856" y="2947924"/>
            <a:ext cx="6851599"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Moving to a new task? Start a new chat and fresh context.</a:t>
            </a:r>
            <a:endParaRPr lang="en-US" sz="1400" dirty="0"/>
          </a:p>
        </p:txBody>
      </p:sp>
      <p:sp>
        <p:nvSpPr>
          <p:cNvPr id="10" name="Shape 8"/>
          <p:cNvSpPr/>
          <p:nvPr/>
        </p:nvSpPr>
        <p:spPr>
          <a:xfrm>
            <a:off x="777240" y="3697732"/>
            <a:ext cx="10637215" cy="12700"/>
          </a:xfrm>
          <a:prstGeom prst="rect">
            <a:avLst/>
          </a:prstGeom>
          <a:solidFill>
            <a:srgbClr val="E4DFD9"/>
          </a:solidFill>
          <a:ln/>
        </p:spPr>
      </p:sp>
      <p:sp>
        <p:nvSpPr>
          <p:cNvPr id="11" name="Shape 9"/>
          <p:cNvSpPr/>
          <p:nvPr/>
        </p:nvSpPr>
        <p:spPr>
          <a:xfrm>
            <a:off x="777240" y="3798316"/>
            <a:ext cx="457200" cy="457200"/>
          </a:xfrm>
          <a:prstGeom prst="ellipse">
            <a:avLst/>
          </a:prstGeom>
          <a:solidFill>
            <a:srgbClr val="C96442"/>
          </a:solidFill>
          <a:ln/>
        </p:spPr>
      </p:sp>
      <p:sp>
        <p:nvSpPr>
          <p:cNvPr id="12" name="Text 10"/>
          <p:cNvSpPr txBox="1"/>
          <p:nvPr/>
        </p:nvSpPr>
        <p:spPr>
          <a:xfrm>
            <a:off x="777240" y="3798316"/>
            <a:ext cx="457200" cy="457200"/>
          </a:xfrm>
          <a:prstGeom prst="rect">
            <a:avLst/>
          </a:prstGeom>
          <a:noFill/>
          <a:ln/>
        </p:spPr>
        <p:txBody>
          <a:bodyPr wrap="square" lIns="0" tIns="0" rIns="0" bIns="0" rtlCol="0" anchor="ctr"/>
          <a:lstStyle/>
          <a:p>
            <a:pPr algn="ctr" indent="0" marL="0">
              <a:lnSpc>
                <a:spcPct val="128000"/>
              </a:lnSpc>
              <a:buNone/>
            </a:pPr>
            <a:r>
              <a:rPr lang="en-US" sz="1708" b="1" dirty="0">
                <a:solidFill>
                  <a:srgbClr val="FFFFFF"/>
                </a:solidFill>
                <a:latin typeface="Arial" pitchFamily="34" charset="0"/>
                <a:ea typeface="Arial" pitchFamily="34" charset="-122"/>
                <a:cs typeface="Arial" pitchFamily="34" charset="-120"/>
              </a:rPr>
              <a:t>↺</a:t>
            </a:r>
            <a:endParaRPr lang="en-US" sz="1500" dirty="0"/>
          </a:p>
        </p:txBody>
      </p:sp>
      <p:sp>
        <p:nvSpPr>
          <p:cNvPr id="13" name="Text 11"/>
          <p:cNvSpPr txBox="1"/>
          <p:nvPr/>
        </p:nvSpPr>
        <p:spPr>
          <a:xfrm>
            <a:off x="1417320" y="3798316"/>
            <a:ext cx="2926080" cy="508000"/>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Rewind</a:t>
            </a:r>
            <a:endParaRPr lang="en-US" sz="1600" dirty="0"/>
          </a:p>
        </p:txBody>
      </p:sp>
      <p:sp>
        <p:nvSpPr>
          <p:cNvPr id="14" name="Text 12"/>
          <p:cNvSpPr txBox="1"/>
          <p:nvPr/>
        </p:nvSpPr>
        <p:spPr>
          <a:xfrm>
            <a:off x="1417320" y="4076700"/>
            <a:ext cx="2926080" cy="182880"/>
          </a:xfrm>
          <a:prstGeom prst="rect">
            <a:avLst/>
          </a:prstGeom>
          <a:noFill/>
          <a:ln/>
        </p:spPr>
        <p:txBody>
          <a:bodyPr wrap="square" lIns="0" tIns="0" rIns="0" bIns="0" rtlCol="0" anchor="t"/>
          <a:lstStyle/>
          <a:p>
            <a:pPr algn="l" indent="0" marL="0">
              <a:lnSpc>
                <a:spcPct val="128000"/>
              </a:lnSpc>
              <a:buNone/>
            </a:pPr>
            <a:r>
              <a:rPr lang="en-US" sz="1300" dirty="0">
                <a:solidFill>
                  <a:srgbClr val="C96442"/>
                </a:solidFill>
                <a:latin typeface="Courier New" pitchFamily="34" charset="0"/>
                <a:ea typeface="Courier New" pitchFamily="34" charset="-122"/>
                <a:cs typeface="Courier New" pitchFamily="34" charset="-120"/>
              </a:rPr>
              <a:t>/rewind or double-esc</a:t>
            </a:r>
            <a:endParaRPr lang="en-US" sz="1300" dirty="0"/>
          </a:p>
        </p:txBody>
      </p:sp>
      <p:sp>
        <p:nvSpPr>
          <p:cNvPr id="15" name="Text 13"/>
          <p:cNvSpPr txBox="1"/>
          <p:nvPr/>
        </p:nvSpPr>
        <p:spPr>
          <a:xfrm>
            <a:off x="4562856" y="3798316"/>
            <a:ext cx="6851599" cy="455168"/>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Unhappy with a result? Go down the wrong path? Rewind instead of re-prompt.</a:t>
            </a:r>
            <a:endParaRPr lang="en-US" sz="1400" dirty="0"/>
          </a:p>
        </p:txBody>
      </p:sp>
      <p:sp>
        <p:nvSpPr>
          <p:cNvPr id="16" name="Shape 14"/>
          <p:cNvSpPr/>
          <p:nvPr/>
        </p:nvSpPr>
        <p:spPr>
          <a:xfrm>
            <a:off x="777240" y="4548124"/>
            <a:ext cx="10637215" cy="12700"/>
          </a:xfrm>
          <a:prstGeom prst="rect">
            <a:avLst/>
          </a:prstGeom>
          <a:solidFill>
            <a:srgbClr val="E4DFD9"/>
          </a:solidFill>
          <a:ln/>
        </p:spPr>
      </p:sp>
      <p:sp>
        <p:nvSpPr>
          <p:cNvPr id="17" name="Shape 15"/>
          <p:cNvSpPr/>
          <p:nvPr/>
        </p:nvSpPr>
        <p:spPr>
          <a:xfrm>
            <a:off x="777240" y="4648708"/>
            <a:ext cx="457200" cy="457200"/>
          </a:xfrm>
          <a:prstGeom prst="ellipse">
            <a:avLst/>
          </a:prstGeom>
          <a:solidFill>
            <a:srgbClr val="C96442"/>
          </a:solidFill>
          <a:ln/>
        </p:spPr>
      </p:sp>
      <p:sp>
        <p:nvSpPr>
          <p:cNvPr id="18" name="Text 16"/>
          <p:cNvSpPr txBox="1"/>
          <p:nvPr/>
        </p:nvSpPr>
        <p:spPr>
          <a:xfrm>
            <a:off x="777240" y="4648708"/>
            <a:ext cx="457200" cy="457200"/>
          </a:xfrm>
          <a:prstGeom prst="rect">
            <a:avLst/>
          </a:prstGeom>
          <a:noFill/>
          <a:ln/>
        </p:spPr>
        <p:txBody>
          <a:bodyPr wrap="square" lIns="0" tIns="0" rIns="0" bIns="0" rtlCol="0" anchor="ctr"/>
          <a:lstStyle/>
          <a:p>
            <a:pPr algn="ctr" indent="0" marL="0">
              <a:lnSpc>
                <a:spcPct val="128000"/>
              </a:lnSpc>
              <a:buNone/>
            </a:pPr>
            <a:r>
              <a:rPr lang="en-US" sz="1708" b="1" dirty="0">
                <a:solidFill>
                  <a:srgbClr val="FFFFFF"/>
                </a:solidFill>
                <a:latin typeface="Arial" pitchFamily="34" charset="0"/>
                <a:ea typeface="Arial" pitchFamily="34" charset="-122"/>
                <a:cs typeface="Arial" pitchFamily="34" charset="-120"/>
              </a:rPr>
              <a:t>↻</a:t>
            </a:r>
            <a:endParaRPr lang="en-US" sz="1500" dirty="0"/>
          </a:p>
        </p:txBody>
      </p:sp>
      <p:sp>
        <p:nvSpPr>
          <p:cNvPr id="19" name="Text 17"/>
          <p:cNvSpPr txBox="1"/>
          <p:nvPr/>
        </p:nvSpPr>
        <p:spPr>
          <a:xfrm>
            <a:off x="1417320" y="4648708"/>
            <a:ext cx="2926080" cy="508000"/>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Resume</a:t>
            </a:r>
            <a:endParaRPr lang="en-US" sz="1600" dirty="0"/>
          </a:p>
        </p:txBody>
      </p:sp>
      <p:sp>
        <p:nvSpPr>
          <p:cNvPr id="20" name="Text 18"/>
          <p:cNvSpPr txBox="1"/>
          <p:nvPr/>
        </p:nvSpPr>
        <p:spPr>
          <a:xfrm>
            <a:off x="1417320" y="4927092"/>
            <a:ext cx="2926080" cy="182880"/>
          </a:xfrm>
          <a:prstGeom prst="rect">
            <a:avLst/>
          </a:prstGeom>
          <a:noFill/>
          <a:ln/>
        </p:spPr>
        <p:txBody>
          <a:bodyPr wrap="square" lIns="0" tIns="0" rIns="0" bIns="0" rtlCol="0" anchor="t"/>
          <a:lstStyle/>
          <a:p>
            <a:pPr algn="l" indent="0" marL="0">
              <a:lnSpc>
                <a:spcPct val="128000"/>
              </a:lnSpc>
              <a:buNone/>
            </a:pPr>
            <a:r>
              <a:rPr lang="en-US" sz="1300" dirty="0">
                <a:solidFill>
                  <a:srgbClr val="C96442"/>
                </a:solidFill>
                <a:latin typeface="Courier New" pitchFamily="34" charset="0"/>
                <a:ea typeface="Courier New" pitchFamily="34" charset="-122"/>
                <a:cs typeface="Courier New" pitchFamily="34" charset="-120"/>
              </a:rPr>
              <a:t>/resume</a:t>
            </a:r>
            <a:endParaRPr lang="en-US" sz="1300" dirty="0"/>
          </a:p>
        </p:txBody>
      </p:sp>
      <p:sp>
        <p:nvSpPr>
          <p:cNvPr id="21" name="Text 19"/>
          <p:cNvSpPr txBox="1"/>
          <p:nvPr/>
        </p:nvSpPr>
        <p:spPr>
          <a:xfrm>
            <a:off x="4562856" y="4648708"/>
            <a:ext cx="6851599"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Cleared too soon? Resume a previous session.</a:t>
            </a:r>
            <a:endParaRPr lang="en-US" sz="1400" dirty="0"/>
          </a:p>
        </p:txBody>
      </p:sp>
      <p:sp>
        <p:nvSpPr>
          <p:cNvPr id="22" name="Shape 20"/>
          <p:cNvSpPr/>
          <p:nvPr/>
        </p:nvSpPr>
        <p:spPr>
          <a:xfrm>
            <a:off x="777240" y="5398516"/>
            <a:ext cx="10637215" cy="12700"/>
          </a:xfrm>
          <a:prstGeom prst="rect">
            <a:avLst/>
          </a:prstGeom>
          <a:solidFill>
            <a:srgbClr val="E4DFD9"/>
          </a:solidFill>
          <a:ln/>
        </p:spPr>
      </p:sp>
      <p:sp>
        <p:nvSpPr>
          <p:cNvPr id="23" name="Shape 21"/>
          <p:cNvSpPr/>
          <p:nvPr/>
        </p:nvSpPr>
        <p:spPr>
          <a:xfrm>
            <a:off x="777240" y="5499100"/>
            <a:ext cx="457200" cy="457200"/>
          </a:xfrm>
          <a:prstGeom prst="ellipse">
            <a:avLst/>
          </a:prstGeom>
          <a:solidFill>
            <a:srgbClr val="C96442"/>
          </a:solidFill>
          <a:ln/>
        </p:spPr>
      </p:sp>
      <p:sp>
        <p:nvSpPr>
          <p:cNvPr id="24" name="Text 22"/>
          <p:cNvSpPr txBox="1"/>
          <p:nvPr/>
        </p:nvSpPr>
        <p:spPr>
          <a:xfrm>
            <a:off x="777240" y="5499100"/>
            <a:ext cx="457200" cy="457200"/>
          </a:xfrm>
          <a:prstGeom prst="rect">
            <a:avLst/>
          </a:prstGeom>
          <a:noFill/>
          <a:ln/>
        </p:spPr>
        <p:txBody>
          <a:bodyPr wrap="square" lIns="0" tIns="0" rIns="0" bIns="0" rtlCol="0" anchor="ctr"/>
          <a:lstStyle/>
          <a:p>
            <a:pPr algn="ctr" indent="0" marL="0">
              <a:lnSpc>
                <a:spcPct val="128000"/>
              </a:lnSpc>
              <a:buNone/>
            </a:pPr>
            <a:r>
              <a:rPr lang="en-US" sz="1708" b="1" dirty="0">
                <a:solidFill>
                  <a:srgbClr val="FFFFFF"/>
                </a:solidFill>
                <a:latin typeface="Arial" pitchFamily="34" charset="0"/>
                <a:ea typeface="Arial" pitchFamily="34" charset="-122"/>
                <a:cs typeface="Arial" pitchFamily="34" charset="-120"/>
              </a:rPr>
              <a:t>⤓</a:t>
            </a:r>
            <a:endParaRPr lang="en-US" sz="1500" dirty="0"/>
          </a:p>
        </p:txBody>
      </p:sp>
      <p:sp>
        <p:nvSpPr>
          <p:cNvPr id="25" name="Text 23"/>
          <p:cNvSpPr txBox="1"/>
          <p:nvPr/>
        </p:nvSpPr>
        <p:spPr>
          <a:xfrm>
            <a:off x="1417320" y="5499100"/>
            <a:ext cx="2926080" cy="508000"/>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Compact</a:t>
            </a:r>
            <a:endParaRPr lang="en-US" sz="1600" dirty="0"/>
          </a:p>
        </p:txBody>
      </p:sp>
      <p:sp>
        <p:nvSpPr>
          <p:cNvPr id="26" name="Text 24"/>
          <p:cNvSpPr txBox="1"/>
          <p:nvPr/>
        </p:nvSpPr>
        <p:spPr>
          <a:xfrm>
            <a:off x="1417320" y="5777484"/>
            <a:ext cx="2926080" cy="182880"/>
          </a:xfrm>
          <a:prstGeom prst="rect">
            <a:avLst/>
          </a:prstGeom>
          <a:noFill/>
          <a:ln/>
        </p:spPr>
        <p:txBody>
          <a:bodyPr wrap="square" lIns="0" tIns="0" rIns="0" bIns="0" rtlCol="0" anchor="t"/>
          <a:lstStyle/>
          <a:p>
            <a:pPr algn="l" indent="0" marL="0">
              <a:lnSpc>
                <a:spcPct val="128000"/>
              </a:lnSpc>
              <a:buNone/>
            </a:pPr>
            <a:r>
              <a:rPr lang="en-US" sz="1300" dirty="0">
                <a:solidFill>
                  <a:srgbClr val="C96442"/>
                </a:solidFill>
                <a:latin typeface="Courier New" pitchFamily="34" charset="0"/>
                <a:ea typeface="Courier New" pitchFamily="34" charset="-122"/>
                <a:cs typeface="Courier New" pitchFamily="34" charset="-120"/>
              </a:rPr>
              <a:t>/compact &lt;what_to_keep&gt;</a:t>
            </a:r>
            <a:endParaRPr lang="en-US" sz="1300" dirty="0"/>
          </a:p>
        </p:txBody>
      </p:sp>
      <p:sp>
        <p:nvSpPr>
          <p:cNvPr id="27" name="Text 25"/>
          <p:cNvSpPr txBox="1"/>
          <p:nvPr/>
        </p:nvSpPr>
        <p:spPr>
          <a:xfrm>
            <a:off x="4562856" y="5499100"/>
            <a:ext cx="6851599"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Running out of context but still need to continue the work?</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1211516"/>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04 · CONTEXT MANAGEMENT</a:t>
            </a:r>
            <a:endParaRPr lang="en-US" sz="1200" dirty="0"/>
          </a:p>
        </p:txBody>
      </p:sp>
      <p:sp>
        <p:nvSpPr>
          <p:cNvPr id="3" name="Text 1"/>
          <p:cNvSpPr txBox="1"/>
          <p:nvPr/>
        </p:nvSpPr>
        <p:spPr>
          <a:xfrm>
            <a:off x="777240" y="1494980"/>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Check Your Context</a:t>
            </a:r>
            <a:endParaRPr lang="en-US" sz="4000" dirty="0"/>
          </a:p>
        </p:txBody>
      </p:sp>
      <p:sp>
        <p:nvSpPr>
          <p:cNvPr id="4" name="Text 2"/>
          <p:cNvSpPr txBox="1"/>
          <p:nvPr/>
        </p:nvSpPr>
        <p:spPr>
          <a:xfrm>
            <a:off x="777240" y="2547556"/>
            <a:ext cx="8412480" cy="276352"/>
          </a:xfrm>
          <a:prstGeom prst="rect">
            <a:avLst/>
          </a:prstGeom>
          <a:noFill/>
          <a:ln/>
        </p:spPr>
        <p:txBody>
          <a:bodyPr wrap="square" lIns="0" tIns="0" rIns="0" bIns="0" rtlCol="0" anchor="t"/>
          <a:lstStyle/>
          <a:p>
            <a:pPr algn="l" indent="0" marL="0">
              <a:lnSpc>
                <a:spcPct val="128000"/>
              </a:lnSpc>
              <a:buNone/>
            </a:pPr>
            <a:r>
              <a:rPr lang="en-US" sz="1700" dirty="0">
                <a:solidFill>
                  <a:srgbClr val="6E675F"/>
                </a:solidFill>
                <a:latin typeface="Arial" pitchFamily="34" charset="0"/>
                <a:ea typeface="Arial" pitchFamily="34" charset="-122"/>
                <a:cs typeface="Arial" pitchFamily="34" charset="-120"/>
              </a:rPr>
              <a:t>Use /context to see what the session is carrying right now.</a:t>
            </a:r>
            <a:endParaRPr lang="en-US" sz="1700" dirty="0"/>
          </a:p>
        </p:txBody>
      </p:sp>
      <p:sp>
        <p:nvSpPr>
          <p:cNvPr id="5" name="Shape 3"/>
          <p:cNvSpPr/>
          <p:nvPr/>
        </p:nvSpPr>
        <p:spPr>
          <a:xfrm>
            <a:off x="777240" y="3061652"/>
            <a:ext cx="5679476" cy="2831719"/>
          </a:xfrm>
          <a:prstGeom prst="roundRect">
            <a:avLst>
              <a:gd name="adj" fmla="val 834"/>
            </a:avLst>
          </a:prstGeom>
          <a:solidFill>
            <a:srgbClr val="1A1714"/>
          </a:solidFill>
          <a:ln/>
        </p:spPr>
      </p:sp>
      <p:sp>
        <p:nvSpPr>
          <p:cNvPr id="6" name="Shape 4"/>
          <p:cNvSpPr/>
          <p:nvPr/>
        </p:nvSpPr>
        <p:spPr>
          <a:xfrm>
            <a:off x="777240" y="3061652"/>
            <a:ext cx="5679476" cy="274320"/>
          </a:xfrm>
          <a:prstGeom prst="roundRect">
            <a:avLst>
              <a:gd name="adj" fmla="val 88889"/>
            </a:avLst>
          </a:prstGeom>
          <a:solidFill>
            <a:srgbClr val="332E28"/>
          </a:solidFill>
          <a:ln/>
        </p:spPr>
      </p:sp>
      <p:sp>
        <p:nvSpPr>
          <p:cNvPr id="7" name="Shape 5"/>
          <p:cNvSpPr/>
          <p:nvPr/>
        </p:nvSpPr>
        <p:spPr>
          <a:xfrm>
            <a:off x="777240" y="3262820"/>
            <a:ext cx="5679476" cy="73152"/>
          </a:xfrm>
          <a:prstGeom prst="rect">
            <a:avLst/>
          </a:prstGeom>
          <a:solidFill>
            <a:srgbClr val="332E28"/>
          </a:solidFill>
          <a:ln/>
        </p:spPr>
      </p:sp>
      <p:sp>
        <p:nvSpPr>
          <p:cNvPr id="8" name="Shape 6"/>
          <p:cNvSpPr/>
          <p:nvPr/>
        </p:nvSpPr>
        <p:spPr>
          <a:xfrm>
            <a:off x="905256" y="3157664"/>
            <a:ext cx="82296" cy="82296"/>
          </a:xfrm>
          <a:prstGeom prst="ellipse">
            <a:avLst/>
          </a:prstGeom>
          <a:solidFill>
            <a:srgbClr val="E8938A"/>
          </a:solidFill>
          <a:ln/>
        </p:spPr>
      </p:sp>
      <p:sp>
        <p:nvSpPr>
          <p:cNvPr id="9" name="Shape 7"/>
          <p:cNvSpPr/>
          <p:nvPr/>
        </p:nvSpPr>
        <p:spPr>
          <a:xfrm>
            <a:off x="1051560" y="3157664"/>
            <a:ext cx="82296" cy="82296"/>
          </a:xfrm>
          <a:prstGeom prst="ellipse">
            <a:avLst/>
          </a:prstGeom>
          <a:solidFill>
            <a:srgbClr val="9C948A"/>
          </a:solidFill>
          <a:ln/>
        </p:spPr>
      </p:sp>
      <p:sp>
        <p:nvSpPr>
          <p:cNvPr id="10" name="Shape 8"/>
          <p:cNvSpPr/>
          <p:nvPr/>
        </p:nvSpPr>
        <p:spPr>
          <a:xfrm>
            <a:off x="1197864" y="3157664"/>
            <a:ext cx="82296" cy="82296"/>
          </a:xfrm>
          <a:prstGeom prst="ellipse">
            <a:avLst/>
          </a:prstGeom>
          <a:solidFill>
            <a:srgbClr val="8FCB9B"/>
          </a:solidFill>
          <a:ln/>
        </p:spPr>
      </p:sp>
      <p:sp>
        <p:nvSpPr>
          <p:cNvPr id="11" name="Text 9"/>
          <p:cNvSpPr txBox="1"/>
          <p:nvPr/>
        </p:nvSpPr>
        <p:spPr>
          <a:xfrm>
            <a:off x="1380744" y="3089084"/>
            <a:ext cx="4947956" cy="219456"/>
          </a:xfrm>
          <a:prstGeom prst="rect">
            <a:avLst/>
          </a:prstGeom>
          <a:noFill/>
          <a:ln/>
        </p:spPr>
        <p:txBody>
          <a:bodyPr wrap="square" lIns="0" tIns="0" rIns="0" bIns="0" rtlCol="0" anchor="ctr"/>
          <a:lstStyle/>
          <a:p>
            <a:pPr algn="l" indent="0" marL="0">
              <a:lnSpc>
                <a:spcPct val="128000"/>
              </a:lnSpc>
              <a:buNone/>
            </a:pPr>
            <a:r>
              <a:rPr lang="en-US" sz="900" dirty="0">
                <a:solidFill>
                  <a:srgbClr val="9C948A"/>
                </a:solidFill>
                <a:latin typeface="Courier New" pitchFamily="34" charset="0"/>
                <a:ea typeface="Courier New" pitchFamily="34" charset="-122"/>
                <a:cs typeface="Courier New" pitchFamily="34" charset="-120"/>
              </a:rPr>
              <a:t>/context</a:t>
            </a:r>
            <a:endParaRPr lang="en-US" sz="900" dirty="0"/>
          </a:p>
        </p:txBody>
      </p:sp>
      <p:sp>
        <p:nvSpPr>
          <p:cNvPr id="12" name="Text 10"/>
          <p:cNvSpPr txBox="1"/>
          <p:nvPr/>
        </p:nvSpPr>
        <p:spPr>
          <a:xfrm>
            <a:off x="941832" y="3500564"/>
            <a:ext cx="5350292" cy="202565"/>
          </a:xfrm>
          <a:prstGeom prst="rect">
            <a:avLst/>
          </a:prstGeom>
          <a:noFill/>
          <a:ln/>
        </p:spPr>
        <p:txBody>
          <a:bodyPr wrap="none" lIns="0" tIns="0" rIns="0" bIns="0" rtlCol="0" anchor="t"/>
          <a:lstStyle/>
          <a:p>
            <a:pPr algn="l" indent="0" marL="0">
              <a:lnSpc>
                <a:spcPct val="128000"/>
              </a:lnSpc>
              <a:buNone/>
            </a:pPr>
            <a:r>
              <a:rPr lang="en-US" sz="1100" dirty="0">
                <a:solidFill>
                  <a:srgbClr val="8FCB9B"/>
                </a:solidFill>
                <a:latin typeface="Courier New" pitchFamily="34" charset="0"/>
                <a:ea typeface="Courier New" pitchFamily="34" charset="-122"/>
                <a:cs typeface="Courier New" pitchFamily="34" charset="-120"/>
              </a:rPr>
              <a:t>&gt; /context</a:t>
            </a:r>
            <a:endParaRPr lang="en-US" sz="1100" dirty="0"/>
          </a:p>
        </p:txBody>
      </p:sp>
      <p:sp>
        <p:nvSpPr>
          <p:cNvPr id="13" name="Text 11"/>
          <p:cNvSpPr txBox="1"/>
          <p:nvPr/>
        </p:nvSpPr>
        <p:spPr>
          <a:xfrm>
            <a:off x="941832" y="3703129"/>
            <a:ext cx="5350292" cy="202565"/>
          </a:xfrm>
          <a:prstGeom prst="rect">
            <a:avLst/>
          </a:prstGeom>
          <a:noFill/>
          <a:ln/>
        </p:spPr>
        <p:txBody>
          <a:bodyPr wrap="none" lIns="0" tIns="0" rIns="0" bIns="0" rtlCol="0" anchor="t"/>
          <a:lstStyle/>
          <a:p>
            <a:pPr algn="l" indent="0" marL="0">
              <a:lnSpc>
                <a:spcPct val="128000"/>
              </a:lnSpc>
              <a:buNone/>
            </a:pPr>
            <a:endParaRPr lang="en-US" sz="1100" dirty="0"/>
          </a:p>
        </p:txBody>
      </p:sp>
      <p:sp>
        <p:nvSpPr>
          <p:cNvPr id="14" name="Text 12"/>
          <p:cNvSpPr txBox="1"/>
          <p:nvPr/>
        </p:nvSpPr>
        <p:spPr>
          <a:xfrm>
            <a:off x="941832" y="3905694"/>
            <a:ext cx="5350292" cy="202565"/>
          </a:xfrm>
          <a:prstGeom prst="rect">
            <a:avLst/>
          </a:prstGeom>
          <a:noFill/>
          <a:ln/>
        </p:spPr>
        <p:txBody>
          <a:bodyPr wrap="none" lIns="0" tIns="0" rIns="0" bIns="0" rtlCol="0" anchor="t"/>
          <a:lstStyle/>
          <a:p>
            <a:pPr algn="l" indent="0" marL="0">
              <a:lnSpc>
                <a:spcPct val="128000"/>
              </a:lnSpc>
              <a:buNone/>
            </a:pPr>
            <a:r>
              <a:rPr lang="en-US" sz="1100" b="1" dirty="0">
                <a:solidFill>
                  <a:srgbClr val="EDE6DD"/>
                </a:solidFill>
                <a:latin typeface="Courier New" pitchFamily="34" charset="0"/>
                <a:ea typeface="Courier New" pitchFamily="34" charset="-122"/>
                <a:cs typeface="Courier New" pitchFamily="34" charset="-120"/>
              </a:rPr>
              <a:t>Context Usage</a:t>
            </a:r>
            <a:endParaRPr lang="en-US" sz="1100" dirty="0"/>
          </a:p>
        </p:txBody>
      </p:sp>
      <p:sp>
        <p:nvSpPr>
          <p:cNvPr id="15" name="Text 13"/>
          <p:cNvSpPr txBox="1"/>
          <p:nvPr/>
        </p:nvSpPr>
        <p:spPr>
          <a:xfrm>
            <a:off x="941832" y="4108260"/>
            <a:ext cx="5350292" cy="202565"/>
          </a:xfrm>
          <a:prstGeom prst="rect">
            <a:avLst/>
          </a:prstGeom>
          <a:noFill/>
          <a:ln/>
        </p:spPr>
        <p:txBody>
          <a:bodyPr wrap="none" lIns="0" tIns="0" rIns="0" bIns="0" rtlCol="0" anchor="t"/>
          <a:lstStyle/>
          <a:p>
            <a:pPr algn="l" indent="0" marL="0">
              <a:lnSpc>
                <a:spcPct val="128000"/>
              </a:lnSpc>
              <a:buNone/>
            </a:pPr>
            <a:r>
              <a:rPr lang="en-US" sz="1100" dirty="0">
                <a:solidFill>
                  <a:srgbClr val="9C948A"/>
                </a:solidFill>
                <a:latin typeface="Courier New" pitchFamily="34" charset="0"/>
                <a:ea typeface="Courier New" pitchFamily="34" charset="-122"/>
                <a:cs typeface="Courier New" pitchFamily="34" charset="-120"/>
              </a:rPr>
              <a:t>claude-opus-5 · 152k/1m tokens (15%)</a:t>
            </a:r>
            <a:endParaRPr lang="en-US" sz="1100" dirty="0"/>
          </a:p>
        </p:txBody>
      </p:sp>
      <p:sp>
        <p:nvSpPr>
          <p:cNvPr id="16" name="Text 14"/>
          <p:cNvSpPr txBox="1"/>
          <p:nvPr/>
        </p:nvSpPr>
        <p:spPr>
          <a:xfrm>
            <a:off x="941832" y="4310825"/>
            <a:ext cx="5350292" cy="202565"/>
          </a:xfrm>
          <a:prstGeom prst="rect">
            <a:avLst/>
          </a:prstGeom>
          <a:noFill/>
          <a:ln/>
        </p:spPr>
        <p:txBody>
          <a:bodyPr wrap="none" lIns="0" tIns="0" rIns="0" bIns="0" rtlCol="0" anchor="t"/>
          <a:lstStyle/>
          <a:p>
            <a:pPr algn="l" indent="0" marL="0">
              <a:lnSpc>
                <a:spcPct val="128000"/>
              </a:lnSpc>
              <a:buNone/>
            </a:pPr>
            <a:endParaRPr lang="en-US" sz="1100" dirty="0"/>
          </a:p>
        </p:txBody>
      </p:sp>
      <p:sp>
        <p:nvSpPr>
          <p:cNvPr id="17" name="Text 15"/>
          <p:cNvSpPr txBox="1"/>
          <p:nvPr/>
        </p:nvSpPr>
        <p:spPr>
          <a:xfrm>
            <a:off x="941832" y="4513390"/>
            <a:ext cx="5350292"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System prompt      4.6k    0.5%</a:t>
            </a:r>
            <a:endParaRPr lang="en-US" sz="1100" dirty="0"/>
          </a:p>
        </p:txBody>
      </p:sp>
      <p:sp>
        <p:nvSpPr>
          <p:cNvPr id="18" name="Text 16"/>
          <p:cNvSpPr txBox="1"/>
          <p:nvPr/>
        </p:nvSpPr>
        <p:spPr>
          <a:xfrm>
            <a:off x="941832" y="4715955"/>
            <a:ext cx="5350292"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System tools      11.5k    1.2%</a:t>
            </a:r>
            <a:endParaRPr lang="en-US" sz="1100" dirty="0"/>
          </a:p>
        </p:txBody>
      </p:sp>
      <p:sp>
        <p:nvSpPr>
          <p:cNvPr id="19" name="Text 17"/>
          <p:cNvSpPr txBox="1"/>
          <p:nvPr/>
        </p:nvSpPr>
        <p:spPr>
          <a:xfrm>
            <a:off x="941832" y="4918520"/>
            <a:ext cx="5350292"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Memory files       1.2k    0.1%</a:t>
            </a:r>
            <a:endParaRPr lang="en-US" sz="1100" dirty="0"/>
          </a:p>
        </p:txBody>
      </p:sp>
      <p:sp>
        <p:nvSpPr>
          <p:cNvPr id="20" name="Text 18"/>
          <p:cNvSpPr txBox="1"/>
          <p:nvPr/>
        </p:nvSpPr>
        <p:spPr>
          <a:xfrm>
            <a:off x="941832" y="5121085"/>
            <a:ext cx="5350292"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Skills             9.8k    1.0%</a:t>
            </a:r>
            <a:endParaRPr lang="en-US" sz="1100" dirty="0"/>
          </a:p>
        </p:txBody>
      </p:sp>
      <p:sp>
        <p:nvSpPr>
          <p:cNvPr id="21" name="Text 19"/>
          <p:cNvSpPr txBox="1"/>
          <p:nvPr/>
        </p:nvSpPr>
        <p:spPr>
          <a:xfrm>
            <a:off x="941832" y="5323650"/>
            <a:ext cx="5350292" cy="202565"/>
          </a:xfrm>
          <a:prstGeom prst="rect">
            <a:avLst/>
          </a:prstGeom>
          <a:noFill/>
          <a:ln/>
        </p:spPr>
        <p:txBody>
          <a:bodyPr wrap="none" lIns="0" tIns="0" rIns="0" bIns="0" rtlCol="0" anchor="t"/>
          <a:lstStyle/>
          <a:p>
            <a:pPr algn="l" indent="0" marL="0">
              <a:lnSpc>
                <a:spcPct val="128000"/>
              </a:lnSpc>
              <a:buNone/>
            </a:pPr>
            <a:r>
              <a:rPr lang="en-US" sz="1100" dirty="0">
                <a:solidFill>
                  <a:srgbClr val="E8938A"/>
                </a:solidFill>
                <a:latin typeface="Courier New" pitchFamily="34" charset="0"/>
                <a:ea typeface="Courier New" pitchFamily="34" charset="-122"/>
                <a:cs typeface="Courier New" pitchFamily="34" charset="-120"/>
              </a:rPr>
              <a:t>Messages           125k     12%</a:t>
            </a:r>
            <a:endParaRPr lang="en-US" sz="1100" dirty="0"/>
          </a:p>
        </p:txBody>
      </p:sp>
      <p:sp>
        <p:nvSpPr>
          <p:cNvPr id="22" name="Text 20"/>
          <p:cNvSpPr txBox="1"/>
          <p:nvPr/>
        </p:nvSpPr>
        <p:spPr>
          <a:xfrm>
            <a:off x="941832" y="5526215"/>
            <a:ext cx="5350292" cy="202565"/>
          </a:xfrm>
          <a:prstGeom prst="rect">
            <a:avLst/>
          </a:prstGeom>
          <a:noFill/>
          <a:ln/>
        </p:spPr>
        <p:txBody>
          <a:bodyPr wrap="none" lIns="0" tIns="0" rIns="0" bIns="0" rtlCol="0" anchor="t"/>
          <a:lstStyle/>
          <a:p>
            <a:pPr algn="l" indent="0" marL="0">
              <a:lnSpc>
                <a:spcPct val="128000"/>
              </a:lnSpc>
              <a:buNone/>
            </a:pPr>
            <a:r>
              <a:rPr lang="en-US" sz="1100" dirty="0">
                <a:solidFill>
                  <a:srgbClr val="8FCB9B"/>
                </a:solidFill>
                <a:latin typeface="Courier New" pitchFamily="34" charset="0"/>
                <a:ea typeface="Courier New" pitchFamily="34" charset="-122"/>
                <a:cs typeface="Courier New" pitchFamily="34" charset="-120"/>
              </a:rPr>
              <a:t>Free space         848k     85%</a:t>
            </a:r>
            <a:endParaRPr lang="en-US" sz="1100" dirty="0"/>
          </a:p>
        </p:txBody>
      </p:sp>
      <p:sp>
        <p:nvSpPr>
          <p:cNvPr id="23" name="Shape 21"/>
          <p:cNvSpPr/>
          <p:nvPr/>
        </p:nvSpPr>
        <p:spPr>
          <a:xfrm>
            <a:off x="6767612" y="3061652"/>
            <a:ext cx="384048" cy="384048"/>
          </a:xfrm>
          <a:prstGeom prst="ellipse">
            <a:avLst/>
          </a:prstGeom>
          <a:solidFill>
            <a:srgbClr val="C96442"/>
          </a:solidFill>
          <a:ln/>
        </p:spPr>
      </p:sp>
      <p:sp>
        <p:nvSpPr>
          <p:cNvPr id="24" name="Text 22"/>
          <p:cNvSpPr txBox="1"/>
          <p:nvPr/>
        </p:nvSpPr>
        <p:spPr>
          <a:xfrm>
            <a:off x="6767612" y="3061652"/>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5" name="Text 23"/>
          <p:cNvSpPr txBox="1"/>
          <p:nvPr/>
        </p:nvSpPr>
        <p:spPr>
          <a:xfrm>
            <a:off x="7334540" y="3061652"/>
            <a:ext cx="1486990" cy="520192"/>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See what you are carrying</a:t>
            </a:r>
            <a:endParaRPr lang="en-US" sz="1600" dirty="0"/>
          </a:p>
        </p:txBody>
      </p:sp>
      <p:sp>
        <p:nvSpPr>
          <p:cNvPr id="26" name="Text 24"/>
          <p:cNvSpPr txBox="1"/>
          <p:nvPr/>
        </p:nvSpPr>
        <p:spPr>
          <a:xfrm>
            <a:off x="9040986" y="3061652"/>
            <a:ext cx="2373470" cy="455168"/>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A breakdown by category, not just a total.</a:t>
            </a:r>
            <a:endParaRPr lang="en-US" sz="1400" dirty="0"/>
          </a:p>
        </p:txBody>
      </p:sp>
      <p:sp>
        <p:nvSpPr>
          <p:cNvPr id="27" name="Shape 25"/>
          <p:cNvSpPr/>
          <p:nvPr/>
        </p:nvSpPr>
        <p:spPr>
          <a:xfrm>
            <a:off x="6767612" y="3682428"/>
            <a:ext cx="4646844" cy="12700"/>
          </a:xfrm>
          <a:prstGeom prst="rect">
            <a:avLst/>
          </a:prstGeom>
          <a:solidFill>
            <a:srgbClr val="E4DFD9"/>
          </a:solidFill>
          <a:ln/>
        </p:spPr>
      </p:sp>
      <p:sp>
        <p:nvSpPr>
          <p:cNvPr id="28" name="Shape 26"/>
          <p:cNvSpPr/>
          <p:nvPr/>
        </p:nvSpPr>
        <p:spPr>
          <a:xfrm>
            <a:off x="6767612" y="3783012"/>
            <a:ext cx="384048" cy="384048"/>
          </a:xfrm>
          <a:prstGeom prst="ellipse">
            <a:avLst/>
          </a:prstGeom>
          <a:solidFill>
            <a:srgbClr val="C96442"/>
          </a:solidFill>
          <a:ln/>
        </p:spPr>
      </p:sp>
      <p:sp>
        <p:nvSpPr>
          <p:cNvPr id="29" name="Text 27"/>
          <p:cNvSpPr txBox="1"/>
          <p:nvPr/>
        </p:nvSpPr>
        <p:spPr>
          <a:xfrm>
            <a:off x="6767612" y="3783012"/>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30" name="Text 28"/>
          <p:cNvSpPr txBox="1"/>
          <p:nvPr/>
        </p:nvSpPr>
        <p:spPr>
          <a:xfrm>
            <a:off x="7334540" y="3783012"/>
            <a:ext cx="1486990" cy="520192"/>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Messages climbing?</a:t>
            </a:r>
            <a:endParaRPr lang="en-US" sz="1600" dirty="0"/>
          </a:p>
        </p:txBody>
      </p:sp>
      <p:sp>
        <p:nvSpPr>
          <p:cNvPr id="31" name="Text 29"/>
          <p:cNvSpPr txBox="1"/>
          <p:nvPr/>
        </p:nvSpPr>
        <p:spPr>
          <a:xfrm>
            <a:off x="9040986" y="3783012"/>
            <a:ext cx="2373470" cy="682752"/>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That is the part /clear and /compact actually shrink.</a:t>
            </a:r>
            <a:endParaRPr lang="en-US" sz="1400" dirty="0"/>
          </a:p>
        </p:txBody>
      </p:sp>
      <p:sp>
        <p:nvSpPr>
          <p:cNvPr id="32" name="Shape 30"/>
          <p:cNvSpPr/>
          <p:nvPr/>
        </p:nvSpPr>
        <p:spPr>
          <a:xfrm>
            <a:off x="6767612" y="4566349"/>
            <a:ext cx="4646844" cy="12700"/>
          </a:xfrm>
          <a:prstGeom prst="rect">
            <a:avLst/>
          </a:prstGeom>
          <a:solidFill>
            <a:srgbClr val="E4DFD9"/>
          </a:solidFill>
          <a:ln/>
        </p:spPr>
      </p:sp>
      <p:sp>
        <p:nvSpPr>
          <p:cNvPr id="33" name="Shape 31"/>
          <p:cNvSpPr/>
          <p:nvPr/>
        </p:nvSpPr>
        <p:spPr>
          <a:xfrm>
            <a:off x="6767612" y="4666932"/>
            <a:ext cx="384048" cy="384048"/>
          </a:xfrm>
          <a:prstGeom prst="ellipse">
            <a:avLst/>
          </a:prstGeom>
          <a:solidFill>
            <a:srgbClr val="C96442"/>
          </a:solidFill>
          <a:ln/>
        </p:spPr>
      </p:sp>
      <p:sp>
        <p:nvSpPr>
          <p:cNvPr id="34" name="Text 32"/>
          <p:cNvSpPr txBox="1"/>
          <p:nvPr/>
        </p:nvSpPr>
        <p:spPr>
          <a:xfrm>
            <a:off x="6767612" y="4666932"/>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35" name="Text 33"/>
          <p:cNvSpPr txBox="1"/>
          <p:nvPr/>
        </p:nvSpPr>
        <p:spPr>
          <a:xfrm>
            <a:off x="7334540" y="4666932"/>
            <a:ext cx="1486990" cy="520192"/>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Setup climbing?</a:t>
            </a:r>
            <a:endParaRPr lang="en-US" sz="1600" dirty="0"/>
          </a:p>
        </p:txBody>
      </p:sp>
      <p:sp>
        <p:nvSpPr>
          <p:cNvPr id="36" name="Text 34"/>
          <p:cNvSpPr txBox="1"/>
          <p:nvPr/>
        </p:nvSpPr>
        <p:spPr>
          <a:xfrm>
            <a:off x="9040986" y="4666932"/>
            <a:ext cx="2373470" cy="682752"/>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Skills, memory and MCP tools cost the same on every single turn.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1012952"/>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04 · CONTEXT MANAGEMENT</a:t>
            </a:r>
            <a:endParaRPr lang="en-US" sz="1200" dirty="0"/>
          </a:p>
        </p:txBody>
      </p:sp>
      <p:sp>
        <p:nvSpPr>
          <p:cNvPr id="3" name="Text 1"/>
          <p:cNvSpPr txBox="1"/>
          <p:nvPr/>
        </p:nvSpPr>
        <p:spPr>
          <a:xfrm>
            <a:off x="777240" y="1296416"/>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Match the Model to the Task</a:t>
            </a:r>
            <a:endParaRPr lang="en-US" sz="4000" dirty="0"/>
          </a:p>
        </p:txBody>
      </p:sp>
      <p:sp>
        <p:nvSpPr>
          <p:cNvPr id="4" name="Text 2"/>
          <p:cNvSpPr txBox="1"/>
          <p:nvPr/>
        </p:nvSpPr>
        <p:spPr>
          <a:xfrm>
            <a:off x="777240" y="2348992"/>
            <a:ext cx="8412480" cy="276352"/>
          </a:xfrm>
          <a:prstGeom prst="rect">
            <a:avLst/>
          </a:prstGeom>
          <a:noFill/>
          <a:ln/>
        </p:spPr>
        <p:txBody>
          <a:bodyPr wrap="square" lIns="0" tIns="0" rIns="0" bIns="0" rtlCol="0" anchor="t"/>
          <a:lstStyle/>
          <a:p>
            <a:pPr algn="l" indent="0" marL="0">
              <a:lnSpc>
                <a:spcPct val="128000"/>
              </a:lnSpc>
              <a:buNone/>
            </a:pPr>
            <a:r>
              <a:rPr lang="en-US" sz="1700" dirty="0">
                <a:solidFill>
                  <a:srgbClr val="6E675F"/>
                </a:solidFill>
                <a:latin typeface="Arial" pitchFamily="34" charset="0"/>
                <a:ea typeface="Arial" pitchFamily="34" charset="-122"/>
                <a:cs typeface="Arial" pitchFamily="34" charset="-120"/>
              </a:rPr>
              <a:t>Set with /model.</a:t>
            </a:r>
            <a:endParaRPr lang="en-US" sz="1700" dirty="0"/>
          </a:p>
        </p:txBody>
      </p:sp>
      <p:sp>
        <p:nvSpPr>
          <p:cNvPr id="5" name="Shape 3"/>
          <p:cNvSpPr/>
          <p:nvPr/>
        </p:nvSpPr>
        <p:spPr>
          <a:xfrm>
            <a:off x="777240" y="2863088"/>
            <a:ext cx="3387242" cy="2651760"/>
          </a:xfrm>
          <a:prstGeom prst="roundRect">
            <a:avLst>
              <a:gd name="adj" fmla="val 1427"/>
            </a:avLst>
          </a:prstGeom>
          <a:solidFill>
            <a:srgbClr val="F4F1ED"/>
          </a:solidFill>
          <a:ln w="12700">
            <a:solidFill>
              <a:srgbClr val="E4DFD9"/>
            </a:solidFill>
            <a:prstDash val="solid"/>
          </a:ln>
        </p:spPr>
      </p:sp>
      <p:sp>
        <p:nvSpPr>
          <p:cNvPr id="6" name="Shape 4"/>
          <p:cNvSpPr/>
          <p:nvPr/>
        </p:nvSpPr>
        <p:spPr>
          <a:xfrm>
            <a:off x="996696" y="3082544"/>
            <a:ext cx="457200" cy="457200"/>
          </a:xfrm>
          <a:prstGeom prst="ellipse">
            <a:avLst/>
          </a:prstGeom>
          <a:solidFill>
            <a:srgbClr val="C96442"/>
          </a:solidFill>
          <a:ln/>
        </p:spPr>
      </p:sp>
      <p:sp>
        <p:nvSpPr>
          <p:cNvPr id="7" name="Text 5"/>
          <p:cNvSpPr txBox="1"/>
          <p:nvPr/>
        </p:nvSpPr>
        <p:spPr>
          <a:xfrm>
            <a:off x="996696" y="3082544"/>
            <a:ext cx="457200" cy="457200"/>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500" dirty="0"/>
          </a:p>
        </p:txBody>
      </p:sp>
      <p:sp>
        <p:nvSpPr>
          <p:cNvPr id="8" name="Text 6"/>
          <p:cNvSpPr txBox="1"/>
          <p:nvPr/>
        </p:nvSpPr>
        <p:spPr>
          <a:xfrm>
            <a:off x="996696" y="3667760"/>
            <a:ext cx="2948330" cy="363728"/>
          </a:xfrm>
          <a:prstGeom prst="rect">
            <a:avLst/>
          </a:prstGeom>
          <a:noFill/>
          <a:ln/>
        </p:spPr>
        <p:txBody>
          <a:bodyPr wrap="square" lIns="0" tIns="0" rIns="0" bIns="0" rtlCol="0" anchor="t"/>
          <a:lstStyle/>
          <a:p>
            <a:pPr algn="l" indent="0" marL="0">
              <a:lnSpc>
                <a:spcPct val="128000"/>
              </a:lnSpc>
              <a:buNone/>
            </a:pPr>
            <a:r>
              <a:rPr lang="en-US" sz="1900" b="1" dirty="0">
                <a:solidFill>
                  <a:srgbClr val="2A2621"/>
                </a:solidFill>
                <a:latin typeface="Arial" pitchFamily="34" charset="0"/>
                <a:ea typeface="Arial" pitchFamily="34" charset="-122"/>
                <a:cs typeface="Arial" pitchFamily="34" charset="-120"/>
              </a:rPr>
              <a:t>Haiku</a:t>
            </a:r>
            <a:endParaRPr lang="en-US" sz="1900" dirty="0"/>
          </a:p>
        </p:txBody>
      </p:sp>
      <p:sp>
        <p:nvSpPr>
          <p:cNvPr id="9" name="Text 7"/>
          <p:cNvSpPr txBox="1"/>
          <p:nvPr/>
        </p:nvSpPr>
        <p:spPr>
          <a:xfrm>
            <a:off x="996696" y="4031488"/>
            <a:ext cx="2948330" cy="519176"/>
          </a:xfrm>
          <a:prstGeom prst="rect">
            <a:avLst/>
          </a:prstGeom>
          <a:noFill/>
          <a:ln/>
        </p:spPr>
        <p:txBody>
          <a:bodyPr wrap="square" lIns="0" tIns="0" rIns="0" bIns="0" rtlCol="0" anchor="t"/>
          <a:lstStyle/>
          <a:p>
            <a:pPr algn="l" indent="0" marL="0">
              <a:lnSpc>
                <a:spcPct val="128000"/>
              </a:lnSpc>
              <a:buNone/>
            </a:pPr>
            <a:r>
              <a:rPr lang="en-US" sz="1400" b="1" dirty="0">
                <a:solidFill>
                  <a:srgbClr val="3E7C4F"/>
                </a:solidFill>
                <a:latin typeface="Arial" pitchFamily="34" charset="0"/>
                <a:ea typeface="Arial" pitchFamily="34" charset="-122"/>
                <a:cs typeface="Arial" pitchFamily="34" charset="-120"/>
              </a:rPr>
              <a:t>Use for  </a:t>
            </a:r>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Quick lookups and simple questions</a:t>
            </a:r>
            <a:endParaRPr lang="en-US" sz="1400" dirty="0"/>
          </a:p>
        </p:txBody>
      </p:sp>
      <p:sp>
        <p:nvSpPr>
          <p:cNvPr id="10" name="Shape 8"/>
          <p:cNvSpPr/>
          <p:nvPr/>
        </p:nvSpPr>
        <p:spPr>
          <a:xfrm>
            <a:off x="996696" y="5021072"/>
            <a:ext cx="1607820" cy="256032"/>
          </a:xfrm>
          <a:prstGeom prst="roundRect">
            <a:avLst>
              <a:gd name="adj" fmla="val 178571"/>
            </a:avLst>
          </a:prstGeom>
          <a:ln w="12700">
            <a:solidFill>
              <a:srgbClr val="C96442"/>
            </a:solidFill>
            <a:prstDash val="solid"/>
          </a:ln>
        </p:spPr>
      </p:sp>
      <p:sp>
        <p:nvSpPr>
          <p:cNvPr id="11" name="Text 9"/>
          <p:cNvSpPr txBox="1"/>
          <p:nvPr/>
        </p:nvSpPr>
        <p:spPr>
          <a:xfrm>
            <a:off x="996696" y="5021072"/>
            <a:ext cx="1607820" cy="256032"/>
          </a:xfrm>
          <a:prstGeom prst="rect">
            <a:avLst/>
          </a:prstGeom>
          <a:noFill/>
          <a:ln/>
        </p:spPr>
        <p:txBody>
          <a:bodyPr wrap="square" lIns="0" tIns="0" rIns="0" bIns="0" rtlCol="0" anchor="ctr"/>
          <a:lstStyle/>
          <a:p>
            <a:pPr algn="ctr" indent="0" marL="0">
              <a:lnSpc>
                <a:spcPct val="128000"/>
              </a:lnSpc>
              <a:buNone/>
            </a:pPr>
            <a:r>
              <a:rPr lang="en-US" sz="1200" b="1" dirty="0">
                <a:solidFill>
                  <a:srgbClr val="C96442"/>
                </a:solidFill>
                <a:latin typeface="Arial" pitchFamily="34" charset="0"/>
                <a:ea typeface="Arial" pitchFamily="34" charset="-122"/>
                <a:cs typeface="Arial" pitchFamily="34" charset="-120"/>
              </a:rPr>
              <a:t>Cheap and fast</a:t>
            </a:r>
            <a:endParaRPr lang="en-US" sz="1200" dirty="0"/>
          </a:p>
        </p:txBody>
      </p:sp>
      <p:sp>
        <p:nvSpPr>
          <p:cNvPr id="12" name="Shape 10"/>
          <p:cNvSpPr/>
          <p:nvPr/>
        </p:nvSpPr>
        <p:spPr>
          <a:xfrm>
            <a:off x="4402226" y="2863088"/>
            <a:ext cx="3387242" cy="2651760"/>
          </a:xfrm>
          <a:prstGeom prst="roundRect">
            <a:avLst>
              <a:gd name="adj" fmla="val 1427"/>
            </a:avLst>
          </a:prstGeom>
          <a:solidFill>
            <a:srgbClr val="F6E7DE"/>
          </a:solidFill>
          <a:ln w="19050">
            <a:solidFill>
              <a:srgbClr val="C96442"/>
            </a:solidFill>
            <a:prstDash val="solid"/>
          </a:ln>
        </p:spPr>
      </p:sp>
      <p:sp>
        <p:nvSpPr>
          <p:cNvPr id="13" name="Shape 11"/>
          <p:cNvSpPr/>
          <p:nvPr/>
        </p:nvSpPr>
        <p:spPr>
          <a:xfrm>
            <a:off x="4621682" y="3082544"/>
            <a:ext cx="457200" cy="457200"/>
          </a:xfrm>
          <a:prstGeom prst="ellipse">
            <a:avLst/>
          </a:prstGeom>
          <a:solidFill>
            <a:srgbClr val="C96442"/>
          </a:solidFill>
          <a:ln/>
        </p:spPr>
      </p:sp>
      <p:sp>
        <p:nvSpPr>
          <p:cNvPr id="14" name="Text 12"/>
          <p:cNvSpPr txBox="1"/>
          <p:nvPr/>
        </p:nvSpPr>
        <p:spPr>
          <a:xfrm>
            <a:off x="4621682" y="3082544"/>
            <a:ext cx="457200" cy="457200"/>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500" dirty="0"/>
          </a:p>
        </p:txBody>
      </p:sp>
      <p:sp>
        <p:nvSpPr>
          <p:cNvPr id="15" name="Text 13"/>
          <p:cNvSpPr txBox="1"/>
          <p:nvPr/>
        </p:nvSpPr>
        <p:spPr>
          <a:xfrm>
            <a:off x="4621682" y="3667760"/>
            <a:ext cx="2948330" cy="363728"/>
          </a:xfrm>
          <a:prstGeom prst="rect">
            <a:avLst/>
          </a:prstGeom>
          <a:noFill/>
          <a:ln/>
        </p:spPr>
        <p:txBody>
          <a:bodyPr wrap="square" lIns="0" tIns="0" rIns="0" bIns="0" rtlCol="0" anchor="t"/>
          <a:lstStyle/>
          <a:p>
            <a:pPr algn="l" indent="0" marL="0">
              <a:lnSpc>
                <a:spcPct val="128000"/>
              </a:lnSpc>
              <a:buNone/>
            </a:pPr>
            <a:r>
              <a:rPr lang="en-US" sz="1900" b="1" dirty="0">
                <a:solidFill>
                  <a:srgbClr val="2A2621"/>
                </a:solidFill>
                <a:latin typeface="Arial" pitchFamily="34" charset="0"/>
                <a:ea typeface="Arial" pitchFamily="34" charset="-122"/>
                <a:cs typeface="Arial" pitchFamily="34" charset="-120"/>
              </a:rPr>
              <a:t>Sonnet</a:t>
            </a:r>
            <a:endParaRPr lang="en-US" sz="1900" dirty="0"/>
          </a:p>
        </p:txBody>
      </p:sp>
      <p:sp>
        <p:nvSpPr>
          <p:cNvPr id="16" name="Text 14"/>
          <p:cNvSpPr txBox="1"/>
          <p:nvPr/>
        </p:nvSpPr>
        <p:spPr>
          <a:xfrm>
            <a:off x="4621682" y="4031488"/>
            <a:ext cx="2948330" cy="519176"/>
          </a:xfrm>
          <a:prstGeom prst="rect">
            <a:avLst/>
          </a:prstGeom>
          <a:noFill/>
          <a:ln/>
        </p:spPr>
        <p:txBody>
          <a:bodyPr wrap="square" lIns="0" tIns="0" rIns="0" bIns="0" rtlCol="0" anchor="t"/>
          <a:lstStyle/>
          <a:p>
            <a:pPr algn="l" indent="0" marL="0">
              <a:lnSpc>
                <a:spcPct val="128000"/>
              </a:lnSpc>
              <a:buNone/>
            </a:pPr>
            <a:r>
              <a:rPr lang="en-US" sz="1400" b="1" dirty="0">
                <a:solidFill>
                  <a:srgbClr val="3E7C4F"/>
                </a:solidFill>
                <a:latin typeface="Arial" pitchFamily="34" charset="0"/>
                <a:ea typeface="Arial" pitchFamily="34" charset="-122"/>
                <a:cs typeface="Arial" pitchFamily="34" charset="-120"/>
              </a:rPr>
              <a:t>Use for  </a:t>
            </a:r>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Most day-to-day coding work</a:t>
            </a:r>
            <a:endParaRPr lang="en-US" sz="1400" dirty="0"/>
          </a:p>
        </p:txBody>
      </p:sp>
      <p:sp>
        <p:nvSpPr>
          <p:cNvPr id="17" name="Shape 15"/>
          <p:cNvSpPr/>
          <p:nvPr/>
        </p:nvSpPr>
        <p:spPr>
          <a:xfrm>
            <a:off x="4621682" y="5021072"/>
            <a:ext cx="1417320" cy="256032"/>
          </a:xfrm>
          <a:prstGeom prst="roundRect">
            <a:avLst>
              <a:gd name="adj" fmla="val 178571"/>
            </a:avLst>
          </a:prstGeom>
          <a:solidFill>
            <a:srgbClr val="C96442"/>
          </a:solidFill>
          <a:ln/>
        </p:spPr>
      </p:sp>
      <p:sp>
        <p:nvSpPr>
          <p:cNvPr id="18" name="Text 16"/>
          <p:cNvSpPr txBox="1"/>
          <p:nvPr/>
        </p:nvSpPr>
        <p:spPr>
          <a:xfrm>
            <a:off x="4621682" y="5021072"/>
            <a:ext cx="1417320" cy="256032"/>
          </a:xfrm>
          <a:prstGeom prst="rect">
            <a:avLst/>
          </a:prstGeom>
          <a:noFill/>
          <a:ln/>
        </p:spPr>
        <p:txBody>
          <a:bodyPr wrap="square" lIns="0" tIns="0" rIns="0" bIns="0" rtlCol="0" anchor="ctr"/>
          <a:lstStyle/>
          <a:p>
            <a:pPr algn="ctr" indent="0" marL="0">
              <a:lnSpc>
                <a:spcPct val="128000"/>
              </a:lnSpc>
              <a:buNone/>
            </a:pPr>
            <a:r>
              <a:rPr lang="en-US" sz="1200" b="1" dirty="0">
                <a:solidFill>
                  <a:srgbClr val="FFFFFF"/>
                </a:solidFill>
                <a:latin typeface="Arial" pitchFamily="34" charset="0"/>
                <a:ea typeface="Arial" pitchFamily="34" charset="-122"/>
                <a:cs typeface="Arial" pitchFamily="34" charset="-120"/>
              </a:rPr>
              <a:t>Your default</a:t>
            </a:r>
            <a:endParaRPr lang="en-US" sz="1200" dirty="0"/>
          </a:p>
        </p:txBody>
      </p:sp>
      <p:sp>
        <p:nvSpPr>
          <p:cNvPr id="19" name="Shape 17"/>
          <p:cNvSpPr/>
          <p:nvPr/>
        </p:nvSpPr>
        <p:spPr>
          <a:xfrm>
            <a:off x="8027213" y="2863088"/>
            <a:ext cx="3387242" cy="2651760"/>
          </a:xfrm>
          <a:prstGeom prst="roundRect">
            <a:avLst>
              <a:gd name="adj" fmla="val 1427"/>
            </a:avLst>
          </a:prstGeom>
          <a:solidFill>
            <a:srgbClr val="F4F1ED"/>
          </a:solidFill>
          <a:ln w="12700">
            <a:solidFill>
              <a:srgbClr val="E4DFD9"/>
            </a:solidFill>
            <a:prstDash val="solid"/>
          </a:ln>
        </p:spPr>
      </p:sp>
      <p:sp>
        <p:nvSpPr>
          <p:cNvPr id="20" name="Shape 18"/>
          <p:cNvSpPr/>
          <p:nvPr/>
        </p:nvSpPr>
        <p:spPr>
          <a:xfrm>
            <a:off x="8246669" y="3082544"/>
            <a:ext cx="457200" cy="457200"/>
          </a:xfrm>
          <a:prstGeom prst="ellipse">
            <a:avLst/>
          </a:prstGeom>
          <a:solidFill>
            <a:srgbClr val="C96442"/>
          </a:solidFill>
          <a:ln/>
        </p:spPr>
      </p:sp>
      <p:sp>
        <p:nvSpPr>
          <p:cNvPr id="21" name="Text 19"/>
          <p:cNvSpPr txBox="1"/>
          <p:nvPr/>
        </p:nvSpPr>
        <p:spPr>
          <a:xfrm>
            <a:off x="8246669" y="3082544"/>
            <a:ext cx="457200" cy="457200"/>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500" dirty="0"/>
          </a:p>
        </p:txBody>
      </p:sp>
      <p:sp>
        <p:nvSpPr>
          <p:cNvPr id="22" name="Text 20"/>
          <p:cNvSpPr txBox="1"/>
          <p:nvPr/>
        </p:nvSpPr>
        <p:spPr>
          <a:xfrm>
            <a:off x="8246669" y="3667760"/>
            <a:ext cx="2948330" cy="363728"/>
          </a:xfrm>
          <a:prstGeom prst="rect">
            <a:avLst/>
          </a:prstGeom>
          <a:noFill/>
          <a:ln/>
        </p:spPr>
        <p:txBody>
          <a:bodyPr wrap="square" lIns="0" tIns="0" rIns="0" bIns="0" rtlCol="0" anchor="t"/>
          <a:lstStyle/>
          <a:p>
            <a:pPr algn="l" indent="0" marL="0">
              <a:lnSpc>
                <a:spcPct val="128000"/>
              </a:lnSpc>
              <a:buNone/>
            </a:pPr>
            <a:r>
              <a:rPr lang="en-US" sz="1900" b="1" dirty="0">
                <a:solidFill>
                  <a:srgbClr val="2A2621"/>
                </a:solidFill>
                <a:latin typeface="Arial" pitchFamily="34" charset="0"/>
                <a:ea typeface="Arial" pitchFamily="34" charset="-122"/>
                <a:cs typeface="Arial" pitchFamily="34" charset="-120"/>
              </a:rPr>
              <a:t>Opus</a:t>
            </a:r>
            <a:endParaRPr lang="en-US" sz="1900" dirty="0"/>
          </a:p>
        </p:txBody>
      </p:sp>
      <p:sp>
        <p:nvSpPr>
          <p:cNvPr id="23" name="Text 21"/>
          <p:cNvSpPr txBox="1"/>
          <p:nvPr/>
        </p:nvSpPr>
        <p:spPr>
          <a:xfrm>
            <a:off x="8246669" y="4031488"/>
            <a:ext cx="2948330" cy="519176"/>
          </a:xfrm>
          <a:prstGeom prst="rect">
            <a:avLst/>
          </a:prstGeom>
          <a:noFill/>
          <a:ln/>
        </p:spPr>
        <p:txBody>
          <a:bodyPr wrap="square" lIns="0" tIns="0" rIns="0" bIns="0" rtlCol="0" anchor="t"/>
          <a:lstStyle/>
          <a:p>
            <a:pPr algn="l" indent="0" marL="0">
              <a:lnSpc>
                <a:spcPct val="128000"/>
              </a:lnSpc>
              <a:buNone/>
            </a:pPr>
            <a:r>
              <a:rPr lang="en-US" sz="1400" b="1" dirty="0">
                <a:solidFill>
                  <a:srgbClr val="3E7C4F"/>
                </a:solidFill>
                <a:latin typeface="Arial" pitchFamily="34" charset="0"/>
                <a:ea typeface="Arial" pitchFamily="34" charset="-122"/>
                <a:cs typeface="Arial" pitchFamily="34" charset="-120"/>
              </a:rPr>
              <a:t>Use for  </a:t>
            </a:r>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Complex problems and planning</a:t>
            </a:r>
            <a:endParaRPr lang="en-US" sz="1400" dirty="0"/>
          </a:p>
        </p:txBody>
      </p:sp>
      <p:sp>
        <p:nvSpPr>
          <p:cNvPr id="24" name="Shape 22"/>
          <p:cNvSpPr/>
          <p:nvPr/>
        </p:nvSpPr>
        <p:spPr>
          <a:xfrm>
            <a:off x="8246669" y="5021072"/>
            <a:ext cx="1607820" cy="256032"/>
          </a:xfrm>
          <a:prstGeom prst="roundRect">
            <a:avLst>
              <a:gd name="adj" fmla="val 178571"/>
            </a:avLst>
          </a:prstGeom>
          <a:ln w="12700">
            <a:solidFill>
              <a:srgbClr val="C96442"/>
            </a:solidFill>
            <a:prstDash val="solid"/>
          </a:ln>
        </p:spPr>
      </p:sp>
      <p:sp>
        <p:nvSpPr>
          <p:cNvPr id="25" name="Text 23"/>
          <p:cNvSpPr txBox="1"/>
          <p:nvPr/>
        </p:nvSpPr>
        <p:spPr>
          <a:xfrm>
            <a:off x="8246669" y="5021072"/>
            <a:ext cx="1607820" cy="256032"/>
          </a:xfrm>
          <a:prstGeom prst="rect">
            <a:avLst/>
          </a:prstGeom>
          <a:noFill/>
          <a:ln/>
        </p:spPr>
        <p:txBody>
          <a:bodyPr wrap="square" lIns="0" tIns="0" rIns="0" bIns="0" rtlCol="0" anchor="ctr"/>
          <a:lstStyle/>
          <a:p>
            <a:pPr algn="ctr" indent="0" marL="0">
              <a:lnSpc>
                <a:spcPct val="128000"/>
              </a:lnSpc>
              <a:buNone/>
            </a:pPr>
            <a:r>
              <a:rPr lang="en-US" sz="1200" b="1" dirty="0">
                <a:solidFill>
                  <a:srgbClr val="C96442"/>
                </a:solidFill>
                <a:latin typeface="Arial" pitchFamily="34" charset="0"/>
                <a:ea typeface="Arial" pitchFamily="34" charset="-122"/>
                <a:cs typeface="Arial" pitchFamily="34" charset="-120"/>
              </a:rPr>
              <a:t>When it's hard</a:t>
            </a:r>
            <a:endParaRPr lang="en-US" sz="1200" dirty="0"/>
          </a:p>
        </p:txBody>
      </p:sp>
      <p:sp>
        <p:nvSpPr>
          <p:cNvPr id="26" name="Text 24"/>
          <p:cNvSpPr txBox="1"/>
          <p:nvPr/>
        </p:nvSpPr>
        <p:spPr>
          <a:xfrm>
            <a:off x="777240" y="5880608"/>
            <a:ext cx="10637215" cy="211328"/>
          </a:xfrm>
          <a:prstGeom prst="rect">
            <a:avLst/>
          </a:prstGeom>
          <a:noFill/>
          <a:ln/>
        </p:spPr>
        <p:txBody>
          <a:bodyPr wrap="square" lIns="0" tIns="0" rIns="0" bIns="0" rtlCol="0" anchor="t"/>
          <a:lstStyle/>
          <a:p>
            <a:pPr algn="l" indent="0" marL="0">
              <a:lnSpc>
                <a:spcPct val="128000"/>
              </a:lnSpc>
              <a:buNone/>
            </a:pPr>
            <a:r>
              <a:rPr lang="en-US" sz="1300" i="1" dirty="0">
                <a:solidFill>
                  <a:srgbClr val="6E675F"/>
                </a:solidFill>
                <a:latin typeface="Arial" pitchFamily="34" charset="0"/>
                <a:ea typeface="Arial" pitchFamily="34" charset="-122"/>
                <a:cs typeface="Arial" pitchFamily="34" charset="-120"/>
              </a:rPr>
              <a:t>Too high can be expensive, too low costs retries.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1247140"/>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04 · CONTEXT MANAGEMENT</a:t>
            </a:r>
            <a:endParaRPr lang="en-US" sz="1200" dirty="0"/>
          </a:p>
        </p:txBody>
      </p:sp>
      <p:sp>
        <p:nvSpPr>
          <p:cNvPr id="3" name="Text 1"/>
          <p:cNvSpPr txBox="1"/>
          <p:nvPr/>
        </p:nvSpPr>
        <p:spPr>
          <a:xfrm>
            <a:off x="777240" y="1530604"/>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Effort Is the Second Dial</a:t>
            </a:r>
            <a:endParaRPr lang="en-US" sz="4000" dirty="0"/>
          </a:p>
        </p:txBody>
      </p:sp>
      <p:sp>
        <p:nvSpPr>
          <p:cNvPr id="4" name="Text 2"/>
          <p:cNvSpPr txBox="1"/>
          <p:nvPr/>
        </p:nvSpPr>
        <p:spPr>
          <a:xfrm>
            <a:off x="777240" y="2583180"/>
            <a:ext cx="8412480" cy="552704"/>
          </a:xfrm>
          <a:prstGeom prst="rect">
            <a:avLst/>
          </a:prstGeom>
          <a:noFill/>
          <a:ln/>
        </p:spPr>
        <p:txBody>
          <a:bodyPr wrap="square" lIns="0" tIns="0" rIns="0" bIns="0" rtlCol="0" anchor="t"/>
          <a:lstStyle/>
          <a:p>
            <a:pPr algn="l" indent="0" marL="0">
              <a:lnSpc>
                <a:spcPct val="128000"/>
              </a:lnSpc>
              <a:buNone/>
            </a:pPr>
            <a:r>
              <a:rPr lang="en-US" sz="1700" dirty="0">
                <a:solidFill>
                  <a:srgbClr val="6E675F"/>
                </a:solidFill>
                <a:latin typeface="Arial" pitchFamily="34" charset="0"/>
                <a:ea typeface="Arial" pitchFamily="34" charset="-122"/>
                <a:cs typeface="Arial" pitchFamily="34" charset="-120"/>
              </a:rPr>
              <a:t>How much thinking the model spends before it answers — set independently of the model.</a:t>
            </a:r>
            <a:endParaRPr lang="en-US" sz="1700" dirty="0"/>
          </a:p>
        </p:txBody>
      </p:sp>
      <p:sp>
        <p:nvSpPr>
          <p:cNvPr id="5" name="Shape 3"/>
          <p:cNvSpPr/>
          <p:nvPr/>
        </p:nvSpPr>
        <p:spPr>
          <a:xfrm>
            <a:off x="2557933" y="3842512"/>
            <a:ext cx="1188720" cy="1188720"/>
          </a:xfrm>
          <a:prstGeom prst="ellipse">
            <a:avLst/>
          </a:prstGeom>
          <a:solidFill>
            <a:srgbClr val="F4F1ED"/>
          </a:solidFill>
          <a:ln w="19050">
            <a:solidFill>
              <a:srgbClr val="E4DFD9"/>
            </a:solidFill>
            <a:prstDash val="solid"/>
          </a:ln>
        </p:spPr>
      </p:sp>
      <p:sp>
        <p:nvSpPr>
          <p:cNvPr id="6" name="Shape 4"/>
          <p:cNvSpPr/>
          <p:nvPr/>
        </p:nvSpPr>
        <p:spPr>
          <a:xfrm>
            <a:off x="2807565" y="4092143"/>
            <a:ext cx="689458" cy="689458"/>
          </a:xfrm>
          <a:prstGeom prst="ellipse">
            <a:avLst/>
          </a:prstGeom>
          <a:solidFill>
            <a:srgbClr val="C96442"/>
          </a:solidFill>
          <a:ln/>
        </p:spPr>
      </p:sp>
      <p:sp>
        <p:nvSpPr>
          <p:cNvPr id="7" name="Shape 5"/>
          <p:cNvSpPr/>
          <p:nvPr/>
        </p:nvSpPr>
        <p:spPr>
          <a:xfrm>
            <a:off x="2438036" y="4784344"/>
            <a:ext cx="82296" cy="82296"/>
          </a:xfrm>
          <a:prstGeom prst="ellipse">
            <a:avLst/>
          </a:prstGeom>
          <a:solidFill>
            <a:srgbClr val="E4DFD9"/>
          </a:solidFill>
          <a:ln/>
        </p:spPr>
      </p:sp>
      <p:sp>
        <p:nvSpPr>
          <p:cNvPr id="8" name="Text 6"/>
          <p:cNvSpPr txBox="1"/>
          <p:nvPr/>
        </p:nvSpPr>
        <p:spPr>
          <a:xfrm>
            <a:off x="1561197" y="4880356"/>
            <a:ext cx="822960" cy="231140"/>
          </a:xfrm>
          <a:prstGeom prst="rect">
            <a:avLst/>
          </a:prstGeom>
          <a:noFill/>
          <a:ln/>
        </p:spPr>
        <p:txBody>
          <a:bodyPr wrap="square" lIns="0" tIns="0" rIns="0" bIns="0" rtlCol="0" anchor="t"/>
          <a:lstStyle/>
          <a:p>
            <a:pPr algn="r" indent="0" marL="0">
              <a:lnSpc>
                <a:spcPct val="128000"/>
              </a:lnSpc>
              <a:buNone/>
            </a:pPr>
            <a:r>
              <a:rPr lang="en-US" sz="1300" dirty="0">
                <a:solidFill>
                  <a:srgbClr val="6E675F"/>
                </a:solidFill>
                <a:latin typeface="Arial" pitchFamily="34" charset="0"/>
                <a:ea typeface="Arial" pitchFamily="34" charset="-122"/>
                <a:cs typeface="Arial" pitchFamily="34" charset="-120"/>
              </a:rPr>
              <a:t>low</a:t>
            </a:r>
            <a:endParaRPr lang="en-US" sz="1300" dirty="0"/>
          </a:p>
        </p:txBody>
      </p:sp>
      <p:sp>
        <p:nvSpPr>
          <p:cNvPr id="9" name="Shape 7"/>
          <p:cNvSpPr/>
          <p:nvPr/>
        </p:nvSpPr>
        <p:spPr>
          <a:xfrm>
            <a:off x="2593257" y="3782036"/>
            <a:ext cx="118872" cy="118872"/>
          </a:xfrm>
          <a:prstGeom prst="ellipse">
            <a:avLst/>
          </a:prstGeom>
          <a:solidFill>
            <a:srgbClr val="C96442"/>
          </a:solidFill>
          <a:ln/>
        </p:spPr>
      </p:sp>
      <p:sp>
        <p:nvSpPr>
          <p:cNvPr id="10" name="Text 8"/>
          <p:cNvSpPr txBox="1"/>
          <p:nvPr/>
        </p:nvSpPr>
        <p:spPr>
          <a:xfrm>
            <a:off x="1759201" y="3526275"/>
            <a:ext cx="822960" cy="231140"/>
          </a:xfrm>
          <a:prstGeom prst="rect">
            <a:avLst/>
          </a:prstGeom>
          <a:noFill/>
          <a:ln/>
        </p:spPr>
        <p:txBody>
          <a:bodyPr wrap="square" lIns="0" tIns="0" rIns="0" bIns="0" rtlCol="0" anchor="t"/>
          <a:lstStyle/>
          <a:p>
            <a:pPr algn="r" indent="0" marL="0">
              <a:lnSpc>
                <a:spcPct val="128000"/>
              </a:lnSpc>
              <a:buNone/>
            </a:pPr>
            <a:r>
              <a:rPr lang="en-US" sz="1300" b="1" dirty="0">
                <a:solidFill>
                  <a:srgbClr val="C96442"/>
                </a:solidFill>
                <a:latin typeface="Arial" pitchFamily="34" charset="0"/>
                <a:ea typeface="Arial" pitchFamily="34" charset="-122"/>
                <a:cs typeface="Arial" pitchFamily="34" charset="-120"/>
              </a:rPr>
              <a:t>medium</a:t>
            </a:r>
            <a:endParaRPr lang="en-US" sz="1300" dirty="0"/>
          </a:p>
        </p:txBody>
      </p:sp>
      <p:sp>
        <p:nvSpPr>
          <p:cNvPr id="11" name="Shape 9"/>
          <p:cNvSpPr/>
          <p:nvPr/>
        </p:nvSpPr>
        <p:spPr>
          <a:xfrm>
            <a:off x="3610746" y="3800324"/>
            <a:ext cx="82296" cy="82296"/>
          </a:xfrm>
          <a:prstGeom prst="ellipse">
            <a:avLst/>
          </a:prstGeom>
          <a:solidFill>
            <a:srgbClr val="E4DFD9"/>
          </a:solidFill>
          <a:ln/>
        </p:spPr>
      </p:sp>
      <p:sp>
        <p:nvSpPr>
          <p:cNvPr id="12" name="Text 10"/>
          <p:cNvSpPr txBox="1"/>
          <p:nvPr/>
        </p:nvSpPr>
        <p:spPr>
          <a:xfrm>
            <a:off x="3722425" y="3526275"/>
            <a:ext cx="822960" cy="231140"/>
          </a:xfrm>
          <a:prstGeom prst="rect">
            <a:avLst/>
          </a:prstGeom>
          <a:noFill/>
          <a:ln/>
        </p:spPr>
        <p:txBody>
          <a:bodyPr wrap="square" lIns="0" tIns="0" rIns="0" bIns="0" rtlCol="0" anchor="t"/>
          <a:lstStyle/>
          <a:p>
            <a:pPr algn="l" indent="0" marL="0">
              <a:lnSpc>
                <a:spcPct val="128000"/>
              </a:lnSpc>
              <a:buNone/>
            </a:pPr>
            <a:r>
              <a:rPr lang="en-US" sz="1300" dirty="0">
                <a:solidFill>
                  <a:srgbClr val="6E675F"/>
                </a:solidFill>
                <a:latin typeface="Arial" pitchFamily="34" charset="0"/>
                <a:ea typeface="Arial" pitchFamily="34" charset="-122"/>
                <a:cs typeface="Arial" pitchFamily="34" charset="-120"/>
              </a:rPr>
              <a:t>high</a:t>
            </a:r>
            <a:endParaRPr lang="en-US" sz="1300" dirty="0"/>
          </a:p>
        </p:txBody>
      </p:sp>
      <p:sp>
        <p:nvSpPr>
          <p:cNvPr id="13" name="Shape 11"/>
          <p:cNvSpPr/>
          <p:nvPr/>
        </p:nvSpPr>
        <p:spPr>
          <a:xfrm>
            <a:off x="3784255" y="4784344"/>
            <a:ext cx="82296" cy="82296"/>
          </a:xfrm>
          <a:prstGeom prst="ellipse">
            <a:avLst/>
          </a:prstGeom>
          <a:solidFill>
            <a:srgbClr val="E4DFD9"/>
          </a:solidFill>
          <a:ln/>
        </p:spPr>
      </p:sp>
      <p:sp>
        <p:nvSpPr>
          <p:cNvPr id="14" name="Text 12"/>
          <p:cNvSpPr txBox="1"/>
          <p:nvPr/>
        </p:nvSpPr>
        <p:spPr>
          <a:xfrm>
            <a:off x="3920430" y="4880356"/>
            <a:ext cx="822960" cy="231140"/>
          </a:xfrm>
          <a:prstGeom prst="rect">
            <a:avLst/>
          </a:prstGeom>
          <a:noFill/>
          <a:ln/>
        </p:spPr>
        <p:txBody>
          <a:bodyPr wrap="square" lIns="0" tIns="0" rIns="0" bIns="0" rtlCol="0" anchor="t"/>
          <a:lstStyle/>
          <a:p>
            <a:pPr algn="l" indent="0" marL="0">
              <a:lnSpc>
                <a:spcPct val="128000"/>
              </a:lnSpc>
              <a:buNone/>
            </a:pPr>
            <a:r>
              <a:rPr lang="en-US" sz="1300" dirty="0">
                <a:solidFill>
                  <a:srgbClr val="6E675F"/>
                </a:solidFill>
                <a:latin typeface="Arial" pitchFamily="34" charset="0"/>
                <a:ea typeface="Arial" pitchFamily="34" charset="-122"/>
                <a:cs typeface="Arial" pitchFamily="34" charset="-120"/>
              </a:rPr>
              <a:t>xhigh</a:t>
            </a:r>
            <a:endParaRPr lang="en-US" sz="1300" dirty="0"/>
          </a:p>
        </p:txBody>
      </p:sp>
      <p:sp>
        <p:nvSpPr>
          <p:cNvPr id="15" name="Shape 13"/>
          <p:cNvSpPr/>
          <p:nvPr/>
        </p:nvSpPr>
        <p:spPr>
          <a:xfrm>
            <a:off x="2833065" y="4067828"/>
            <a:ext cx="118872" cy="118872"/>
          </a:xfrm>
          <a:prstGeom prst="ellipse">
            <a:avLst/>
          </a:prstGeom>
          <a:solidFill>
            <a:srgbClr val="FFFFFF"/>
          </a:solidFill>
          <a:ln/>
        </p:spPr>
      </p:sp>
      <p:sp>
        <p:nvSpPr>
          <p:cNvPr id="16" name="Text 14"/>
          <p:cNvSpPr txBox="1"/>
          <p:nvPr/>
        </p:nvSpPr>
        <p:spPr>
          <a:xfrm>
            <a:off x="777240" y="5646420"/>
            <a:ext cx="4750107" cy="211328"/>
          </a:xfrm>
          <a:prstGeom prst="rect">
            <a:avLst/>
          </a:prstGeom>
          <a:noFill/>
          <a:ln/>
        </p:spPr>
        <p:txBody>
          <a:bodyPr wrap="square" lIns="0" tIns="0" rIns="0" bIns="0" rtlCol="0" anchor="t"/>
          <a:lstStyle/>
          <a:p>
            <a:pPr algn="ctr" indent="0" marL="0">
              <a:lnSpc>
                <a:spcPct val="128000"/>
              </a:lnSpc>
              <a:buNone/>
            </a:pPr>
            <a:r>
              <a:rPr lang="en-US" sz="1300" dirty="0">
                <a:solidFill>
                  <a:srgbClr val="6E675F"/>
                </a:solidFill>
                <a:latin typeface="Courier New" pitchFamily="34" charset="0"/>
                <a:ea typeface="Courier New" pitchFamily="34" charset="-122"/>
                <a:cs typeface="Courier New" pitchFamily="34" charset="-120"/>
              </a:rPr>
              <a:t>effortLevel: medium</a:t>
            </a:r>
            <a:endParaRPr lang="en-US" sz="1300" dirty="0"/>
          </a:p>
        </p:txBody>
      </p:sp>
      <p:sp>
        <p:nvSpPr>
          <p:cNvPr id="17" name="Shape 15"/>
          <p:cNvSpPr/>
          <p:nvPr/>
        </p:nvSpPr>
        <p:spPr>
          <a:xfrm>
            <a:off x="5838243" y="3373628"/>
            <a:ext cx="5576212" cy="1830263"/>
          </a:xfrm>
          <a:prstGeom prst="roundRect">
            <a:avLst>
              <a:gd name="adj" fmla="val 2496"/>
            </a:avLst>
          </a:prstGeom>
          <a:solidFill>
            <a:srgbClr val="F6E7DE"/>
          </a:solidFill>
          <a:ln/>
        </p:spPr>
      </p:sp>
      <p:sp>
        <p:nvSpPr>
          <p:cNvPr id="18" name="Shape 16"/>
          <p:cNvSpPr/>
          <p:nvPr/>
        </p:nvSpPr>
        <p:spPr>
          <a:xfrm>
            <a:off x="6067574" y="4087592"/>
            <a:ext cx="402336" cy="402336"/>
          </a:xfrm>
          <a:prstGeom prst="ellipse">
            <a:avLst/>
          </a:prstGeom>
          <a:solidFill>
            <a:srgbClr val="C96442"/>
          </a:solidFill>
          <a:ln/>
        </p:spPr>
      </p:sp>
      <p:sp>
        <p:nvSpPr>
          <p:cNvPr id="19" name="Text 17"/>
          <p:cNvSpPr txBox="1"/>
          <p:nvPr/>
        </p:nvSpPr>
        <p:spPr>
          <a:xfrm>
            <a:off x="6067574" y="4087592"/>
            <a:ext cx="402336" cy="402336"/>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20" name="Text 18"/>
          <p:cNvSpPr txBox="1"/>
          <p:nvPr/>
        </p:nvSpPr>
        <p:spPr>
          <a:xfrm>
            <a:off x="6634502" y="3602960"/>
            <a:ext cx="4550621" cy="276352"/>
          </a:xfrm>
          <a:prstGeom prst="rect">
            <a:avLst/>
          </a:prstGeom>
          <a:noFill/>
          <a:ln/>
        </p:spPr>
        <p:txBody>
          <a:bodyPr wrap="square" lIns="0" tIns="0" rIns="0" bIns="0" rtlCol="0" anchor="t"/>
          <a:lstStyle/>
          <a:p>
            <a:pPr algn="l" indent="0" marL="0">
              <a:lnSpc>
                <a:spcPct val="128000"/>
              </a:lnSpc>
              <a:buNone/>
            </a:pPr>
            <a:r>
              <a:rPr lang="en-US" sz="1700" b="1" dirty="0">
                <a:solidFill>
                  <a:srgbClr val="C96442"/>
                </a:solidFill>
                <a:latin typeface="Arial" pitchFamily="34" charset="0"/>
                <a:ea typeface="Arial" pitchFamily="34" charset="-122"/>
                <a:cs typeface="Arial" pitchFamily="34" charset="-120"/>
              </a:rPr>
              <a:t>Two pairings worth knowing</a:t>
            </a:r>
            <a:endParaRPr lang="en-US" sz="1700" dirty="0"/>
          </a:p>
        </p:txBody>
      </p:sp>
      <p:sp>
        <p:nvSpPr>
          <p:cNvPr id="21" name="Text 19"/>
          <p:cNvSpPr txBox="1"/>
          <p:nvPr/>
        </p:nvSpPr>
        <p:spPr>
          <a:xfrm>
            <a:off x="6634502" y="3934176"/>
            <a:ext cx="4550621" cy="1040384"/>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Sonnet + medium is the everyday default. Opus + low gets you the stronger model without paying for deliberation you don't need.</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658368"/>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04 · CONTEXT MANAGEMENT</a:t>
            </a:r>
            <a:endParaRPr lang="en-US" sz="1200" dirty="0"/>
          </a:p>
        </p:txBody>
      </p:sp>
      <p:sp>
        <p:nvSpPr>
          <p:cNvPr id="3" name="Text 1"/>
          <p:cNvSpPr txBox="1"/>
          <p:nvPr/>
        </p:nvSpPr>
        <p:spPr>
          <a:xfrm>
            <a:off x="777240" y="941832"/>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Plan First and Save Tokens</a:t>
            </a:r>
            <a:endParaRPr lang="en-US" sz="4000" dirty="0"/>
          </a:p>
        </p:txBody>
      </p:sp>
      <p:sp>
        <p:nvSpPr>
          <p:cNvPr id="4" name="Shape 2"/>
          <p:cNvSpPr/>
          <p:nvPr/>
        </p:nvSpPr>
        <p:spPr>
          <a:xfrm>
            <a:off x="777240" y="1994408"/>
            <a:ext cx="5163160" cy="3034284"/>
          </a:xfrm>
          <a:prstGeom prst="roundRect">
            <a:avLst>
              <a:gd name="adj" fmla="val 727"/>
            </a:avLst>
          </a:prstGeom>
          <a:solidFill>
            <a:srgbClr val="1A1714"/>
          </a:solidFill>
          <a:ln/>
        </p:spPr>
      </p:sp>
      <p:sp>
        <p:nvSpPr>
          <p:cNvPr id="5" name="Shape 3"/>
          <p:cNvSpPr/>
          <p:nvPr/>
        </p:nvSpPr>
        <p:spPr>
          <a:xfrm>
            <a:off x="777240" y="1994408"/>
            <a:ext cx="5163160" cy="274320"/>
          </a:xfrm>
          <a:prstGeom prst="roundRect">
            <a:avLst>
              <a:gd name="adj" fmla="val 88889"/>
            </a:avLst>
          </a:prstGeom>
          <a:solidFill>
            <a:srgbClr val="332E28"/>
          </a:solidFill>
          <a:ln/>
        </p:spPr>
      </p:sp>
      <p:sp>
        <p:nvSpPr>
          <p:cNvPr id="6" name="Shape 4"/>
          <p:cNvSpPr/>
          <p:nvPr/>
        </p:nvSpPr>
        <p:spPr>
          <a:xfrm>
            <a:off x="777240" y="2195576"/>
            <a:ext cx="5163160" cy="73152"/>
          </a:xfrm>
          <a:prstGeom prst="rect">
            <a:avLst/>
          </a:prstGeom>
          <a:solidFill>
            <a:srgbClr val="332E28"/>
          </a:solidFill>
          <a:ln/>
        </p:spPr>
      </p:sp>
      <p:sp>
        <p:nvSpPr>
          <p:cNvPr id="7" name="Shape 5"/>
          <p:cNvSpPr/>
          <p:nvPr/>
        </p:nvSpPr>
        <p:spPr>
          <a:xfrm>
            <a:off x="905256" y="2090420"/>
            <a:ext cx="82296" cy="82296"/>
          </a:xfrm>
          <a:prstGeom prst="ellipse">
            <a:avLst/>
          </a:prstGeom>
          <a:solidFill>
            <a:srgbClr val="E8938A"/>
          </a:solidFill>
          <a:ln/>
        </p:spPr>
      </p:sp>
      <p:sp>
        <p:nvSpPr>
          <p:cNvPr id="8" name="Shape 6"/>
          <p:cNvSpPr/>
          <p:nvPr/>
        </p:nvSpPr>
        <p:spPr>
          <a:xfrm>
            <a:off x="1051560" y="2090420"/>
            <a:ext cx="82296" cy="82296"/>
          </a:xfrm>
          <a:prstGeom prst="ellipse">
            <a:avLst/>
          </a:prstGeom>
          <a:solidFill>
            <a:srgbClr val="9C948A"/>
          </a:solidFill>
          <a:ln/>
        </p:spPr>
      </p:sp>
      <p:sp>
        <p:nvSpPr>
          <p:cNvPr id="9" name="Shape 7"/>
          <p:cNvSpPr/>
          <p:nvPr/>
        </p:nvSpPr>
        <p:spPr>
          <a:xfrm>
            <a:off x="1197864" y="2090420"/>
            <a:ext cx="82296" cy="82296"/>
          </a:xfrm>
          <a:prstGeom prst="ellipse">
            <a:avLst/>
          </a:prstGeom>
          <a:solidFill>
            <a:srgbClr val="8FCB9B"/>
          </a:solidFill>
          <a:ln/>
        </p:spPr>
      </p:sp>
      <p:sp>
        <p:nvSpPr>
          <p:cNvPr id="10" name="Text 8"/>
          <p:cNvSpPr txBox="1"/>
          <p:nvPr/>
        </p:nvSpPr>
        <p:spPr>
          <a:xfrm>
            <a:off x="1380744" y="2021840"/>
            <a:ext cx="4431640" cy="219456"/>
          </a:xfrm>
          <a:prstGeom prst="rect">
            <a:avLst/>
          </a:prstGeom>
          <a:noFill/>
          <a:ln/>
        </p:spPr>
        <p:txBody>
          <a:bodyPr wrap="square" lIns="0" tIns="0" rIns="0" bIns="0" rtlCol="0" anchor="ctr"/>
          <a:lstStyle/>
          <a:p>
            <a:pPr algn="l" indent="0" marL="0">
              <a:lnSpc>
                <a:spcPct val="128000"/>
              </a:lnSpc>
              <a:buNone/>
            </a:pPr>
            <a:r>
              <a:rPr lang="en-US" sz="900" dirty="0">
                <a:solidFill>
                  <a:srgbClr val="9C948A"/>
                </a:solidFill>
                <a:latin typeface="Courier New" pitchFamily="34" charset="0"/>
                <a:ea typeface="Courier New" pitchFamily="34" charset="-122"/>
                <a:cs typeface="Courier New" pitchFamily="34" charset="-120"/>
              </a:rPr>
              <a:t>Plan: Fix the Flaky Checkout Test</a:t>
            </a:r>
            <a:endParaRPr lang="en-US" sz="900" dirty="0"/>
          </a:p>
        </p:txBody>
      </p:sp>
      <p:sp>
        <p:nvSpPr>
          <p:cNvPr id="11" name="Text 9"/>
          <p:cNvSpPr txBox="1"/>
          <p:nvPr/>
        </p:nvSpPr>
        <p:spPr>
          <a:xfrm>
            <a:off x="941832" y="2433320"/>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9C948A"/>
                </a:solidFill>
                <a:latin typeface="Courier New" pitchFamily="34" charset="0"/>
                <a:ea typeface="Courier New" pitchFamily="34" charset="-122"/>
                <a:cs typeface="Courier New" pitchFamily="34" charset="-120"/>
              </a:rPr>
              <a:t>Read first</a:t>
            </a:r>
            <a:endParaRPr lang="en-US" sz="1100" dirty="0"/>
          </a:p>
        </p:txBody>
      </p:sp>
      <p:sp>
        <p:nvSpPr>
          <p:cNvPr id="12" name="Text 10"/>
          <p:cNvSpPr txBox="1"/>
          <p:nvPr/>
        </p:nvSpPr>
        <p:spPr>
          <a:xfrm>
            <a:off x="941832" y="2635885"/>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  src/checkout/CheckoutForm.tsx</a:t>
            </a:r>
            <a:endParaRPr lang="en-US" sz="1100" dirty="0"/>
          </a:p>
        </p:txBody>
      </p:sp>
      <p:sp>
        <p:nvSpPr>
          <p:cNvPr id="13" name="Text 11"/>
          <p:cNvSpPr txBox="1"/>
          <p:nvPr/>
        </p:nvSpPr>
        <p:spPr>
          <a:xfrm>
            <a:off x="941832" y="2838450"/>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  tests/checkout.e2e.ts (3 failures)</a:t>
            </a:r>
            <a:endParaRPr lang="en-US" sz="1100" dirty="0"/>
          </a:p>
        </p:txBody>
      </p:sp>
      <p:sp>
        <p:nvSpPr>
          <p:cNvPr id="14" name="Text 12"/>
          <p:cNvSpPr txBox="1"/>
          <p:nvPr/>
        </p:nvSpPr>
        <p:spPr>
          <a:xfrm>
            <a:off x="941832" y="3041015"/>
            <a:ext cx="4833976" cy="202565"/>
          </a:xfrm>
          <a:prstGeom prst="rect">
            <a:avLst/>
          </a:prstGeom>
          <a:noFill/>
          <a:ln/>
        </p:spPr>
        <p:txBody>
          <a:bodyPr wrap="none" lIns="0" tIns="0" rIns="0" bIns="0" rtlCol="0" anchor="t"/>
          <a:lstStyle/>
          <a:p>
            <a:pPr algn="l" indent="0" marL="0">
              <a:lnSpc>
                <a:spcPct val="128000"/>
              </a:lnSpc>
              <a:buNone/>
            </a:pPr>
            <a:endParaRPr lang="en-US" sz="1100" dirty="0"/>
          </a:p>
        </p:txBody>
      </p:sp>
      <p:sp>
        <p:nvSpPr>
          <p:cNvPr id="15" name="Text 13"/>
          <p:cNvSpPr txBox="1"/>
          <p:nvPr/>
        </p:nvSpPr>
        <p:spPr>
          <a:xfrm>
            <a:off x="941832" y="3243580"/>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1. Await the /cart response instead</a:t>
            </a:r>
            <a:endParaRPr lang="en-US" sz="1100" dirty="0"/>
          </a:p>
        </p:txBody>
      </p:sp>
      <p:sp>
        <p:nvSpPr>
          <p:cNvPr id="16" name="Text 14"/>
          <p:cNvSpPr txBox="1"/>
          <p:nvPr/>
        </p:nvSpPr>
        <p:spPr>
          <a:xfrm>
            <a:off x="941832" y="3446145"/>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   of the 500ms timeout</a:t>
            </a:r>
            <a:endParaRPr lang="en-US" sz="1100" dirty="0"/>
          </a:p>
        </p:txBody>
      </p:sp>
      <p:sp>
        <p:nvSpPr>
          <p:cNvPr id="17" name="Text 15"/>
          <p:cNvSpPr txBox="1"/>
          <p:nvPr/>
        </p:nvSpPr>
        <p:spPr>
          <a:xfrm>
            <a:off x="941832" y="3648710"/>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2. Seed the cart via API in beforeEach</a:t>
            </a:r>
            <a:endParaRPr lang="en-US" sz="1100" dirty="0"/>
          </a:p>
        </p:txBody>
      </p:sp>
      <p:sp>
        <p:nvSpPr>
          <p:cNvPr id="18" name="Text 16"/>
          <p:cNvSpPr txBox="1"/>
          <p:nvPr/>
        </p:nvSpPr>
        <p:spPr>
          <a:xfrm>
            <a:off x="941832" y="3851275"/>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3. Re-run the suite 10x to confirm</a:t>
            </a:r>
            <a:endParaRPr lang="en-US" sz="1100" dirty="0"/>
          </a:p>
        </p:txBody>
      </p:sp>
      <p:sp>
        <p:nvSpPr>
          <p:cNvPr id="19" name="Text 17"/>
          <p:cNvSpPr txBox="1"/>
          <p:nvPr/>
        </p:nvSpPr>
        <p:spPr>
          <a:xfrm>
            <a:off x="941832" y="4053840"/>
            <a:ext cx="4833976" cy="202565"/>
          </a:xfrm>
          <a:prstGeom prst="rect">
            <a:avLst/>
          </a:prstGeom>
          <a:noFill/>
          <a:ln/>
        </p:spPr>
        <p:txBody>
          <a:bodyPr wrap="none" lIns="0" tIns="0" rIns="0" bIns="0" rtlCol="0" anchor="t"/>
          <a:lstStyle/>
          <a:p>
            <a:pPr algn="l" indent="0" marL="0">
              <a:lnSpc>
                <a:spcPct val="128000"/>
              </a:lnSpc>
              <a:buNone/>
            </a:pPr>
            <a:endParaRPr lang="en-US" sz="1100" dirty="0"/>
          </a:p>
        </p:txBody>
      </p:sp>
      <p:sp>
        <p:nvSpPr>
          <p:cNvPr id="20" name="Text 18"/>
          <p:cNvSpPr txBox="1"/>
          <p:nvPr/>
        </p:nvSpPr>
        <p:spPr>
          <a:xfrm>
            <a:off x="941832" y="4256405"/>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9C948A"/>
                </a:solidFill>
                <a:latin typeface="Courier New" pitchFamily="34" charset="0"/>
                <a:ea typeface="Courier New" pitchFamily="34" charset="-122"/>
                <a:cs typeface="Courier New" pitchFamily="34" charset="-120"/>
              </a:rPr>
              <a:t>Files: 1 source, 1 test</a:t>
            </a:r>
            <a:endParaRPr lang="en-US" sz="1100" dirty="0"/>
          </a:p>
        </p:txBody>
      </p:sp>
      <p:sp>
        <p:nvSpPr>
          <p:cNvPr id="21" name="Text 19"/>
          <p:cNvSpPr txBox="1"/>
          <p:nvPr/>
        </p:nvSpPr>
        <p:spPr>
          <a:xfrm>
            <a:off x="941832" y="4458970"/>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8FCB9B"/>
                </a:solidFill>
                <a:latin typeface="Courier New" pitchFamily="34" charset="0"/>
                <a:ea typeface="Courier New" pitchFamily="34" charset="-122"/>
                <a:cs typeface="Courier New" pitchFamily="34" charset="-120"/>
              </a:rPr>
              <a:t>Verify: pnpm test:e2e --repeat 10</a:t>
            </a:r>
            <a:endParaRPr lang="en-US" sz="1100" dirty="0"/>
          </a:p>
        </p:txBody>
      </p:sp>
      <p:sp>
        <p:nvSpPr>
          <p:cNvPr id="22" name="Text 20"/>
          <p:cNvSpPr txBox="1"/>
          <p:nvPr/>
        </p:nvSpPr>
        <p:spPr>
          <a:xfrm>
            <a:off x="941832" y="4661535"/>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E8938A"/>
                </a:solidFill>
                <a:latin typeface="Courier New" pitchFamily="34" charset="0"/>
                <a:ea typeface="Courier New" pitchFamily="34" charset="-122"/>
                <a:cs typeface="Courier New" pitchFamily="34" charset="-120"/>
              </a:rPr>
              <a:t>Not doing: the wider timeout cleanup</a:t>
            </a:r>
            <a:endParaRPr lang="en-US" sz="1100" dirty="0"/>
          </a:p>
        </p:txBody>
      </p:sp>
      <p:sp>
        <p:nvSpPr>
          <p:cNvPr id="23" name="Shape 21"/>
          <p:cNvSpPr/>
          <p:nvPr/>
        </p:nvSpPr>
        <p:spPr>
          <a:xfrm>
            <a:off x="6251296" y="1994408"/>
            <a:ext cx="384048" cy="384048"/>
          </a:xfrm>
          <a:prstGeom prst="ellipse">
            <a:avLst/>
          </a:prstGeom>
          <a:solidFill>
            <a:srgbClr val="C96442"/>
          </a:solidFill>
          <a:ln/>
        </p:spPr>
      </p:sp>
      <p:sp>
        <p:nvSpPr>
          <p:cNvPr id="24" name="Text 22"/>
          <p:cNvSpPr txBox="1"/>
          <p:nvPr/>
        </p:nvSpPr>
        <p:spPr>
          <a:xfrm>
            <a:off x="6251296" y="1994408"/>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5" name="Text 23"/>
          <p:cNvSpPr txBox="1"/>
          <p:nvPr/>
        </p:nvSpPr>
        <p:spPr>
          <a:xfrm>
            <a:off x="6818224" y="1994408"/>
            <a:ext cx="1652211" cy="520192"/>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It gathers first</a:t>
            </a:r>
            <a:endParaRPr lang="en-US" sz="1600" dirty="0"/>
          </a:p>
        </p:txBody>
      </p:sp>
      <p:sp>
        <p:nvSpPr>
          <p:cNvPr id="26" name="Text 24"/>
          <p:cNvSpPr txBox="1"/>
          <p:nvPr/>
        </p:nvSpPr>
        <p:spPr>
          <a:xfrm>
            <a:off x="8689891" y="1994408"/>
            <a:ext cx="2724565" cy="682752"/>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Forces Claude to read and investigate before proposing anything.</a:t>
            </a:r>
            <a:endParaRPr lang="en-US" sz="1400" dirty="0"/>
          </a:p>
        </p:txBody>
      </p:sp>
      <p:sp>
        <p:nvSpPr>
          <p:cNvPr id="27" name="Shape 25"/>
          <p:cNvSpPr/>
          <p:nvPr/>
        </p:nvSpPr>
        <p:spPr>
          <a:xfrm>
            <a:off x="6251296" y="2777744"/>
            <a:ext cx="5163160" cy="12700"/>
          </a:xfrm>
          <a:prstGeom prst="rect">
            <a:avLst/>
          </a:prstGeom>
          <a:solidFill>
            <a:srgbClr val="E4DFD9"/>
          </a:solidFill>
          <a:ln/>
        </p:spPr>
      </p:sp>
      <p:sp>
        <p:nvSpPr>
          <p:cNvPr id="28" name="Shape 26"/>
          <p:cNvSpPr/>
          <p:nvPr/>
        </p:nvSpPr>
        <p:spPr>
          <a:xfrm>
            <a:off x="6251296" y="2878328"/>
            <a:ext cx="384048" cy="384048"/>
          </a:xfrm>
          <a:prstGeom prst="ellipse">
            <a:avLst/>
          </a:prstGeom>
          <a:solidFill>
            <a:srgbClr val="C96442"/>
          </a:solidFill>
          <a:ln/>
        </p:spPr>
      </p:sp>
      <p:sp>
        <p:nvSpPr>
          <p:cNvPr id="29" name="Text 27"/>
          <p:cNvSpPr txBox="1"/>
          <p:nvPr/>
        </p:nvSpPr>
        <p:spPr>
          <a:xfrm>
            <a:off x="6251296" y="2878328"/>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30" name="Text 28"/>
          <p:cNvSpPr txBox="1"/>
          <p:nvPr/>
        </p:nvSpPr>
        <p:spPr>
          <a:xfrm>
            <a:off x="6818224" y="2878328"/>
            <a:ext cx="1652211" cy="520192"/>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You review the plan</a:t>
            </a:r>
            <a:endParaRPr lang="en-US" sz="1600" dirty="0"/>
          </a:p>
        </p:txBody>
      </p:sp>
      <p:sp>
        <p:nvSpPr>
          <p:cNvPr id="31" name="Text 29"/>
          <p:cNvSpPr txBox="1"/>
          <p:nvPr/>
        </p:nvSpPr>
        <p:spPr>
          <a:xfrm>
            <a:off x="8689891" y="2878328"/>
            <a:ext cx="2724565" cy="682752"/>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The work is described before it is done. Redirect while that is cheap.</a:t>
            </a:r>
            <a:endParaRPr lang="en-US" sz="1400" dirty="0"/>
          </a:p>
        </p:txBody>
      </p:sp>
      <p:sp>
        <p:nvSpPr>
          <p:cNvPr id="32" name="Shape 30"/>
          <p:cNvSpPr/>
          <p:nvPr/>
        </p:nvSpPr>
        <p:spPr>
          <a:xfrm>
            <a:off x="6251296" y="3661664"/>
            <a:ext cx="5163160" cy="12700"/>
          </a:xfrm>
          <a:prstGeom prst="rect">
            <a:avLst/>
          </a:prstGeom>
          <a:solidFill>
            <a:srgbClr val="E4DFD9"/>
          </a:solidFill>
          <a:ln/>
        </p:spPr>
      </p:sp>
      <p:sp>
        <p:nvSpPr>
          <p:cNvPr id="33" name="Shape 31"/>
          <p:cNvSpPr/>
          <p:nvPr/>
        </p:nvSpPr>
        <p:spPr>
          <a:xfrm>
            <a:off x="6251296" y="3762248"/>
            <a:ext cx="384048" cy="384048"/>
          </a:xfrm>
          <a:prstGeom prst="ellipse">
            <a:avLst/>
          </a:prstGeom>
          <a:solidFill>
            <a:srgbClr val="C96442"/>
          </a:solidFill>
          <a:ln/>
        </p:spPr>
      </p:sp>
      <p:sp>
        <p:nvSpPr>
          <p:cNvPr id="34" name="Text 32"/>
          <p:cNvSpPr txBox="1"/>
          <p:nvPr/>
        </p:nvSpPr>
        <p:spPr>
          <a:xfrm>
            <a:off x="6251296" y="3762248"/>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35" name="Text 33"/>
          <p:cNvSpPr txBox="1"/>
          <p:nvPr/>
        </p:nvSpPr>
        <p:spPr>
          <a:xfrm>
            <a:off x="6818224" y="3762248"/>
            <a:ext cx="1652211"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It saves tokens</a:t>
            </a:r>
            <a:endParaRPr lang="en-US" sz="1600" dirty="0"/>
          </a:p>
        </p:txBody>
      </p:sp>
      <p:sp>
        <p:nvSpPr>
          <p:cNvPr id="36" name="Text 34"/>
          <p:cNvSpPr txBox="1"/>
          <p:nvPr/>
        </p:nvSpPr>
        <p:spPr>
          <a:xfrm>
            <a:off x="8689891" y="3762248"/>
            <a:ext cx="2724565" cy="682752"/>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Catching a wrong direction in a plan costs far less than in a diff.</a:t>
            </a:r>
            <a:endParaRPr lang="en-US" sz="1400" dirty="0"/>
          </a:p>
        </p:txBody>
      </p:sp>
      <p:sp>
        <p:nvSpPr>
          <p:cNvPr id="37" name="Shape 35"/>
          <p:cNvSpPr/>
          <p:nvPr/>
        </p:nvSpPr>
        <p:spPr>
          <a:xfrm>
            <a:off x="777240" y="5394452"/>
            <a:ext cx="10637215" cy="1049975"/>
          </a:xfrm>
          <a:prstGeom prst="roundRect">
            <a:avLst>
              <a:gd name="adj" fmla="val 7584"/>
            </a:avLst>
          </a:prstGeom>
          <a:solidFill>
            <a:srgbClr val="26221E"/>
          </a:solidFill>
          <a:ln/>
        </p:spPr>
      </p:sp>
      <p:sp>
        <p:nvSpPr>
          <p:cNvPr id="38" name="Text 36"/>
          <p:cNvSpPr txBox="1"/>
          <p:nvPr/>
        </p:nvSpPr>
        <p:spPr>
          <a:xfrm>
            <a:off x="1006572" y="5623784"/>
            <a:ext cx="10178552" cy="276352"/>
          </a:xfrm>
          <a:prstGeom prst="rect">
            <a:avLst/>
          </a:prstGeom>
          <a:noFill/>
          <a:ln/>
        </p:spPr>
        <p:txBody>
          <a:bodyPr wrap="square" lIns="0" tIns="0" rIns="0" bIns="0" rtlCol="0" anchor="t"/>
          <a:lstStyle/>
          <a:p>
            <a:pPr algn="ctr" indent="0" marL="0">
              <a:lnSpc>
                <a:spcPct val="128000"/>
              </a:lnSpc>
              <a:buNone/>
            </a:pPr>
            <a:r>
              <a:rPr lang="en-US" sz="1700" b="1" dirty="0">
                <a:solidFill>
                  <a:srgbClr val="F2EDE6"/>
                </a:solidFill>
                <a:latin typeface="Arial" pitchFamily="34" charset="0"/>
                <a:ea typeface="Arial" pitchFamily="34" charset="-122"/>
                <a:cs typeface="Arial" pitchFamily="34" charset="-120"/>
              </a:rPr>
              <a:t>Opus + plan mode</a:t>
            </a:r>
            <a:endParaRPr lang="en-US" sz="1700" dirty="0"/>
          </a:p>
        </p:txBody>
      </p:sp>
      <p:sp>
        <p:nvSpPr>
          <p:cNvPr id="39" name="Text 37"/>
          <p:cNvSpPr txBox="1"/>
          <p:nvPr/>
        </p:nvSpPr>
        <p:spPr>
          <a:xfrm>
            <a:off x="1006572" y="5955000"/>
            <a:ext cx="10178552" cy="260096"/>
          </a:xfrm>
          <a:prstGeom prst="rect">
            <a:avLst/>
          </a:prstGeom>
          <a:noFill/>
          <a:ln/>
        </p:spPr>
        <p:txBody>
          <a:bodyPr wrap="square" lIns="0" tIns="0" rIns="0" bIns="0" rtlCol="0" anchor="t"/>
          <a:lstStyle/>
          <a:p>
            <a:pPr algn="ctr" indent="0" marL="0">
              <a:lnSpc>
                <a:spcPct val="128000"/>
              </a:lnSpc>
              <a:buNone/>
            </a:pPr>
            <a:r>
              <a:rPr lang="en-US" sz="1600" b="1" dirty="0">
                <a:solidFill>
                  <a:srgbClr val="F2EDE6"/>
                </a:solidFill>
                <a:latin typeface="Arial" pitchFamily="34" charset="0"/>
                <a:ea typeface="Arial" pitchFamily="34" charset="-122"/>
                <a:cs typeface="Arial" pitchFamily="34" charset="-120"/>
              </a:rPr>
              <a:t>Switch to Sonnet to run.</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6221E"/>
        </a:solidFill>
      </p:bgPr>
    </p:bg>
    <p:spTree>
      <p:nvGrpSpPr>
        <p:cNvPr id="1" name=""/>
        <p:cNvGrpSpPr/>
        <p:nvPr/>
      </p:nvGrpSpPr>
      <p:grpSpPr>
        <a:xfrm>
          <a:off x="0" y="0"/>
          <a:ext cx="0" cy="0"/>
          <a:chOff x="0" y="0"/>
          <a:chExt cx="0" cy="0"/>
        </a:xfrm>
      </p:grpSpPr>
      <p:sp>
        <p:nvSpPr>
          <p:cNvPr id="2" name="Text 0"/>
          <p:cNvSpPr txBox="1"/>
          <p:nvPr/>
        </p:nvSpPr>
        <p:spPr>
          <a:xfrm>
            <a:off x="777240" y="1925701"/>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05 · CLAUDE CUSTOMIZATION</a:t>
            </a:r>
            <a:endParaRPr lang="en-US" sz="1200" dirty="0"/>
          </a:p>
        </p:txBody>
      </p:sp>
      <p:sp>
        <p:nvSpPr>
          <p:cNvPr id="3" name="Text 1"/>
          <p:cNvSpPr txBox="1"/>
          <p:nvPr/>
        </p:nvSpPr>
        <p:spPr>
          <a:xfrm>
            <a:off x="777240" y="2209165"/>
            <a:ext cx="10637215" cy="715264"/>
          </a:xfrm>
          <a:prstGeom prst="rect">
            <a:avLst/>
          </a:prstGeom>
          <a:noFill/>
          <a:ln/>
        </p:spPr>
        <p:txBody>
          <a:bodyPr wrap="square" lIns="0" tIns="0" rIns="0" bIns="0" rtlCol="0" anchor="t"/>
          <a:lstStyle/>
          <a:p>
            <a:pPr algn="l" indent="0" marL="0">
              <a:lnSpc>
                <a:spcPct val="128000"/>
              </a:lnSpc>
              <a:buNone/>
            </a:pPr>
            <a:r>
              <a:rPr lang="en-US" sz="4400" b="1" dirty="0">
                <a:solidFill>
                  <a:srgbClr val="F2EDE6"/>
                </a:solidFill>
                <a:latin typeface="Arial" pitchFamily="34" charset="0"/>
                <a:ea typeface="Arial" pitchFamily="34" charset="-122"/>
                <a:cs typeface="Arial" pitchFamily="34" charset="-120"/>
              </a:rPr>
              <a:t>Claude</a:t>
            </a:r>
            <a:endParaRPr lang="en-US" sz="4400" dirty="0"/>
          </a:p>
        </p:txBody>
      </p:sp>
      <p:sp>
        <p:nvSpPr>
          <p:cNvPr id="4" name="Text 2"/>
          <p:cNvSpPr txBox="1"/>
          <p:nvPr/>
        </p:nvSpPr>
        <p:spPr>
          <a:xfrm>
            <a:off x="777240" y="2924429"/>
            <a:ext cx="10637215" cy="715264"/>
          </a:xfrm>
          <a:prstGeom prst="rect">
            <a:avLst/>
          </a:prstGeom>
          <a:noFill/>
          <a:ln/>
        </p:spPr>
        <p:txBody>
          <a:bodyPr wrap="square" lIns="0" tIns="0" rIns="0" bIns="0" rtlCol="0" anchor="t"/>
          <a:lstStyle/>
          <a:p>
            <a:pPr algn="l" indent="0" marL="0">
              <a:lnSpc>
                <a:spcPct val="128000"/>
              </a:lnSpc>
              <a:buNone/>
            </a:pPr>
            <a:r>
              <a:rPr lang="en-US" sz="4400" b="1" dirty="0">
                <a:solidFill>
                  <a:srgbClr val="C96442"/>
                </a:solidFill>
                <a:latin typeface="Arial" pitchFamily="34" charset="0"/>
                <a:ea typeface="Arial" pitchFamily="34" charset="-122"/>
                <a:cs typeface="Arial" pitchFamily="34" charset="-120"/>
              </a:rPr>
              <a:t>Customization</a:t>
            </a:r>
            <a:endParaRPr lang="en-US" sz="4400" dirty="0"/>
          </a:p>
        </p:txBody>
      </p:sp>
      <p:sp>
        <p:nvSpPr>
          <p:cNvPr id="5" name="Text 3"/>
          <p:cNvSpPr txBox="1"/>
          <p:nvPr/>
        </p:nvSpPr>
        <p:spPr>
          <a:xfrm>
            <a:off x="777240" y="4042029"/>
            <a:ext cx="8412480" cy="552704"/>
          </a:xfrm>
          <a:prstGeom prst="rect">
            <a:avLst/>
          </a:prstGeom>
          <a:noFill/>
          <a:ln/>
        </p:spPr>
        <p:txBody>
          <a:bodyPr wrap="square" lIns="0" tIns="0" rIns="0" bIns="0" rtlCol="0" anchor="t"/>
          <a:lstStyle/>
          <a:p>
            <a:pPr algn="l" indent="0" marL="0">
              <a:lnSpc>
                <a:spcPct val="128000"/>
              </a:lnSpc>
              <a:buNone/>
            </a:pPr>
            <a:r>
              <a:rPr lang="en-US" sz="1700" dirty="0">
                <a:solidFill>
                  <a:srgbClr val="B8B1A8"/>
                </a:solidFill>
                <a:latin typeface="Arial" pitchFamily="34" charset="0"/>
                <a:ea typeface="Arial" pitchFamily="34" charset="-122"/>
                <a:cs typeface="Arial" pitchFamily="34" charset="-120"/>
              </a:rPr>
              <a:t>Four mechanisms that load context for you. This is the part you set up once.</a:t>
            </a:r>
            <a:endParaRPr lang="en-US" sz="1700" dirty="0"/>
          </a:p>
        </p:txBody>
      </p:sp>
      <p:sp>
        <p:nvSpPr>
          <p:cNvPr id="6" name="Shape 4"/>
          <p:cNvSpPr/>
          <p:nvPr/>
        </p:nvSpPr>
        <p:spPr>
          <a:xfrm>
            <a:off x="777240" y="4832477"/>
            <a:ext cx="1124712" cy="346710"/>
          </a:xfrm>
          <a:prstGeom prst="roundRect">
            <a:avLst>
              <a:gd name="adj" fmla="val 131868"/>
            </a:avLst>
          </a:prstGeom>
          <a:solidFill>
            <a:srgbClr val="332E28"/>
          </a:solidFill>
          <a:ln/>
        </p:spPr>
      </p:sp>
      <p:sp>
        <p:nvSpPr>
          <p:cNvPr id="7" name="Text 5"/>
          <p:cNvSpPr txBox="1"/>
          <p:nvPr/>
        </p:nvSpPr>
        <p:spPr>
          <a:xfrm>
            <a:off x="777240" y="4832477"/>
            <a:ext cx="1124712"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CLAUDE.md</a:t>
            </a:r>
            <a:endParaRPr lang="en-US" sz="1300" dirty="0"/>
          </a:p>
        </p:txBody>
      </p:sp>
      <p:sp>
        <p:nvSpPr>
          <p:cNvPr id="8" name="Shape 6"/>
          <p:cNvSpPr/>
          <p:nvPr/>
        </p:nvSpPr>
        <p:spPr>
          <a:xfrm>
            <a:off x="2011680" y="4832477"/>
            <a:ext cx="1124712" cy="346710"/>
          </a:xfrm>
          <a:prstGeom prst="roundRect">
            <a:avLst>
              <a:gd name="adj" fmla="val 131868"/>
            </a:avLst>
          </a:prstGeom>
          <a:solidFill>
            <a:srgbClr val="332E28"/>
          </a:solidFill>
          <a:ln/>
        </p:spPr>
      </p:sp>
      <p:sp>
        <p:nvSpPr>
          <p:cNvPr id="9" name="Text 7"/>
          <p:cNvSpPr txBox="1"/>
          <p:nvPr/>
        </p:nvSpPr>
        <p:spPr>
          <a:xfrm>
            <a:off x="2011680" y="4832477"/>
            <a:ext cx="1124712"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MEMORY.md</a:t>
            </a:r>
            <a:endParaRPr lang="en-US" sz="1300" dirty="0"/>
          </a:p>
        </p:txBody>
      </p:sp>
      <p:sp>
        <p:nvSpPr>
          <p:cNvPr id="10" name="Shape 8"/>
          <p:cNvSpPr/>
          <p:nvPr/>
        </p:nvSpPr>
        <p:spPr>
          <a:xfrm>
            <a:off x="3246120" y="4832477"/>
            <a:ext cx="754888" cy="346710"/>
          </a:xfrm>
          <a:prstGeom prst="roundRect">
            <a:avLst>
              <a:gd name="adj" fmla="val 131868"/>
            </a:avLst>
          </a:prstGeom>
          <a:solidFill>
            <a:srgbClr val="332E28"/>
          </a:solidFill>
          <a:ln/>
        </p:spPr>
      </p:sp>
      <p:sp>
        <p:nvSpPr>
          <p:cNvPr id="11" name="Text 9"/>
          <p:cNvSpPr txBox="1"/>
          <p:nvPr/>
        </p:nvSpPr>
        <p:spPr>
          <a:xfrm>
            <a:off x="3246120" y="4832477"/>
            <a:ext cx="754888"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Rules</a:t>
            </a:r>
            <a:endParaRPr lang="en-US" sz="1300" dirty="0"/>
          </a:p>
        </p:txBody>
      </p:sp>
      <p:sp>
        <p:nvSpPr>
          <p:cNvPr id="12" name="Shape 10"/>
          <p:cNvSpPr/>
          <p:nvPr/>
        </p:nvSpPr>
        <p:spPr>
          <a:xfrm>
            <a:off x="4110736" y="4832477"/>
            <a:ext cx="847344" cy="346710"/>
          </a:xfrm>
          <a:prstGeom prst="roundRect">
            <a:avLst>
              <a:gd name="adj" fmla="val 131868"/>
            </a:avLst>
          </a:prstGeom>
          <a:solidFill>
            <a:srgbClr val="332E28"/>
          </a:solidFill>
          <a:ln/>
        </p:spPr>
      </p:sp>
      <p:sp>
        <p:nvSpPr>
          <p:cNvPr id="13" name="Text 11"/>
          <p:cNvSpPr txBox="1"/>
          <p:nvPr/>
        </p:nvSpPr>
        <p:spPr>
          <a:xfrm>
            <a:off x="4110736" y="4832477"/>
            <a:ext cx="847344"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Skills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658368"/>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05 · CLAUDE CUSTOMIZATION</a:t>
            </a:r>
            <a:endParaRPr lang="en-US" sz="1200" dirty="0"/>
          </a:p>
        </p:txBody>
      </p:sp>
      <p:sp>
        <p:nvSpPr>
          <p:cNvPr id="3" name="Text 1"/>
          <p:cNvSpPr txBox="1"/>
          <p:nvPr/>
        </p:nvSpPr>
        <p:spPr>
          <a:xfrm>
            <a:off x="777240" y="941832"/>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Your Setup Loads Context for You</a:t>
            </a:r>
            <a:endParaRPr lang="en-US" sz="4000" dirty="0"/>
          </a:p>
        </p:txBody>
      </p:sp>
      <p:sp>
        <p:nvSpPr>
          <p:cNvPr id="4" name="Shape 2"/>
          <p:cNvSpPr/>
          <p:nvPr/>
        </p:nvSpPr>
        <p:spPr>
          <a:xfrm>
            <a:off x="777240" y="1994408"/>
            <a:ext cx="384048" cy="384048"/>
          </a:xfrm>
          <a:prstGeom prst="ellipse">
            <a:avLst/>
          </a:prstGeom>
          <a:solidFill>
            <a:srgbClr val="C96442"/>
          </a:solidFill>
          <a:ln/>
        </p:spPr>
      </p:sp>
      <p:sp>
        <p:nvSpPr>
          <p:cNvPr id="5" name="Text 3"/>
          <p:cNvSpPr txBox="1"/>
          <p:nvPr/>
        </p:nvSpPr>
        <p:spPr>
          <a:xfrm>
            <a:off x="777240" y="1994408"/>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6" name="Text 4"/>
          <p:cNvSpPr txBox="1"/>
          <p:nvPr/>
        </p:nvSpPr>
        <p:spPr>
          <a:xfrm>
            <a:off x="1344168" y="1994408"/>
            <a:ext cx="2926080" cy="508000"/>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CLAUDE.md</a:t>
            </a:r>
            <a:endParaRPr lang="en-US" sz="1600" dirty="0"/>
          </a:p>
        </p:txBody>
      </p:sp>
      <p:sp>
        <p:nvSpPr>
          <p:cNvPr id="7" name="Text 5"/>
          <p:cNvSpPr txBox="1"/>
          <p:nvPr/>
        </p:nvSpPr>
        <p:spPr>
          <a:xfrm>
            <a:off x="1344168" y="2272792"/>
            <a:ext cx="2926080" cy="182880"/>
          </a:xfrm>
          <a:prstGeom prst="rect">
            <a:avLst/>
          </a:prstGeom>
          <a:noFill/>
          <a:ln/>
        </p:spPr>
        <p:txBody>
          <a:bodyPr wrap="square" lIns="0" tIns="0" rIns="0" bIns="0" rtlCol="0" anchor="t"/>
          <a:lstStyle/>
          <a:p>
            <a:pPr algn="l" indent="0" marL="0">
              <a:lnSpc>
                <a:spcPct val="128000"/>
              </a:lnSpc>
              <a:buNone/>
            </a:pPr>
            <a:r>
              <a:rPr lang="en-US" sz="1300" dirty="0">
                <a:solidFill>
                  <a:srgbClr val="C96442"/>
                </a:solidFill>
                <a:latin typeface="Courier New" pitchFamily="34" charset="0"/>
                <a:ea typeface="Courier New" pitchFamily="34" charset="-122"/>
                <a:cs typeface="Courier New" pitchFamily="34" charset="-120"/>
              </a:rPr>
              <a:t>at session start</a:t>
            </a:r>
            <a:endParaRPr lang="en-US" sz="1300" dirty="0"/>
          </a:p>
        </p:txBody>
      </p:sp>
      <p:sp>
        <p:nvSpPr>
          <p:cNvPr id="8" name="Text 6"/>
          <p:cNvSpPr txBox="1"/>
          <p:nvPr/>
        </p:nvSpPr>
        <p:spPr>
          <a:xfrm>
            <a:off x="4489704" y="1994408"/>
            <a:ext cx="6924751" cy="455168"/>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Map of the project, key commands, gotchas. Global ~/.claude/CLAUDE.md loads in every project.</a:t>
            </a:r>
            <a:endParaRPr lang="en-US" sz="1400" dirty="0"/>
          </a:p>
        </p:txBody>
      </p:sp>
      <p:sp>
        <p:nvSpPr>
          <p:cNvPr id="9" name="Shape 7"/>
          <p:cNvSpPr/>
          <p:nvPr/>
        </p:nvSpPr>
        <p:spPr>
          <a:xfrm>
            <a:off x="777240" y="2602992"/>
            <a:ext cx="10637215" cy="12700"/>
          </a:xfrm>
          <a:prstGeom prst="rect">
            <a:avLst/>
          </a:prstGeom>
          <a:solidFill>
            <a:srgbClr val="E4DFD9"/>
          </a:solidFill>
          <a:ln/>
        </p:spPr>
      </p:sp>
      <p:sp>
        <p:nvSpPr>
          <p:cNvPr id="10" name="Shape 8"/>
          <p:cNvSpPr/>
          <p:nvPr/>
        </p:nvSpPr>
        <p:spPr>
          <a:xfrm>
            <a:off x="777240" y="2703576"/>
            <a:ext cx="384048" cy="384048"/>
          </a:xfrm>
          <a:prstGeom prst="ellipse">
            <a:avLst/>
          </a:prstGeom>
          <a:solidFill>
            <a:srgbClr val="C96442"/>
          </a:solidFill>
          <a:ln/>
        </p:spPr>
      </p:sp>
      <p:sp>
        <p:nvSpPr>
          <p:cNvPr id="11" name="Text 9"/>
          <p:cNvSpPr txBox="1"/>
          <p:nvPr/>
        </p:nvSpPr>
        <p:spPr>
          <a:xfrm>
            <a:off x="777240" y="2703576"/>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2" name="Text 10"/>
          <p:cNvSpPr txBox="1"/>
          <p:nvPr/>
        </p:nvSpPr>
        <p:spPr>
          <a:xfrm>
            <a:off x="1344168" y="2703576"/>
            <a:ext cx="2926080" cy="508000"/>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MEMORY.md</a:t>
            </a:r>
            <a:endParaRPr lang="en-US" sz="1600" dirty="0"/>
          </a:p>
        </p:txBody>
      </p:sp>
      <p:sp>
        <p:nvSpPr>
          <p:cNvPr id="13" name="Text 11"/>
          <p:cNvSpPr txBox="1"/>
          <p:nvPr/>
        </p:nvSpPr>
        <p:spPr>
          <a:xfrm>
            <a:off x="1344168" y="2981960"/>
            <a:ext cx="2926080" cy="182880"/>
          </a:xfrm>
          <a:prstGeom prst="rect">
            <a:avLst/>
          </a:prstGeom>
          <a:noFill/>
          <a:ln/>
        </p:spPr>
        <p:txBody>
          <a:bodyPr wrap="square" lIns="0" tIns="0" rIns="0" bIns="0" rtlCol="0" anchor="t"/>
          <a:lstStyle/>
          <a:p>
            <a:pPr algn="l" indent="0" marL="0">
              <a:lnSpc>
                <a:spcPct val="128000"/>
              </a:lnSpc>
              <a:buNone/>
            </a:pPr>
            <a:r>
              <a:rPr lang="en-US" sz="1300" dirty="0">
                <a:solidFill>
                  <a:srgbClr val="C96442"/>
                </a:solidFill>
                <a:latin typeface="Courier New" pitchFamily="34" charset="0"/>
                <a:ea typeface="Courier New" pitchFamily="34" charset="-122"/>
                <a:cs typeface="Courier New" pitchFamily="34" charset="-120"/>
              </a:rPr>
              <a:t>auto-managed</a:t>
            </a:r>
            <a:endParaRPr lang="en-US" sz="1300" dirty="0"/>
          </a:p>
        </p:txBody>
      </p:sp>
      <p:sp>
        <p:nvSpPr>
          <p:cNvPr id="14" name="Text 12"/>
          <p:cNvSpPr txBox="1"/>
          <p:nvPr/>
        </p:nvSpPr>
        <p:spPr>
          <a:xfrm>
            <a:off x="4489704" y="2703576"/>
            <a:ext cx="6924751"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Claude's own notes, kept per project.</a:t>
            </a:r>
            <a:endParaRPr lang="en-US" sz="1400" dirty="0"/>
          </a:p>
        </p:txBody>
      </p:sp>
      <p:sp>
        <p:nvSpPr>
          <p:cNvPr id="15" name="Shape 13"/>
          <p:cNvSpPr/>
          <p:nvPr/>
        </p:nvSpPr>
        <p:spPr>
          <a:xfrm>
            <a:off x="777240" y="3312160"/>
            <a:ext cx="10637215" cy="12700"/>
          </a:xfrm>
          <a:prstGeom prst="rect">
            <a:avLst/>
          </a:prstGeom>
          <a:solidFill>
            <a:srgbClr val="E4DFD9"/>
          </a:solidFill>
          <a:ln/>
        </p:spPr>
      </p:sp>
      <p:sp>
        <p:nvSpPr>
          <p:cNvPr id="16" name="Shape 14"/>
          <p:cNvSpPr/>
          <p:nvPr/>
        </p:nvSpPr>
        <p:spPr>
          <a:xfrm>
            <a:off x="777240" y="3412744"/>
            <a:ext cx="384048" cy="384048"/>
          </a:xfrm>
          <a:prstGeom prst="ellipse">
            <a:avLst/>
          </a:prstGeom>
          <a:solidFill>
            <a:srgbClr val="C96442"/>
          </a:solidFill>
          <a:ln/>
        </p:spPr>
      </p:sp>
      <p:sp>
        <p:nvSpPr>
          <p:cNvPr id="17" name="Text 15"/>
          <p:cNvSpPr txBox="1"/>
          <p:nvPr/>
        </p:nvSpPr>
        <p:spPr>
          <a:xfrm>
            <a:off x="777240" y="3412744"/>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8" name="Text 16"/>
          <p:cNvSpPr txBox="1"/>
          <p:nvPr/>
        </p:nvSpPr>
        <p:spPr>
          <a:xfrm>
            <a:off x="1344168" y="3412744"/>
            <a:ext cx="2926080" cy="508000"/>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Rules</a:t>
            </a:r>
            <a:endParaRPr lang="en-US" sz="1600" dirty="0"/>
          </a:p>
        </p:txBody>
      </p:sp>
      <p:sp>
        <p:nvSpPr>
          <p:cNvPr id="19" name="Text 17"/>
          <p:cNvSpPr txBox="1"/>
          <p:nvPr/>
        </p:nvSpPr>
        <p:spPr>
          <a:xfrm>
            <a:off x="1344168" y="3691128"/>
            <a:ext cx="2926080" cy="182880"/>
          </a:xfrm>
          <a:prstGeom prst="rect">
            <a:avLst/>
          </a:prstGeom>
          <a:noFill/>
          <a:ln/>
        </p:spPr>
        <p:txBody>
          <a:bodyPr wrap="square" lIns="0" tIns="0" rIns="0" bIns="0" rtlCol="0" anchor="t"/>
          <a:lstStyle/>
          <a:p>
            <a:pPr algn="l" indent="0" marL="0">
              <a:lnSpc>
                <a:spcPct val="128000"/>
              </a:lnSpc>
              <a:buNone/>
            </a:pPr>
            <a:r>
              <a:rPr lang="en-US" sz="1300" dirty="0">
                <a:solidFill>
                  <a:srgbClr val="C96442"/>
                </a:solidFill>
                <a:latin typeface="Courier New" pitchFamily="34" charset="0"/>
                <a:ea typeface="Courier New" pitchFamily="34" charset="-122"/>
                <a:cs typeface="Courier New" pitchFamily="34" charset="-120"/>
              </a:rPr>
              <a:t>on matching paths</a:t>
            </a:r>
            <a:endParaRPr lang="en-US" sz="1300" dirty="0"/>
          </a:p>
        </p:txBody>
      </p:sp>
      <p:sp>
        <p:nvSpPr>
          <p:cNvPr id="20" name="Text 18"/>
          <p:cNvSpPr txBox="1"/>
          <p:nvPr/>
        </p:nvSpPr>
        <p:spPr>
          <a:xfrm>
            <a:off x="4489704" y="3412744"/>
            <a:ext cx="6924751"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Path-scoped guidance in .claude/rules/.</a:t>
            </a:r>
            <a:endParaRPr lang="en-US" sz="1400" dirty="0"/>
          </a:p>
        </p:txBody>
      </p:sp>
      <p:sp>
        <p:nvSpPr>
          <p:cNvPr id="21" name="Shape 19"/>
          <p:cNvSpPr/>
          <p:nvPr/>
        </p:nvSpPr>
        <p:spPr>
          <a:xfrm>
            <a:off x="777240" y="4021328"/>
            <a:ext cx="10637215" cy="12700"/>
          </a:xfrm>
          <a:prstGeom prst="rect">
            <a:avLst/>
          </a:prstGeom>
          <a:solidFill>
            <a:srgbClr val="E4DFD9"/>
          </a:solidFill>
          <a:ln/>
        </p:spPr>
      </p:sp>
      <p:sp>
        <p:nvSpPr>
          <p:cNvPr id="22" name="Shape 20"/>
          <p:cNvSpPr/>
          <p:nvPr/>
        </p:nvSpPr>
        <p:spPr>
          <a:xfrm>
            <a:off x="777240" y="4121912"/>
            <a:ext cx="384048" cy="384048"/>
          </a:xfrm>
          <a:prstGeom prst="ellipse">
            <a:avLst/>
          </a:prstGeom>
          <a:solidFill>
            <a:srgbClr val="C96442"/>
          </a:solidFill>
          <a:ln/>
        </p:spPr>
      </p:sp>
      <p:sp>
        <p:nvSpPr>
          <p:cNvPr id="23" name="Text 21"/>
          <p:cNvSpPr txBox="1"/>
          <p:nvPr/>
        </p:nvSpPr>
        <p:spPr>
          <a:xfrm>
            <a:off x="777240" y="4121912"/>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4" name="Text 22"/>
          <p:cNvSpPr txBox="1"/>
          <p:nvPr/>
        </p:nvSpPr>
        <p:spPr>
          <a:xfrm>
            <a:off x="1344168" y="4121912"/>
            <a:ext cx="2926080" cy="508000"/>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Skills</a:t>
            </a:r>
            <a:endParaRPr lang="en-US" sz="1600" dirty="0"/>
          </a:p>
        </p:txBody>
      </p:sp>
      <p:sp>
        <p:nvSpPr>
          <p:cNvPr id="25" name="Text 23"/>
          <p:cNvSpPr txBox="1"/>
          <p:nvPr/>
        </p:nvSpPr>
        <p:spPr>
          <a:xfrm>
            <a:off x="1344168" y="4400296"/>
            <a:ext cx="2926080" cy="182880"/>
          </a:xfrm>
          <a:prstGeom prst="rect">
            <a:avLst/>
          </a:prstGeom>
          <a:noFill/>
          <a:ln/>
        </p:spPr>
        <p:txBody>
          <a:bodyPr wrap="square" lIns="0" tIns="0" rIns="0" bIns="0" rtlCol="0" anchor="t"/>
          <a:lstStyle/>
          <a:p>
            <a:pPr algn="l" indent="0" marL="0">
              <a:lnSpc>
                <a:spcPct val="128000"/>
              </a:lnSpc>
              <a:buNone/>
            </a:pPr>
            <a:r>
              <a:rPr lang="en-US" sz="1300" dirty="0">
                <a:solidFill>
                  <a:srgbClr val="C96442"/>
                </a:solidFill>
                <a:latin typeface="Courier New" pitchFamily="34" charset="0"/>
                <a:ea typeface="Courier New" pitchFamily="34" charset="-122"/>
                <a:cs typeface="Courier New" pitchFamily="34" charset="-120"/>
              </a:rPr>
              <a:t>on matching task</a:t>
            </a:r>
            <a:endParaRPr lang="en-US" sz="1300" dirty="0"/>
          </a:p>
        </p:txBody>
      </p:sp>
      <p:sp>
        <p:nvSpPr>
          <p:cNvPr id="26" name="Text 24"/>
          <p:cNvSpPr txBox="1"/>
          <p:nvPr/>
        </p:nvSpPr>
        <p:spPr>
          <a:xfrm>
            <a:off x="4489704" y="4121912"/>
            <a:ext cx="6924751"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Repeatable workflows, by slash or by match.</a:t>
            </a:r>
            <a:endParaRPr lang="en-US" sz="1400" dirty="0"/>
          </a:p>
        </p:txBody>
      </p:sp>
      <p:sp>
        <p:nvSpPr>
          <p:cNvPr id="27" name="Shape 25"/>
          <p:cNvSpPr/>
          <p:nvPr/>
        </p:nvSpPr>
        <p:spPr>
          <a:xfrm>
            <a:off x="777240" y="5751576"/>
            <a:ext cx="10637215" cy="25400"/>
          </a:xfrm>
          <a:prstGeom prst="rect">
            <a:avLst/>
          </a:prstGeom>
          <a:solidFill>
            <a:srgbClr val="E4DFD9"/>
          </a:solidFill>
          <a:ln/>
        </p:spPr>
      </p:sp>
      <p:sp>
        <p:nvSpPr>
          <p:cNvPr id="28" name="Text 26"/>
          <p:cNvSpPr txBox="1"/>
          <p:nvPr/>
        </p:nvSpPr>
        <p:spPr>
          <a:xfrm>
            <a:off x="777240" y="5196840"/>
            <a:ext cx="2468880" cy="243840"/>
          </a:xfrm>
          <a:prstGeom prst="rect">
            <a:avLst/>
          </a:prstGeom>
          <a:noFill/>
          <a:ln/>
        </p:spPr>
        <p:txBody>
          <a:bodyPr wrap="square" lIns="0" tIns="0" rIns="0" bIns="0" rtlCol="0" anchor="t"/>
          <a:lstStyle/>
          <a:p>
            <a:pPr algn="ctr" indent="0" marL="0">
              <a:lnSpc>
                <a:spcPct val="128000"/>
              </a:lnSpc>
              <a:buNone/>
            </a:pPr>
            <a:r>
              <a:rPr lang="en-US" sz="1500" b="1" dirty="0">
                <a:solidFill>
                  <a:srgbClr val="2A2621"/>
                </a:solidFill>
                <a:latin typeface="Arial" pitchFamily="34" charset="0"/>
                <a:ea typeface="Arial" pitchFamily="34" charset="-122"/>
                <a:cs typeface="Arial" pitchFamily="34" charset="-120"/>
              </a:rPr>
              <a:t>Session start</a:t>
            </a:r>
            <a:endParaRPr lang="en-US" sz="1500" dirty="0"/>
          </a:p>
        </p:txBody>
      </p:sp>
      <p:sp>
        <p:nvSpPr>
          <p:cNvPr id="29" name="Shape 27"/>
          <p:cNvSpPr/>
          <p:nvPr/>
        </p:nvSpPr>
        <p:spPr>
          <a:xfrm>
            <a:off x="1892808" y="5641848"/>
            <a:ext cx="237744" cy="237744"/>
          </a:xfrm>
          <a:prstGeom prst="ellipse">
            <a:avLst/>
          </a:prstGeom>
          <a:solidFill>
            <a:srgbClr val="C96442"/>
          </a:solidFill>
          <a:ln/>
        </p:spPr>
      </p:sp>
      <p:sp>
        <p:nvSpPr>
          <p:cNvPr id="30" name="Text 28"/>
          <p:cNvSpPr txBox="1"/>
          <p:nvPr/>
        </p:nvSpPr>
        <p:spPr>
          <a:xfrm>
            <a:off x="777240" y="5971032"/>
            <a:ext cx="2468880" cy="211328"/>
          </a:xfrm>
          <a:prstGeom prst="rect">
            <a:avLst/>
          </a:prstGeom>
          <a:noFill/>
          <a:ln/>
        </p:spPr>
        <p:txBody>
          <a:bodyPr wrap="square" lIns="0" tIns="0" rIns="0" bIns="0" rtlCol="0" anchor="t"/>
          <a:lstStyle/>
          <a:p>
            <a:pPr algn="ctr" indent="0" marL="0">
              <a:lnSpc>
                <a:spcPct val="128000"/>
              </a:lnSpc>
              <a:buNone/>
            </a:pPr>
            <a:r>
              <a:rPr lang="en-US" sz="1300" dirty="0">
                <a:solidFill>
                  <a:srgbClr val="6E675F"/>
                </a:solidFill>
                <a:latin typeface="Arial" pitchFamily="34" charset="0"/>
                <a:ea typeface="Arial" pitchFamily="34" charset="-122"/>
                <a:cs typeface="Arial" pitchFamily="34" charset="-120"/>
              </a:rPr>
              <a:t>CLAUDE.md + MEMORY.md</a:t>
            </a:r>
            <a:endParaRPr lang="en-US" sz="1300" dirty="0"/>
          </a:p>
        </p:txBody>
      </p:sp>
      <p:sp>
        <p:nvSpPr>
          <p:cNvPr id="31" name="Text 29"/>
          <p:cNvSpPr txBox="1"/>
          <p:nvPr/>
        </p:nvSpPr>
        <p:spPr>
          <a:xfrm>
            <a:off x="3499928" y="5196840"/>
            <a:ext cx="2468880" cy="243840"/>
          </a:xfrm>
          <a:prstGeom prst="rect">
            <a:avLst/>
          </a:prstGeom>
          <a:noFill/>
          <a:ln/>
        </p:spPr>
        <p:txBody>
          <a:bodyPr wrap="square" lIns="0" tIns="0" rIns="0" bIns="0" rtlCol="0" anchor="t"/>
          <a:lstStyle/>
          <a:p>
            <a:pPr algn="ctr" indent="0" marL="0">
              <a:lnSpc>
                <a:spcPct val="128000"/>
              </a:lnSpc>
              <a:buNone/>
            </a:pPr>
            <a:r>
              <a:rPr lang="en-US" sz="1500" b="1" dirty="0">
                <a:solidFill>
                  <a:srgbClr val="2A2621"/>
                </a:solidFill>
                <a:latin typeface="Arial" pitchFamily="34" charset="0"/>
                <a:ea typeface="Arial" pitchFamily="34" charset="-122"/>
                <a:cs typeface="Arial" pitchFamily="34" charset="-120"/>
              </a:rPr>
              <a:t>You open a file</a:t>
            </a:r>
            <a:endParaRPr lang="en-US" sz="1500" dirty="0"/>
          </a:p>
        </p:txBody>
      </p:sp>
      <p:sp>
        <p:nvSpPr>
          <p:cNvPr id="32" name="Shape 30"/>
          <p:cNvSpPr/>
          <p:nvPr/>
        </p:nvSpPr>
        <p:spPr>
          <a:xfrm>
            <a:off x="4615496" y="5641848"/>
            <a:ext cx="237744" cy="237744"/>
          </a:xfrm>
          <a:prstGeom prst="ellipse">
            <a:avLst/>
          </a:prstGeom>
          <a:solidFill>
            <a:srgbClr val="C96442"/>
          </a:solidFill>
          <a:ln/>
        </p:spPr>
      </p:sp>
      <p:sp>
        <p:nvSpPr>
          <p:cNvPr id="33" name="Text 31"/>
          <p:cNvSpPr txBox="1"/>
          <p:nvPr/>
        </p:nvSpPr>
        <p:spPr>
          <a:xfrm>
            <a:off x="3499928" y="5971032"/>
            <a:ext cx="2468880" cy="211328"/>
          </a:xfrm>
          <a:prstGeom prst="rect">
            <a:avLst/>
          </a:prstGeom>
          <a:noFill/>
          <a:ln/>
        </p:spPr>
        <p:txBody>
          <a:bodyPr wrap="square" lIns="0" tIns="0" rIns="0" bIns="0" rtlCol="0" anchor="t"/>
          <a:lstStyle/>
          <a:p>
            <a:pPr algn="ctr" indent="0" marL="0">
              <a:lnSpc>
                <a:spcPct val="128000"/>
              </a:lnSpc>
              <a:buNone/>
            </a:pPr>
            <a:r>
              <a:rPr lang="en-US" sz="1300" dirty="0">
                <a:solidFill>
                  <a:srgbClr val="6E675F"/>
                </a:solidFill>
                <a:latin typeface="Arial" pitchFamily="34" charset="0"/>
                <a:ea typeface="Arial" pitchFamily="34" charset="-122"/>
                <a:cs typeface="Arial" pitchFamily="34" charset="-120"/>
              </a:rPr>
              <a:t>matching rules</a:t>
            </a:r>
            <a:endParaRPr lang="en-US" sz="1300" dirty="0"/>
          </a:p>
        </p:txBody>
      </p:sp>
      <p:sp>
        <p:nvSpPr>
          <p:cNvPr id="34" name="Text 32"/>
          <p:cNvSpPr txBox="1"/>
          <p:nvPr/>
        </p:nvSpPr>
        <p:spPr>
          <a:xfrm>
            <a:off x="6222615" y="5196840"/>
            <a:ext cx="2468880" cy="243840"/>
          </a:xfrm>
          <a:prstGeom prst="rect">
            <a:avLst/>
          </a:prstGeom>
          <a:noFill/>
          <a:ln/>
        </p:spPr>
        <p:txBody>
          <a:bodyPr wrap="square" lIns="0" tIns="0" rIns="0" bIns="0" rtlCol="0" anchor="t"/>
          <a:lstStyle/>
          <a:p>
            <a:pPr algn="ctr" indent="0" marL="0">
              <a:lnSpc>
                <a:spcPct val="128000"/>
              </a:lnSpc>
              <a:buNone/>
            </a:pPr>
            <a:r>
              <a:rPr lang="en-US" sz="1500" b="1" dirty="0">
                <a:solidFill>
                  <a:srgbClr val="2A2621"/>
                </a:solidFill>
                <a:latin typeface="Arial" pitchFamily="34" charset="0"/>
                <a:ea typeface="Arial" pitchFamily="34" charset="-122"/>
                <a:cs typeface="Arial" pitchFamily="34" charset="-120"/>
              </a:rPr>
              <a:t>You name a task</a:t>
            </a:r>
            <a:endParaRPr lang="en-US" sz="1500" dirty="0"/>
          </a:p>
        </p:txBody>
      </p:sp>
      <p:sp>
        <p:nvSpPr>
          <p:cNvPr id="35" name="Shape 33"/>
          <p:cNvSpPr/>
          <p:nvPr/>
        </p:nvSpPr>
        <p:spPr>
          <a:xfrm>
            <a:off x="7338183" y="5641848"/>
            <a:ext cx="237744" cy="237744"/>
          </a:xfrm>
          <a:prstGeom prst="ellipse">
            <a:avLst/>
          </a:prstGeom>
          <a:solidFill>
            <a:srgbClr val="C96442"/>
          </a:solidFill>
          <a:ln/>
        </p:spPr>
      </p:sp>
      <p:sp>
        <p:nvSpPr>
          <p:cNvPr id="36" name="Text 34"/>
          <p:cNvSpPr txBox="1"/>
          <p:nvPr/>
        </p:nvSpPr>
        <p:spPr>
          <a:xfrm>
            <a:off x="6222615" y="5971032"/>
            <a:ext cx="2468880" cy="211328"/>
          </a:xfrm>
          <a:prstGeom prst="rect">
            <a:avLst/>
          </a:prstGeom>
          <a:noFill/>
          <a:ln/>
        </p:spPr>
        <p:txBody>
          <a:bodyPr wrap="square" lIns="0" tIns="0" rIns="0" bIns="0" rtlCol="0" anchor="t"/>
          <a:lstStyle/>
          <a:p>
            <a:pPr algn="ctr" indent="0" marL="0">
              <a:lnSpc>
                <a:spcPct val="128000"/>
              </a:lnSpc>
              <a:buNone/>
            </a:pPr>
            <a:r>
              <a:rPr lang="en-US" sz="1300" dirty="0">
                <a:solidFill>
                  <a:srgbClr val="6E675F"/>
                </a:solidFill>
                <a:latin typeface="Arial" pitchFamily="34" charset="0"/>
                <a:ea typeface="Arial" pitchFamily="34" charset="-122"/>
                <a:cs typeface="Arial" pitchFamily="34" charset="-120"/>
              </a:rPr>
              <a:t>matching skill</a:t>
            </a:r>
            <a:endParaRPr lang="en-US" sz="1300" dirty="0"/>
          </a:p>
        </p:txBody>
      </p:sp>
      <p:sp>
        <p:nvSpPr>
          <p:cNvPr id="37" name="Text 35"/>
          <p:cNvSpPr txBox="1"/>
          <p:nvPr/>
        </p:nvSpPr>
        <p:spPr>
          <a:xfrm>
            <a:off x="8945303" y="5196840"/>
            <a:ext cx="2468880" cy="243840"/>
          </a:xfrm>
          <a:prstGeom prst="rect">
            <a:avLst/>
          </a:prstGeom>
          <a:noFill/>
          <a:ln/>
        </p:spPr>
        <p:txBody>
          <a:bodyPr wrap="square" lIns="0" tIns="0" rIns="0" bIns="0" rtlCol="0" anchor="t"/>
          <a:lstStyle/>
          <a:p>
            <a:pPr algn="ctr" indent="0" marL="0">
              <a:lnSpc>
                <a:spcPct val="128000"/>
              </a:lnSpc>
              <a:buNone/>
            </a:pPr>
            <a:r>
              <a:rPr lang="en-US" sz="1500" b="1" dirty="0">
                <a:solidFill>
                  <a:srgbClr val="2A2621"/>
                </a:solidFill>
                <a:latin typeface="Arial" pitchFamily="34" charset="0"/>
                <a:ea typeface="Arial" pitchFamily="34" charset="-122"/>
                <a:cs typeface="Arial" pitchFamily="34" charset="-120"/>
              </a:rPr>
              <a:t>Mid-task</a:t>
            </a:r>
            <a:endParaRPr lang="en-US" sz="1500" dirty="0"/>
          </a:p>
        </p:txBody>
      </p:sp>
      <p:sp>
        <p:nvSpPr>
          <p:cNvPr id="38" name="Shape 36"/>
          <p:cNvSpPr/>
          <p:nvPr/>
        </p:nvSpPr>
        <p:spPr>
          <a:xfrm>
            <a:off x="10060871" y="5641848"/>
            <a:ext cx="237744" cy="237744"/>
          </a:xfrm>
          <a:prstGeom prst="ellipse">
            <a:avLst/>
          </a:prstGeom>
          <a:solidFill>
            <a:srgbClr val="C96442"/>
          </a:solidFill>
          <a:ln/>
        </p:spPr>
      </p:sp>
      <p:sp>
        <p:nvSpPr>
          <p:cNvPr id="39" name="Text 37"/>
          <p:cNvSpPr txBox="1"/>
          <p:nvPr/>
        </p:nvSpPr>
        <p:spPr>
          <a:xfrm>
            <a:off x="8945303" y="5971032"/>
            <a:ext cx="2468880" cy="211328"/>
          </a:xfrm>
          <a:prstGeom prst="rect">
            <a:avLst/>
          </a:prstGeom>
          <a:noFill/>
          <a:ln/>
        </p:spPr>
        <p:txBody>
          <a:bodyPr wrap="square" lIns="0" tIns="0" rIns="0" bIns="0" rtlCol="0" anchor="t"/>
          <a:lstStyle/>
          <a:p>
            <a:pPr algn="ctr" indent="0" marL="0">
              <a:lnSpc>
                <a:spcPct val="128000"/>
              </a:lnSpc>
              <a:buNone/>
            </a:pPr>
            <a:r>
              <a:rPr lang="en-US" sz="1300" dirty="0">
                <a:solidFill>
                  <a:srgbClr val="6E675F"/>
                </a:solidFill>
                <a:latin typeface="Arial" pitchFamily="34" charset="0"/>
                <a:ea typeface="Arial" pitchFamily="34" charset="-122"/>
                <a:cs typeface="Arial" pitchFamily="34" charset="-120"/>
              </a:rPr>
              <a:t>whatever Claude reads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1003554"/>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05 · CLAUDE CUSTOMIZATION</a:t>
            </a:r>
            <a:endParaRPr lang="en-US" sz="1200" dirty="0"/>
          </a:p>
        </p:txBody>
      </p:sp>
      <p:sp>
        <p:nvSpPr>
          <p:cNvPr id="3" name="Text 1"/>
          <p:cNvSpPr txBox="1"/>
          <p:nvPr/>
        </p:nvSpPr>
        <p:spPr>
          <a:xfrm>
            <a:off x="777240" y="1287018"/>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CLAUDE.md — The Project Map</a:t>
            </a:r>
            <a:endParaRPr lang="en-US" sz="4000" dirty="0"/>
          </a:p>
        </p:txBody>
      </p:sp>
      <p:sp>
        <p:nvSpPr>
          <p:cNvPr id="4" name="Shape 2"/>
          <p:cNvSpPr/>
          <p:nvPr/>
        </p:nvSpPr>
        <p:spPr>
          <a:xfrm>
            <a:off x="777240" y="2339594"/>
            <a:ext cx="5989265" cy="3641979"/>
          </a:xfrm>
          <a:prstGeom prst="roundRect">
            <a:avLst>
              <a:gd name="adj" fmla="val 504"/>
            </a:avLst>
          </a:prstGeom>
          <a:solidFill>
            <a:srgbClr val="1A1714"/>
          </a:solidFill>
          <a:ln/>
        </p:spPr>
      </p:sp>
      <p:sp>
        <p:nvSpPr>
          <p:cNvPr id="5" name="Shape 3"/>
          <p:cNvSpPr/>
          <p:nvPr/>
        </p:nvSpPr>
        <p:spPr>
          <a:xfrm>
            <a:off x="777240" y="2339594"/>
            <a:ext cx="5989265" cy="274320"/>
          </a:xfrm>
          <a:prstGeom prst="roundRect">
            <a:avLst>
              <a:gd name="adj" fmla="val 88889"/>
            </a:avLst>
          </a:prstGeom>
          <a:solidFill>
            <a:srgbClr val="332E28"/>
          </a:solidFill>
          <a:ln/>
        </p:spPr>
      </p:sp>
      <p:sp>
        <p:nvSpPr>
          <p:cNvPr id="6" name="Shape 4"/>
          <p:cNvSpPr/>
          <p:nvPr/>
        </p:nvSpPr>
        <p:spPr>
          <a:xfrm>
            <a:off x="777240" y="2540762"/>
            <a:ext cx="5989265" cy="73152"/>
          </a:xfrm>
          <a:prstGeom prst="rect">
            <a:avLst/>
          </a:prstGeom>
          <a:solidFill>
            <a:srgbClr val="332E28"/>
          </a:solidFill>
          <a:ln/>
        </p:spPr>
      </p:sp>
      <p:sp>
        <p:nvSpPr>
          <p:cNvPr id="7" name="Shape 5"/>
          <p:cNvSpPr/>
          <p:nvPr/>
        </p:nvSpPr>
        <p:spPr>
          <a:xfrm>
            <a:off x="905256" y="2435606"/>
            <a:ext cx="82296" cy="82296"/>
          </a:xfrm>
          <a:prstGeom prst="ellipse">
            <a:avLst/>
          </a:prstGeom>
          <a:solidFill>
            <a:srgbClr val="E8938A"/>
          </a:solidFill>
          <a:ln/>
        </p:spPr>
      </p:sp>
      <p:sp>
        <p:nvSpPr>
          <p:cNvPr id="8" name="Shape 6"/>
          <p:cNvSpPr/>
          <p:nvPr/>
        </p:nvSpPr>
        <p:spPr>
          <a:xfrm>
            <a:off x="1051560" y="2435606"/>
            <a:ext cx="82296" cy="82296"/>
          </a:xfrm>
          <a:prstGeom prst="ellipse">
            <a:avLst/>
          </a:prstGeom>
          <a:solidFill>
            <a:srgbClr val="9C948A"/>
          </a:solidFill>
          <a:ln/>
        </p:spPr>
      </p:sp>
      <p:sp>
        <p:nvSpPr>
          <p:cNvPr id="9" name="Shape 7"/>
          <p:cNvSpPr/>
          <p:nvPr/>
        </p:nvSpPr>
        <p:spPr>
          <a:xfrm>
            <a:off x="1197864" y="2435606"/>
            <a:ext cx="82296" cy="82296"/>
          </a:xfrm>
          <a:prstGeom prst="ellipse">
            <a:avLst/>
          </a:prstGeom>
          <a:solidFill>
            <a:srgbClr val="8FCB9B"/>
          </a:solidFill>
          <a:ln/>
        </p:spPr>
      </p:sp>
      <p:sp>
        <p:nvSpPr>
          <p:cNvPr id="10" name="Text 8"/>
          <p:cNvSpPr txBox="1"/>
          <p:nvPr/>
        </p:nvSpPr>
        <p:spPr>
          <a:xfrm>
            <a:off x="1380744" y="2367026"/>
            <a:ext cx="5257745" cy="219456"/>
          </a:xfrm>
          <a:prstGeom prst="rect">
            <a:avLst/>
          </a:prstGeom>
          <a:noFill/>
          <a:ln/>
        </p:spPr>
        <p:txBody>
          <a:bodyPr wrap="square" lIns="0" tIns="0" rIns="0" bIns="0" rtlCol="0" anchor="ctr"/>
          <a:lstStyle/>
          <a:p>
            <a:pPr algn="l" indent="0" marL="0">
              <a:lnSpc>
                <a:spcPct val="128000"/>
              </a:lnSpc>
              <a:buNone/>
            </a:pPr>
            <a:r>
              <a:rPr lang="en-US" sz="900" dirty="0">
                <a:solidFill>
                  <a:srgbClr val="9C948A"/>
                </a:solidFill>
                <a:latin typeface="Courier New" pitchFamily="34" charset="0"/>
                <a:ea typeface="Courier New" pitchFamily="34" charset="-122"/>
                <a:cs typeface="Courier New" pitchFamily="34" charset="-120"/>
              </a:rPr>
              <a:t>CLAUDE.md</a:t>
            </a:r>
            <a:endParaRPr lang="en-US" sz="900" dirty="0"/>
          </a:p>
        </p:txBody>
      </p:sp>
      <p:sp>
        <p:nvSpPr>
          <p:cNvPr id="11" name="Text 9"/>
          <p:cNvSpPr txBox="1"/>
          <p:nvPr/>
        </p:nvSpPr>
        <p:spPr>
          <a:xfrm>
            <a:off x="941832" y="2778506"/>
            <a:ext cx="5660081" cy="202565"/>
          </a:xfrm>
          <a:prstGeom prst="rect">
            <a:avLst/>
          </a:prstGeom>
          <a:noFill/>
          <a:ln/>
        </p:spPr>
        <p:txBody>
          <a:bodyPr wrap="none" lIns="0" tIns="0" rIns="0" bIns="0" rtlCol="0" anchor="t"/>
          <a:lstStyle/>
          <a:p>
            <a:pPr algn="l" indent="0" marL="0">
              <a:lnSpc>
                <a:spcPct val="128000"/>
              </a:lnSpc>
              <a:buNone/>
            </a:pPr>
            <a:r>
              <a:rPr lang="en-US" sz="1100" b="1" dirty="0">
                <a:solidFill>
                  <a:srgbClr val="EDE6DD"/>
                </a:solidFill>
                <a:latin typeface="Courier New" pitchFamily="34" charset="0"/>
                <a:ea typeface="Courier New" pitchFamily="34" charset="-122"/>
                <a:cs typeface="Courier New" pitchFamily="34" charset="-120"/>
              </a:rPr>
              <a:t># Payments API</a:t>
            </a:r>
            <a:endParaRPr lang="en-US" sz="1100" dirty="0"/>
          </a:p>
        </p:txBody>
      </p:sp>
      <p:sp>
        <p:nvSpPr>
          <p:cNvPr id="12" name="Text 10"/>
          <p:cNvSpPr txBox="1"/>
          <p:nvPr/>
        </p:nvSpPr>
        <p:spPr>
          <a:xfrm>
            <a:off x="941832" y="2981071"/>
            <a:ext cx="5660081" cy="202565"/>
          </a:xfrm>
          <a:prstGeom prst="rect">
            <a:avLst/>
          </a:prstGeom>
          <a:noFill/>
          <a:ln/>
        </p:spPr>
        <p:txBody>
          <a:bodyPr wrap="none" lIns="0" tIns="0" rIns="0" bIns="0" rtlCol="0" anchor="t"/>
          <a:lstStyle/>
          <a:p>
            <a:pPr algn="l" indent="0" marL="0">
              <a:lnSpc>
                <a:spcPct val="128000"/>
              </a:lnSpc>
              <a:buNone/>
            </a:pPr>
            <a:endParaRPr lang="en-US" sz="1100" dirty="0"/>
          </a:p>
        </p:txBody>
      </p:sp>
      <p:sp>
        <p:nvSpPr>
          <p:cNvPr id="13" name="Text 11"/>
          <p:cNvSpPr txBox="1"/>
          <p:nvPr/>
        </p:nvSpPr>
        <p:spPr>
          <a:xfrm>
            <a:off x="941832" y="3183636"/>
            <a:ext cx="5660081" cy="202565"/>
          </a:xfrm>
          <a:prstGeom prst="rect">
            <a:avLst/>
          </a:prstGeom>
          <a:noFill/>
          <a:ln/>
        </p:spPr>
        <p:txBody>
          <a:bodyPr wrap="none" lIns="0" tIns="0" rIns="0" bIns="0" rtlCol="0" anchor="t"/>
          <a:lstStyle/>
          <a:p>
            <a:pPr algn="l" indent="0" marL="0">
              <a:lnSpc>
                <a:spcPct val="128000"/>
              </a:lnSpc>
              <a:buNone/>
            </a:pPr>
            <a:r>
              <a:rPr lang="en-US" sz="1100" dirty="0">
                <a:solidFill>
                  <a:srgbClr val="9C948A"/>
                </a:solidFill>
                <a:latin typeface="Courier New" pitchFamily="34" charset="0"/>
                <a:ea typeface="Courier New" pitchFamily="34" charset="-122"/>
                <a:cs typeface="Courier New" pitchFamily="34" charset="-120"/>
              </a:rPr>
              <a:t>## Commands</a:t>
            </a:r>
            <a:endParaRPr lang="en-US" sz="1100" dirty="0"/>
          </a:p>
        </p:txBody>
      </p:sp>
      <p:sp>
        <p:nvSpPr>
          <p:cNvPr id="14" name="Text 12"/>
          <p:cNvSpPr txBox="1"/>
          <p:nvPr/>
        </p:nvSpPr>
        <p:spPr>
          <a:xfrm>
            <a:off x="941832" y="3386201"/>
            <a:ext cx="5660081"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pnpm dev      # local, needs Docker up</a:t>
            </a:r>
            <a:endParaRPr lang="en-US" sz="1100" dirty="0"/>
          </a:p>
        </p:txBody>
      </p:sp>
      <p:sp>
        <p:nvSpPr>
          <p:cNvPr id="15" name="Text 13"/>
          <p:cNvSpPr txBox="1"/>
          <p:nvPr/>
        </p:nvSpPr>
        <p:spPr>
          <a:xfrm>
            <a:off x="941832" y="3588766"/>
            <a:ext cx="5660081"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pnpm test:int # integration, slow</a:t>
            </a:r>
            <a:endParaRPr lang="en-US" sz="1100" dirty="0"/>
          </a:p>
        </p:txBody>
      </p:sp>
      <p:sp>
        <p:nvSpPr>
          <p:cNvPr id="16" name="Text 14"/>
          <p:cNvSpPr txBox="1"/>
          <p:nvPr/>
        </p:nvSpPr>
        <p:spPr>
          <a:xfrm>
            <a:off x="941832" y="3791331"/>
            <a:ext cx="5660081" cy="202565"/>
          </a:xfrm>
          <a:prstGeom prst="rect">
            <a:avLst/>
          </a:prstGeom>
          <a:noFill/>
          <a:ln/>
        </p:spPr>
        <p:txBody>
          <a:bodyPr wrap="none" lIns="0" tIns="0" rIns="0" bIns="0" rtlCol="0" anchor="t"/>
          <a:lstStyle/>
          <a:p>
            <a:pPr algn="l" indent="0" marL="0">
              <a:lnSpc>
                <a:spcPct val="128000"/>
              </a:lnSpc>
              <a:buNone/>
            </a:pPr>
            <a:endParaRPr lang="en-US" sz="1100" dirty="0"/>
          </a:p>
        </p:txBody>
      </p:sp>
      <p:sp>
        <p:nvSpPr>
          <p:cNvPr id="17" name="Text 15"/>
          <p:cNvSpPr txBox="1"/>
          <p:nvPr/>
        </p:nvSpPr>
        <p:spPr>
          <a:xfrm>
            <a:off x="941832" y="3993896"/>
            <a:ext cx="5660081" cy="202565"/>
          </a:xfrm>
          <a:prstGeom prst="rect">
            <a:avLst/>
          </a:prstGeom>
          <a:noFill/>
          <a:ln/>
        </p:spPr>
        <p:txBody>
          <a:bodyPr wrap="none" lIns="0" tIns="0" rIns="0" bIns="0" rtlCol="0" anchor="t"/>
          <a:lstStyle/>
          <a:p>
            <a:pPr algn="l" indent="0" marL="0">
              <a:lnSpc>
                <a:spcPct val="128000"/>
              </a:lnSpc>
              <a:buNone/>
            </a:pPr>
            <a:r>
              <a:rPr lang="en-US" sz="1100" dirty="0">
                <a:solidFill>
                  <a:srgbClr val="9C948A"/>
                </a:solidFill>
                <a:latin typeface="Courier New" pitchFamily="34" charset="0"/>
                <a:ea typeface="Courier New" pitchFamily="34" charset="-122"/>
                <a:cs typeface="Courier New" pitchFamily="34" charset="-120"/>
              </a:rPr>
              <a:t>## Architecture</a:t>
            </a:r>
            <a:endParaRPr lang="en-US" sz="1100" dirty="0"/>
          </a:p>
        </p:txBody>
      </p:sp>
      <p:sp>
        <p:nvSpPr>
          <p:cNvPr id="18" name="Text 16"/>
          <p:cNvSpPr txBox="1"/>
          <p:nvPr/>
        </p:nvSpPr>
        <p:spPr>
          <a:xfrm>
            <a:off x="941832" y="4196461"/>
            <a:ext cx="5660081"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 Routes in src/routes, thin.</a:t>
            </a:r>
            <a:endParaRPr lang="en-US" sz="1100" dirty="0"/>
          </a:p>
        </p:txBody>
      </p:sp>
      <p:sp>
        <p:nvSpPr>
          <p:cNvPr id="19" name="Text 17"/>
          <p:cNvSpPr txBox="1"/>
          <p:nvPr/>
        </p:nvSpPr>
        <p:spPr>
          <a:xfrm>
            <a:off x="941832" y="4399026"/>
            <a:ext cx="5660081"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 Business logic in src/domain.</a:t>
            </a:r>
            <a:endParaRPr lang="en-US" sz="1100" dirty="0"/>
          </a:p>
        </p:txBody>
      </p:sp>
      <p:sp>
        <p:nvSpPr>
          <p:cNvPr id="20" name="Text 18"/>
          <p:cNvSpPr txBox="1"/>
          <p:nvPr/>
        </p:nvSpPr>
        <p:spPr>
          <a:xfrm>
            <a:off x="941832" y="4601591"/>
            <a:ext cx="5660081"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 Never call Stripe outside</a:t>
            </a:r>
            <a:endParaRPr lang="en-US" sz="1100" dirty="0"/>
          </a:p>
        </p:txBody>
      </p:sp>
      <p:sp>
        <p:nvSpPr>
          <p:cNvPr id="21" name="Text 19"/>
          <p:cNvSpPr txBox="1"/>
          <p:nvPr/>
        </p:nvSpPr>
        <p:spPr>
          <a:xfrm>
            <a:off x="941832" y="4804156"/>
            <a:ext cx="5660081"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  src/domain/billing.</a:t>
            </a:r>
            <a:endParaRPr lang="en-US" sz="1100" dirty="0"/>
          </a:p>
        </p:txBody>
      </p:sp>
      <p:sp>
        <p:nvSpPr>
          <p:cNvPr id="22" name="Text 20"/>
          <p:cNvSpPr txBox="1"/>
          <p:nvPr/>
        </p:nvSpPr>
        <p:spPr>
          <a:xfrm>
            <a:off x="941832" y="5006721"/>
            <a:ext cx="5660081" cy="202565"/>
          </a:xfrm>
          <a:prstGeom prst="rect">
            <a:avLst/>
          </a:prstGeom>
          <a:noFill/>
          <a:ln/>
        </p:spPr>
        <p:txBody>
          <a:bodyPr wrap="none" lIns="0" tIns="0" rIns="0" bIns="0" rtlCol="0" anchor="t"/>
          <a:lstStyle/>
          <a:p>
            <a:pPr algn="l" indent="0" marL="0">
              <a:lnSpc>
                <a:spcPct val="128000"/>
              </a:lnSpc>
              <a:buNone/>
            </a:pPr>
            <a:endParaRPr lang="en-US" sz="1100" dirty="0"/>
          </a:p>
        </p:txBody>
      </p:sp>
      <p:sp>
        <p:nvSpPr>
          <p:cNvPr id="23" name="Text 21"/>
          <p:cNvSpPr txBox="1"/>
          <p:nvPr/>
        </p:nvSpPr>
        <p:spPr>
          <a:xfrm>
            <a:off x="941832" y="5209286"/>
            <a:ext cx="5660081" cy="202565"/>
          </a:xfrm>
          <a:prstGeom prst="rect">
            <a:avLst/>
          </a:prstGeom>
          <a:noFill/>
          <a:ln/>
        </p:spPr>
        <p:txBody>
          <a:bodyPr wrap="none" lIns="0" tIns="0" rIns="0" bIns="0" rtlCol="0" anchor="t"/>
          <a:lstStyle/>
          <a:p>
            <a:pPr algn="l" indent="0" marL="0">
              <a:lnSpc>
                <a:spcPct val="128000"/>
              </a:lnSpc>
              <a:buNone/>
            </a:pPr>
            <a:r>
              <a:rPr lang="en-US" sz="1100" dirty="0">
                <a:solidFill>
                  <a:srgbClr val="9C948A"/>
                </a:solidFill>
                <a:latin typeface="Courier New" pitchFamily="34" charset="0"/>
                <a:ea typeface="Courier New" pitchFamily="34" charset="-122"/>
                <a:cs typeface="Courier New" pitchFamily="34" charset="-120"/>
              </a:rPr>
              <a:t>## Gotchas</a:t>
            </a:r>
            <a:endParaRPr lang="en-US" sz="1100" dirty="0"/>
          </a:p>
        </p:txBody>
      </p:sp>
      <p:sp>
        <p:nvSpPr>
          <p:cNvPr id="24" name="Text 22"/>
          <p:cNvSpPr txBox="1"/>
          <p:nvPr/>
        </p:nvSpPr>
        <p:spPr>
          <a:xfrm>
            <a:off x="941832" y="5411851"/>
            <a:ext cx="5660081"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 Migrations are NOT auto-run.</a:t>
            </a:r>
            <a:endParaRPr lang="en-US" sz="1100" dirty="0"/>
          </a:p>
        </p:txBody>
      </p:sp>
      <p:sp>
        <p:nvSpPr>
          <p:cNvPr id="25" name="Text 23"/>
          <p:cNvSpPr txBox="1"/>
          <p:nvPr/>
        </p:nvSpPr>
        <p:spPr>
          <a:xfrm>
            <a:off x="941832" y="5614416"/>
            <a:ext cx="5660081"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 CI uses Node 20, not 22.</a:t>
            </a:r>
            <a:endParaRPr lang="en-US" sz="1100" dirty="0"/>
          </a:p>
        </p:txBody>
      </p:sp>
      <p:sp>
        <p:nvSpPr>
          <p:cNvPr id="26" name="Shape 24"/>
          <p:cNvSpPr/>
          <p:nvPr/>
        </p:nvSpPr>
        <p:spPr>
          <a:xfrm>
            <a:off x="7077401" y="2339594"/>
            <a:ext cx="4337054" cy="1570167"/>
          </a:xfrm>
          <a:prstGeom prst="roundRect">
            <a:avLst>
              <a:gd name="adj" fmla="val 3391"/>
            </a:avLst>
          </a:prstGeom>
          <a:solidFill>
            <a:srgbClr val="F6E7DE"/>
          </a:solidFill>
          <a:ln/>
        </p:spPr>
      </p:sp>
      <p:sp>
        <p:nvSpPr>
          <p:cNvPr id="27" name="Text 25"/>
          <p:cNvSpPr txBox="1"/>
          <p:nvPr/>
        </p:nvSpPr>
        <p:spPr>
          <a:xfrm>
            <a:off x="7306733" y="2568926"/>
            <a:ext cx="3878391" cy="276352"/>
          </a:xfrm>
          <a:prstGeom prst="rect">
            <a:avLst/>
          </a:prstGeom>
          <a:noFill/>
          <a:ln/>
        </p:spPr>
        <p:txBody>
          <a:bodyPr wrap="square" lIns="0" tIns="0" rIns="0" bIns="0" rtlCol="0" anchor="t"/>
          <a:lstStyle/>
          <a:p>
            <a:pPr algn="l" indent="0" marL="0">
              <a:lnSpc>
                <a:spcPct val="128000"/>
              </a:lnSpc>
              <a:buNone/>
            </a:pPr>
            <a:r>
              <a:rPr lang="en-US" sz="1700" b="1" dirty="0">
                <a:solidFill>
                  <a:srgbClr val="C96442"/>
                </a:solidFill>
                <a:latin typeface="Arial" pitchFamily="34" charset="0"/>
                <a:ea typeface="Arial" pitchFamily="34" charset="-122"/>
                <a:cs typeface="Arial" pitchFamily="34" charset="-120"/>
              </a:rPr>
              <a:t>/init</a:t>
            </a:r>
            <a:endParaRPr lang="en-US" sz="1700" dirty="0"/>
          </a:p>
        </p:txBody>
      </p:sp>
      <p:sp>
        <p:nvSpPr>
          <p:cNvPr id="28" name="Text 26"/>
          <p:cNvSpPr txBox="1"/>
          <p:nvPr/>
        </p:nvSpPr>
        <p:spPr>
          <a:xfrm>
            <a:off x="7306733" y="2900142"/>
            <a:ext cx="3878391" cy="780288"/>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Drafts a project-level CLAUDE.md from the codebase. Always edit what it produces.</a:t>
            </a:r>
            <a:endParaRPr lang="en-US" sz="1600" dirty="0"/>
          </a:p>
        </p:txBody>
      </p:sp>
      <p:sp>
        <p:nvSpPr>
          <p:cNvPr id="29" name="Text 27"/>
          <p:cNvSpPr txBox="1"/>
          <p:nvPr/>
        </p:nvSpPr>
        <p:spPr>
          <a:xfrm>
            <a:off x="7077401" y="4275521"/>
            <a:ext cx="285750" cy="266700"/>
          </a:xfrm>
          <a:prstGeom prst="rect">
            <a:avLst/>
          </a:prstGeom>
          <a:noFill/>
          <a:ln/>
        </p:spPr>
        <p:txBody>
          <a:bodyPr wrap="square" lIns="0" tIns="0" rIns="0" bIns="0" rtlCol="0" anchor="t"/>
          <a:lstStyle/>
          <a:p>
            <a:pPr algn="l" indent="0" marL="0">
              <a:lnSpc>
                <a:spcPct val="128000"/>
              </a:lnSpc>
              <a:buNone/>
            </a:pPr>
            <a:r>
              <a:rPr lang="en-US" sz="1500" b="1" dirty="0">
                <a:solidFill>
                  <a:srgbClr val="C96442"/>
                </a:solidFill>
                <a:latin typeface="Arial" pitchFamily="34" charset="0"/>
                <a:ea typeface="Arial" pitchFamily="34" charset="-122"/>
                <a:cs typeface="Arial" pitchFamily="34" charset="-120"/>
              </a:rPr>
              <a:t>•</a:t>
            </a:r>
            <a:endParaRPr lang="en-US" sz="1500" dirty="0"/>
          </a:p>
        </p:txBody>
      </p:sp>
      <p:sp>
        <p:nvSpPr>
          <p:cNvPr id="30" name="Text 28"/>
          <p:cNvSpPr txBox="1"/>
          <p:nvPr/>
        </p:nvSpPr>
        <p:spPr>
          <a:xfrm>
            <a:off x="7363151" y="4275521"/>
            <a:ext cx="4051304" cy="243840"/>
          </a:xfrm>
          <a:prstGeom prst="rect">
            <a:avLst/>
          </a:prstGeom>
          <a:noFill/>
          <a:ln/>
        </p:spPr>
        <p:txBody>
          <a:bodyPr wrap="square" lIns="0" tIns="0" rIns="0" bIns="0" rtlCol="0" anchor="t"/>
          <a:lstStyle/>
          <a:p>
            <a:pPr algn="l" indent="0" marL="0">
              <a:lnSpc>
                <a:spcPct val="128000"/>
              </a:lnSpc>
              <a:buNone/>
            </a:pPr>
            <a:r>
              <a:rPr lang="en-US" sz="1500" dirty="0">
                <a:solidFill>
                  <a:srgbClr val="2A2621"/>
                </a:solidFill>
                <a:latin typeface="Arial" pitchFamily="34" charset="0"/>
                <a:ea typeface="Arial" pitchFamily="34" charset="-122"/>
                <a:cs typeface="Arial" pitchFamily="34" charset="-120"/>
              </a:rPr>
              <a:t>Architecture notes</a:t>
            </a:r>
            <a:endParaRPr lang="en-US" sz="1500" dirty="0"/>
          </a:p>
        </p:txBody>
      </p:sp>
      <p:sp>
        <p:nvSpPr>
          <p:cNvPr id="31" name="Text 29"/>
          <p:cNvSpPr txBox="1"/>
          <p:nvPr/>
        </p:nvSpPr>
        <p:spPr>
          <a:xfrm>
            <a:off x="7077401" y="4665299"/>
            <a:ext cx="285750" cy="266700"/>
          </a:xfrm>
          <a:prstGeom prst="rect">
            <a:avLst/>
          </a:prstGeom>
          <a:noFill/>
          <a:ln/>
        </p:spPr>
        <p:txBody>
          <a:bodyPr wrap="square" lIns="0" tIns="0" rIns="0" bIns="0" rtlCol="0" anchor="t"/>
          <a:lstStyle/>
          <a:p>
            <a:pPr algn="l" indent="0" marL="0">
              <a:lnSpc>
                <a:spcPct val="128000"/>
              </a:lnSpc>
              <a:buNone/>
            </a:pPr>
            <a:r>
              <a:rPr lang="en-US" sz="1500" b="1" dirty="0">
                <a:solidFill>
                  <a:srgbClr val="C96442"/>
                </a:solidFill>
                <a:latin typeface="Arial" pitchFamily="34" charset="0"/>
                <a:ea typeface="Arial" pitchFamily="34" charset="-122"/>
                <a:cs typeface="Arial" pitchFamily="34" charset="-120"/>
              </a:rPr>
              <a:t>•</a:t>
            </a:r>
            <a:endParaRPr lang="en-US" sz="1500" dirty="0"/>
          </a:p>
        </p:txBody>
      </p:sp>
      <p:sp>
        <p:nvSpPr>
          <p:cNvPr id="32" name="Text 30"/>
          <p:cNvSpPr txBox="1"/>
          <p:nvPr/>
        </p:nvSpPr>
        <p:spPr>
          <a:xfrm>
            <a:off x="7363151" y="4665299"/>
            <a:ext cx="4051304" cy="243840"/>
          </a:xfrm>
          <a:prstGeom prst="rect">
            <a:avLst/>
          </a:prstGeom>
          <a:noFill/>
          <a:ln/>
        </p:spPr>
        <p:txBody>
          <a:bodyPr wrap="square" lIns="0" tIns="0" rIns="0" bIns="0" rtlCol="0" anchor="t"/>
          <a:lstStyle/>
          <a:p>
            <a:pPr algn="l" indent="0" marL="0">
              <a:lnSpc>
                <a:spcPct val="128000"/>
              </a:lnSpc>
              <a:buNone/>
            </a:pPr>
            <a:r>
              <a:rPr lang="en-US" sz="1500" dirty="0">
                <a:solidFill>
                  <a:srgbClr val="2A2621"/>
                </a:solidFill>
                <a:latin typeface="Arial" pitchFamily="34" charset="0"/>
                <a:ea typeface="Arial" pitchFamily="34" charset="-122"/>
                <a:cs typeface="Arial" pitchFamily="34" charset="-120"/>
              </a:rPr>
              <a:t>Build, test, deploy commands</a:t>
            </a:r>
            <a:endParaRPr lang="en-US" sz="1500" dirty="0"/>
          </a:p>
        </p:txBody>
      </p:sp>
      <p:sp>
        <p:nvSpPr>
          <p:cNvPr id="33" name="Text 31"/>
          <p:cNvSpPr txBox="1"/>
          <p:nvPr/>
        </p:nvSpPr>
        <p:spPr>
          <a:xfrm>
            <a:off x="7077401" y="5055078"/>
            <a:ext cx="285750" cy="266700"/>
          </a:xfrm>
          <a:prstGeom prst="rect">
            <a:avLst/>
          </a:prstGeom>
          <a:noFill/>
          <a:ln/>
        </p:spPr>
        <p:txBody>
          <a:bodyPr wrap="square" lIns="0" tIns="0" rIns="0" bIns="0" rtlCol="0" anchor="t"/>
          <a:lstStyle/>
          <a:p>
            <a:pPr algn="l" indent="0" marL="0">
              <a:lnSpc>
                <a:spcPct val="128000"/>
              </a:lnSpc>
              <a:buNone/>
            </a:pPr>
            <a:r>
              <a:rPr lang="en-US" sz="1500" b="1" dirty="0">
                <a:solidFill>
                  <a:srgbClr val="C96442"/>
                </a:solidFill>
                <a:latin typeface="Arial" pitchFamily="34" charset="0"/>
                <a:ea typeface="Arial" pitchFamily="34" charset="-122"/>
                <a:cs typeface="Arial" pitchFamily="34" charset="-120"/>
              </a:rPr>
              <a:t>•</a:t>
            </a:r>
            <a:endParaRPr lang="en-US" sz="1500" dirty="0"/>
          </a:p>
        </p:txBody>
      </p:sp>
      <p:sp>
        <p:nvSpPr>
          <p:cNvPr id="34" name="Text 32"/>
          <p:cNvSpPr txBox="1"/>
          <p:nvPr/>
        </p:nvSpPr>
        <p:spPr>
          <a:xfrm>
            <a:off x="7363151" y="5055078"/>
            <a:ext cx="4051304" cy="243840"/>
          </a:xfrm>
          <a:prstGeom prst="rect">
            <a:avLst/>
          </a:prstGeom>
          <a:noFill/>
          <a:ln/>
        </p:spPr>
        <p:txBody>
          <a:bodyPr wrap="square" lIns="0" tIns="0" rIns="0" bIns="0" rtlCol="0" anchor="t"/>
          <a:lstStyle/>
          <a:p>
            <a:pPr algn="l" indent="0" marL="0">
              <a:lnSpc>
                <a:spcPct val="128000"/>
              </a:lnSpc>
              <a:buNone/>
            </a:pPr>
            <a:r>
              <a:rPr lang="en-US" sz="1500" dirty="0">
                <a:solidFill>
                  <a:srgbClr val="2A2621"/>
                </a:solidFill>
                <a:latin typeface="Arial" pitchFamily="34" charset="0"/>
                <a:ea typeface="Arial" pitchFamily="34" charset="-122"/>
                <a:cs typeface="Arial" pitchFamily="34" charset="-120"/>
              </a:rPr>
              <a:t>Gotchas that bite newcomers</a:t>
            </a:r>
            <a:endParaRPr lang="en-US" sz="1500" dirty="0"/>
          </a:p>
        </p:txBody>
      </p:sp>
      <p:sp>
        <p:nvSpPr>
          <p:cNvPr id="35" name="Text 33"/>
          <p:cNvSpPr txBox="1"/>
          <p:nvPr/>
        </p:nvSpPr>
        <p:spPr>
          <a:xfrm>
            <a:off x="7077401" y="5444856"/>
            <a:ext cx="285750" cy="266700"/>
          </a:xfrm>
          <a:prstGeom prst="rect">
            <a:avLst/>
          </a:prstGeom>
          <a:noFill/>
          <a:ln/>
        </p:spPr>
        <p:txBody>
          <a:bodyPr wrap="square" lIns="0" tIns="0" rIns="0" bIns="0" rtlCol="0" anchor="t"/>
          <a:lstStyle/>
          <a:p>
            <a:pPr algn="l" indent="0" marL="0">
              <a:lnSpc>
                <a:spcPct val="128000"/>
              </a:lnSpc>
              <a:buNone/>
            </a:pPr>
            <a:r>
              <a:rPr lang="en-US" sz="1500" b="1" dirty="0">
                <a:solidFill>
                  <a:srgbClr val="C96442"/>
                </a:solidFill>
                <a:latin typeface="Arial" pitchFamily="34" charset="0"/>
                <a:ea typeface="Arial" pitchFamily="34" charset="-122"/>
                <a:cs typeface="Arial" pitchFamily="34" charset="-120"/>
              </a:rPr>
              <a:t>•</a:t>
            </a:r>
            <a:endParaRPr lang="en-US" sz="1500" dirty="0"/>
          </a:p>
        </p:txBody>
      </p:sp>
      <p:sp>
        <p:nvSpPr>
          <p:cNvPr id="36" name="Text 34"/>
          <p:cNvSpPr txBox="1"/>
          <p:nvPr/>
        </p:nvSpPr>
        <p:spPr>
          <a:xfrm>
            <a:off x="7363151" y="5444856"/>
            <a:ext cx="4051304" cy="243840"/>
          </a:xfrm>
          <a:prstGeom prst="rect">
            <a:avLst/>
          </a:prstGeom>
          <a:noFill/>
          <a:ln/>
        </p:spPr>
        <p:txBody>
          <a:bodyPr wrap="square" lIns="0" tIns="0" rIns="0" bIns="0" rtlCol="0" anchor="t"/>
          <a:lstStyle/>
          <a:p>
            <a:pPr algn="l" indent="0" marL="0">
              <a:lnSpc>
                <a:spcPct val="128000"/>
              </a:lnSpc>
              <a:buNone/>
            </a:pPr>
            <a:r>
              <a:rPr lang="en-US" sz="1500" dirty="0">
                <a:solidFill>
                  <a:srgbClr val="2A2621"/>
                </a:solidFill>
                <a:latin typeface="Arial" pitchFamily="34" charset="0"/>
                <a:ea typeface="Arial" pitchFamily="34" charset="-122"/>
                <a:cs typeface="Arial" pitchFamily="34" charset="-120"/>
              </a:rPr>
              <a:t>Links to external docs</a:t>
            </a:r>
            <a:endParaRPr lang="en-US" sz="1500" dirty="0"/>
          </a:p>
        </p:txBody>
      </p:sp>
      <p:sp>
        <p:nvSpPr>
          <p:cNvPr id="37" name="Text 35"/>
          <p:cNvSpPr txBox="1"/>
          <p:nvPr/>
        </p:nvSpPr>
        <p:spPr>
          <a:xfrm>
            <a:off x="7077401" y="5834634"/>
            <a:ext cx="285750" cy="266700"/>
          </a:xfrm>
          <a:prstGeom prst="rect">
            <a:avLst/>
          </a:prstGeom>
          <a:noFill/>
          <a:ln/>
        </p:spPr>
        <p:txBody>
          <a:bodyPr wrap="square" lIns="0" tIns="0" rIns="0" bIns="0" rtlCol="0" anchor="t"/>
          <a:lstStyle/>
          <a:p>
            <a:pPr algn="l" indent="0" marL="0">
              <a:lnSpc>
                <a:spcPct val="128000"/>
              </a:lnSpc>
              <a:buNone/>
            </a:pPr>
            <a:r>
              <a:rPr lang="en-US" sz="1500" b="1" dirty="0">
                <a:solidFill>
                  <a:srgbClr val="C96442"/>
                </a:solidFill>
                <a:latin typeface="Arial" pitchFamily="34" charset="0"/>
                <a:ea typeface="Arial" pitchFamily="34" charset="-122"/>
                <a:cs typeface="Arial" pitchFamily="34" charset="-120"/>
              </a:rPr>
              <a:t>•</a:t>
            </a:r>
            <a:endParaRPr lang="en-US" sz="1500" dirty="0"/>
          </a:p>
        </p:txBody>
      </p:sp>
      <p:sp>
        <p:nvSpPr>
          <p:cNvPr id="38" name="Text 36"/>
          <p:cNvSpPr txBox="1"/>
          <p:nvPr/>
        </p:nvSpPr>
        <p:spPr>
          <a:xfrm>
            <a:off x="7363151" y="5834634"/>
            <a:ext cx="4051304" cy="243840"/>
          </a:xfrm>
          <a:prstGeom prst="rect">
            <a:avLst/>
          </a:prstGeom>
          <a:noFill/>
          <a:ln/>
        </p:spPr>
        <p:txBody>
          <a:bodyPr wrap="square" lIns="0" tIns="0" rIns="0" bIns="0" rtlCol="0" anchor="t"/>
          <a:lstStyle/>
          <a:p>
            <a:pPr algn="l" indent="0" marL="0">
              <a:lnSpc>
                <a:spcPct val="128000"/>
              </a:lnSpc>
              <a:buNone/>
            </a:pPr>
            <a:r>
              <a:rPr lang="en-US" sz="1500" b="1" dirty="0">
                <a:solidFill>
                  <a:srgbClr val="2A2621"/>
                </a:solidFill>
                <a:latin typeface="Arial" pitchFamily="34" charset="0"/>
                <a:ea typeface="Arial" pitchFamily="34" charset="-122"/>
                <a:cs typeface="Arial" pitchFamily="34" charset="-120"/>
              </a:rPr>
              <a:t>Keep it short — it loads every time</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658368"/>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05 · CLAUDE CUSTOMIZATION</a:t>
            </a:r>
            <a:endParaRPr lang="en-US" sz="1200" dirty="0"/>
          </a:p>
        </p:txBody>
      </p:sp>
      <p:sp>
        <p:nvSpPr>
          <p:cNvPr id="3" name="Text 1"/>
          <p:cNvSpPr txBox="1"/>
          <p:nvPr/>
        </p:nvSpPr>
        <p:spPr>
          <a:xfrm>
            <a:off x="777240" y="941832"/>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Rules Load When They Apply</a:t>
            </a:r>
            <a:endParaRPr lang="en-US" sz="4000" dirty="0"/>
          </a:p>
        </p:txBody>
      </p:sp>
      <p:sp>
        <p:nvSpPr>
          <p:cNvPr id="4" name="Text 2"/>
          <p:cNvSpPr txBox="1"/>
          <p:nvPr/>
        </p:nvSpPr>
        <p:spPr>
          <a:xfrm>
            <a:off x="777240" y="1994408"/>
            <a:ext cx="8412480" cy="276352"/>
          </a:xfrm>
          <a:prstGeom prst="rect">
            <a:avLst/>
          </a:prstGeom>
          <a:noFill/>
          <a:ln/>
        </p:spPr>
        <p:txBody>
          <a:bodyPr wrap="square" lIns="0" tIns="0" rIns="0" bIns="0" rtlCol="0" anchor="t"/>
          <a:lstStyle/>
          <a:p>
            <a:pPr algn="l" indent="0" marL="0">
              <a:lnSpc>
                <a:spcPct val="128000"/>
              </a:lnSpc>
              <a:buNone/>
            </a:pPr>
            <a:r>
              <a:rPr lang="en-US" sz="1700" dirty="0">
                <a:solidFill>
                  <a:srgbClr val="6E675F"/>
                </a:solidFill>
                <a:latin typeface="Arial" pitchFamily="34" charset="0"/>
                <a:ea typeface="Arial" pitchFamily="34" charset="-122"/>
                <a:cs typeface="Arial" pitchFamily="34" charset="-120"/>
              </a:rPr>
              <a:t>Guardrails for reading and writing in specific files and folders.</a:t>
            </a:r>
            <a:endParaRPr lang="en-US" sz="1700" dirty="0"/>
          </a:p>
        </p:txBody>
      </p:sp>
      <p:sp>
        <p:nvSpPr>
          <p:cNvPr id="5" name="Shape 3"/>
          <p:cNvSpPr/>
          <p:nvPr/>
        </p:nvSpPr>
        <p:spPr>
          <a:xfrm>
            <a:off x="777240" y="2508504"/>
            <a:ext cx="5163160" cy="2021459"/>
          </a:xfrm>
          <a:prstGeom prst="roundRect">
            <a:avLst>
              <a:gd name="adj" fmla="val 1637"/>
            </a:avLst>
          </a:prstGeom>
          <a:solidFill>
            <a:srgbClr val="1A1714"/>
          </a:solidFill>
          <a:ln/>
        </p:spPr>
      </p:sp>
      <p:sp>
        <p:nvSpPr>
          <p:cNvPr id="6" name="Shape 4"/>
          <p:cNvSpPr/>
          <p:nvPr/>
        </p:nvSpPr>
        <p:spPr>
          <a:xfrm>
            <a:off x="777240" y="2508504"/>
            <a:ext cx="5163160" cy="274320"/>
          </a:xfrm>
          <a:prstGeom prst="roundRect">
            <a:avLst>
              <a:gd name="adj" fmla="val 88889"/>
            </a:avLst>
          </a:prstGeom>
          <a:solidFill>
            <a:srgbClr val="332E28"/>
          </a:solidFill>
          <a:ln/>
        </p:spPr>
      </p:sp>
      <p:sp>
        <p:nvSpPr>
          <p:cNvPr id="7" name="Shape 5"/>
          <p:cNvSpPr/>
          <p:nvPr/>
        </p:nvSpPr>
        <p:spPr>
          <a:xfrm>
            <a:off x="777240" y="2709672"/>
            <a:ext cx="5163160" cy="73152"/>
          </a:xfrm>
          <a:prstGeom prst="rect">
            <a:avLst/>
          </a:prstGeom>
          <a:solidFill>
            <a:srgbClr val="332E28"/>
          </a:solidFill>
          <a:ln/>
        </p:spPr>
      </p:sp>
      <p:sp>
        <p:nvSpPr>
          <p:cNvPr id="8" name="Shape 6"/>
          <p:cNvSpPr/>
          <p:nvPr/>
        </p:nvSpPr>
        <p:spPr>
          <a:xfrm>
            <a:off x="905256" y="2604516"/>
            <a:ext cx="82296" cy="82296"/>
          </a:xfrm>
          <a:prstGeom prst="ellipse">
            <a:avLst/>
          </a:prstGeom>
          <a:solidFill>
            <a:srgbClr val="E8938A"/>
          </a:solidFill>
          <a:ln/>
        </p:spPr>
      </p:sp>
      <p:sp>
        <p:nvSpPr>
          <p:cNvPr id="9" name="Shape 7"/>
          <p:cNvSpPr/>
          <p:nvPr/>
        </p:nvSpPr>
        <p:spPr>
          <a:xfrm>
            <a:off x="1051560" y="2604516"/>
            <a:ext cx="82296" cy="82296"/>
          </a:xfrm>
          <a:prstGeom prst="ellipse">
            <a:avLst/>
          </a:prstGeom>
          <a:solidFill>
            <a:srgbClr val="9C948A"/>
          </a:solidFill>
          <a:ln/>
        </p:spPr>
      </p:sp>
      <p:sp>
        <p:nvSpPr>
          <p:cNvPr id="10" name="Shape 8"/>
          <p:cNvSpPr/>
          <p:nvPr/>
        </p:nvSpPr>
        <p:spPr>
          <a:xfrm>
            <a:off x="1197864" y="2604516"/>
            <a:ext cx="82296" cy="82296"/>
          </a:xfrm>
          <a:prstGeom prst="ellipse">
            <a:avLst/>
          </a:prstGeom>
          <a:solidFill>
            <a:srgbClr val="8FCB9B"/>
          </a:solidFill>
          <a:ln/>
        </p:spPr>
      </p:sp>
      <p:sp>
        <p:nvSpPr>
          <p:cNvPr id="11" name="Text 9"/>
          <p:cNvSpPr txBox="1"/>
          <p:nvPr/>
        </p:nvSpPr>
        <p:spPr>
          <a:xfrm>
            <a:off x="1380744" y="2535936"/>
            <a:ext cx="4431640" cy="219456"/>
          </a:xfrm>
          <a:prstGeom prst="rect">
            <a:avLst/>
          </a:prstGeom>
          <a:noFill/>
          <a:ln/>
        </p:spPr>
        <p:txBody>
          <a:bodyPr wrap="square" lIns="0" tIns="0" rIns="0" bIns="0" rtlCol="0" anchor="ctr"/>
          <a:lstStyle/>
          <a:p>
            <a:pPr algn="l" indent="0" marL="0">
              <a:lnSpc>
                <a:spcPct val="128000"/>
              </a:lnSpc>
              <a:buNone/>
            </a:pPr>
            <a:r>
              <a:rPr lang="en-US" sz="900" dirty="0">
                <a:solidFill>
                  <a:srgbClr val="9C948A"/>
                </a:solidFill>
                <a:latin typeface="Courier New" pitchFamily="34" charset="0"/>
                <a:ea typeface="Courier New" pitchFamily="34" charset="-122"/>
                <a:cs typeface="Courier New" pitchFamily="34" charset="-120"/>
              </a:rPr>
              <a:t>.claude/rules/dotnet.md</a:t>
            </a:r>
            <a:endParaRPr lang="en-US" sz="900" dirty="0"/>
          </a:p>
        </p:txBody>
      </p:sp>
      <p:sp>
        <p:nvSpPr>
          <p:cNvPr id="12" name="Text 10"/>
          <p:cNvSpPr txBox="1"/>
          <p:nvPr/>
        </p:nvSpPr>
        <p:spPr>
          <a:xfrm>
            <a:off x="941832" y="2947416"/>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9C948A"/>
                </a:solidFill>
                <a:latin typeface="Courier New" pitchFamily="34" charset="0"/>
                <a:ea typeface="Courier New" pitchFamily="34" charset="-122"/>
                <a:cs typeface="Courier New" pitchFamily="34" charset="-120"/>
              </a:rPr>
              <a:t>---</a:t>
            </a:r>
            <a:endParaRPr lang="en-US" sz="1100" dirty="0"/>
          </a:p>
        </p:txBody>
      </p:sp>
      <p:sp>
        <p:nvSpPr>
          <p:cNvPr id="13" name="Text 11"/>
          <p:cNvSpPr txBox="1"/>
          <p:nvPr/>
        </p:nvSpPr>
        <p:spPr>
          <a:xfrm>
            <a:off x="941832" y="3149981"/>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8FCB9B"/>
                </a:solidFill>
                <a:latin typeface="Courier New" pitchFamily="34" charset="0"/>
                <a:ea typeface="Courier New" pitchFamily="34" charset="-122"/>
                <a:cs typeface="Courier New" pitchFamily="34" charset="-120"/>
              </a:rPr>
              <a:t>paths: ["**/*.cs"]</a:t>
            </a:r>
            <a:endParaRPr lang="en-US" sz="1100" dirty="0"/>
          </a:p>
        </p:txBody>
      </p:sp>
      <p:sp>
        <p:nvSpPr>
          <p:cNvPr id="14" name="Text 12"/>
          <p:cNvSpPr txBox="1"/>
          <p:nvPr/>
        </p:nvSpPr>
        <p:spPr>
          <a:xfrm>
            <a:off x="941832" y="3352546"/>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9C948A"/>
                </a:solidFill>
                <a:latin typeface="Courier New" pitchFamily="34" charset="0"/>
                <a:ea typeface="Courier New" pitchFamily="34" charset="-122"/>
                <a:cs typeface="Courier New" pitchFamily="34" charset="-120"/>
              </a:rPr>
              <a:t>---</a:t>
            </a:r>
            <a:endParaRPr lang="en-US" sz="1100" dirty="0"/>
          </a:p>
        </p:txBody>
      </p:sp>
      <p:sp>
        <p:nvSpPr>
          <p:cNvPr id="15" name="Text 13"/>
          <p:cNvSpPr txBox="1"/>
          <p:nvPr/>
        </p:nvSpPr>
        <p:spPr>
          <a:xfrm>
            <a:off x="941832" y="3555111"/>
            <a:ext cx="4833976" cy="202565"/>
          </a:xfrm>
          <a:prstGeom prst="rect">
            <a:avLst/>
          </a:prstGeom>
          <a:noFill/>
          <a:ln/>
        </p:spPr>
        <p:txBody>
          <a:bodyPr wrap="none" lIns="0" tIns="0" rIns="0" bIns="0" rtlCol="0" anchor="t"/>
          <a:lstStyle/>
          <a:p>
            <a:pPr algn="l" indent="0" marL="0">
              <a:lnSpc>
                <a:spcPct val="128000"/>
              </a:lnSpc>
              <a:buNone/>
            </a:pPr>
            <a:endParaRPr lang="en-US" sz="1100" dirty="0"/>
          </a:p>
        </p:txBody>
      </p:sp>
      <p:sp>
        <p:nvSpPr>
          <p:cNvPr id="16" name="Text 14"/>
          <p:cNvSpPr txBox="1"/>
          <p:nvPr/>
        </p:nvSpPr>
        <p:spPr>
          <a:xfrm>
            <a:off x="941832" y="3757676"/>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 Async methods end in Async.</a:t>
            </a:r>
            <a:endParaRPr lang="en-US" sz="1100" dirty="0"/>
          </a:p>
        </p:txBody>
      </p:sp>
      <p:sp>
        <p:nvSpPr>
          <p:cNvPr id="17" name="Text 15"/>
          <p:cNvSpPr txBox="1"/>
          <p:nvPr/>
        </p:nvSpPr>
        <p:spPr>
          <a:xfrm>
            <a:off x="941832" y="3960241"/>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 No LINQ in hot paths.</a:t>
            </a:r>
            <a:endParaRPr lang="en-US" sz="1100" dirty="0"/>
          </a:p>
        </p:txBody>
      </p:sp>
      <p:sp>
        <p:nvSpPr>
          <p:cNvPr id="18" name="Text 16"/>
          <p:cNvSpPr txBox="1"/>
          <p:nvPr/>
        </p:nvSpPr>
        <p:spPr>
          <a:xfrm>
            <a:off x="941832" y="4162806"/>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 xUnit, not NUnit.</a:t>
            </a:r>
            <a:endParaRPr lang="en-US" sz="1100" dirty="0"/>
          </a:p>
        </p:txBody>
      </p:sp>
      <p:sp>
        <p:nvSpPr>
          <p:cNvPr id="19" name="Shape 17"/>
          <p:cNvSpPr/>
          <p:nvPr/>
        </p:nvSpPr>
        <p:spPr>
          <a:xfrm>
            <a:off x="6251296" y="2508504"/>
            <a:ext cx="5163160" cy="2021459"/>
          </a:xfrm>
          <a:prstGeom prst="roundRect">
            <a:avLst>
              <a:gd name="adj" fmla="val 1637"/>
            </a:avLst>
          </a:prstGeom>
          <a:solidFill>
            <a:srgbClr val="1A1714"/>
          </a:solidFill>
          <a:ln/>
        </p:spPr>
      </p:sp>
      <p:sp>
        <p:nvSpPr>
          <p:cNvPr id="20" name="Shape 18"/>
          <p:cNvSpPr/>
          <p:nvPr/>
        </p:nvSpPr>
        <p:spPr>
          <a:xfrm>
            <a:off x="6251296" y="2508504"/>
            <a:ext cx="5163160" cy="274320"/>
          </a:xfrm>
          <a:prstGeom prst="roundRect">
            <a:avLst>
              <a:gd name="adj" fmla="val 88889"/>
            </a:avLst>
          </a:prstGeom>
          <a:solidFill>
            <a:srgbClr val="332E28"/>
          </a:solidFill>
          <a:ln/>
        </p:spPr>
      </p:sp>
      <p:sp>
        <p:nvSpPr>
          <p:cNvPr id="21" name="Shape 19"/>
          <p:cNvSpPr/>
          <p:nvPr/>
        </p:nvSpPr>
        <p:spPr>
          <a:xfrm>
            <a:off x="6251296" y="2709672"/>
            <a:ext cx="5163160" cy="73152"/>
          </a:xfrm>
          <a:prstGeom prst="rect">
            <a:avLst/>
          </a:prstGeom>
          <a:solidFill>
            <a:srgbClr val="332E28"/>
          </a:solidFill>
          <a:ln/>
        </p:spPr>
      </p:sp>
      <p:sp>
        <p:nvSpPr>
          <p:cNvPr id="22" name="Shape 20"/>
          <p:cNvSpPr/>
          <p:nvPr/>
        </p:nvSpPr>
        <p:spPr>
          <a:xfrm>
            <a:off x="6379312" y="2604516"/>
            <a:ext cx="82296" cy="82296"/>
          </a:xfrm>
          <a:prstGeom prst="ellipse">
            <a:avLst/>
          </a:prstGeom>
          <a:solidFill>
            <a:srgbClr val="E8938A"/>
          </a:solidFill>
          <a:ln/>
        </p:spPr>
      </p:sp>
      <p:sp>
        <p:nvSpPr>
          <p:cNvPr id="23" name="Shape 21"/>
          <p:cNvSpPr/>
          <p:nvPr/>
        </p:nvSpPr>
        <p:spPr>
          <a:xfrm>
            <a:off x="6525616" y="2604516"/>
            <a:ext cx="82296" cy="82296"/>
          </a:xfrm>
          <a:prstGeom prst="ellipse">
            <a:avLst/>
          </a:prstGeom>
          <a:solidFill>
            <a:srgbClr val="9C948A"/>
          </a:solidFill>
          <a:ln/>
        </p:spPr>
      </p:sp>
      <p:sp>
        <p:nvSpPr>
          <p:cNvPr id="24" name="Shape 22"/>
          <p:cNvSpPr/>
          <p:nvPr/>
        </p:nvSpPr>
        <p:spPr>
          <a:xfrm>
            <a:off x="6671920" y="2604516"/>
            <a:ext cx="82296" cy="82296"/>
          </a:xfrm>
          <a:prstGeom prst="ellipse">
            <a:avLst/>
          </a:prstGeom>
          <a:solidFill>
            <a:srgbClr val="8FCB9B"/>
          </a:solidFill>
          <a:ln/>
        </p:spPr>
      </p:sp>
      <p:sp>
        <p:nvSpPr>
          <p:cNvPr id="25" name="Text 23"/>
          <p:cNvSpPr txBox="1"/>
          <p:nvPr/>
        </p:nvSpPr>
        <p:spPr>
          <a:xfrm>
            <a:off x="6854800" y="2535936"/>
            <a:ext cx="4431640" cy="219456"/>
          </a:xfrm>
          <a:prstGeom prst="rect">
            <a:avLst/>
          </a:prstGeom>
          <a:noFill/>
          <a:ln/>
        </p:spPr>
        <p:txBody>
          <a:bodyPr wrap="square" lIns="0" tIns="0" rIns="0" bIns="0" rtlCol="0" anchor="ctr"/>
          <a:lstStyle/>
          <a:p>
            <a:pPr algn="l" indent="0" marL="0">
              <a:lnSpc>
                <a:spcPct val="128000"/>
              </a:lnSpc>
              <a:buNone/>
            </a:pPr>
            <a:r>
              <a:rPr lang="en-US" sz="900" dirty="0">
                <a:solidFill>
                  <a:srgbClr val="9C948A"/>
                </a:solidFill>
                <a:latin typeface="Courier New" pitchFamily="34" charset="0"/>
                <a:ea typeface="Courier New" pitchFamily="34" charset="-122"/>
                <a:cs typeface="Courier New" pitchFamily="34" charset="-120"/>
              </a:rPr>
              <a:t>.claude/rules/react.md</a:t>
            </a:r>
            <a:endParaRPr lang="en-US" sz="900" dirty="0"/>
          </a:p>
        </p:txBody>
      </p:sp>
      <p:sp>
        <p:nvSpPr>
          <p:cNvPr id="26" name="Text 24"/>
          <p:cNvSpPr txBox="1"/>
          <p:nvPr/>
        </p:nvSpPr>
        <p:spPr>
          <a:xfrm>
            <a:off x="6415888" y="2947416"/>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9C948A"/>
                </a:solidFill>
                <a:latin typeface="Courier New" pitchFamily="34" charset="0"/>
                <a:ea typeface="Courier New" pitchFamily="34" charset="-122"/>
                <a:cs typeface="Courier New" pitchFamily="34" charset="-120"/>
              </a:rPr>
              <a:t>---</a:t>
            </a:r>
            <a:endParaRPr lang="en-US" sz="1100" dirty="0"/>
          </a:p>
        </p:txBody>
      </p:sp>
      <p:sp>
        <p:nvSpPr>
          <p:cNvPr id="27" name="Text 25"/>
          <p:cNvSpPr txBox="1"/>
          <p:nvPr/>
        </p:nvSpPr>
        <p:spPr>
          <a:xfrm>
            <a:off x="6415888" y="3149981"/>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8FCB9B"/>
                </a:solidFill>
                <a:latin typeface="Courier New" pitchFamily="34" charset="0"/>
                <a:ea typeface="Courier New" pitchFamily="34" charset="-122"/>
                <a:cs typeface="Courier New" pitchFamily="34" charset="-120"/>
              </a:rPr>
              <a:t>paths: ["src/**/*.tsx"]</a:t>
            </a:r>
            <a:endParaRPr lang="en-US" sz="1100" dirty="0"/>
          </a:p>
        </p:txBody>
      </p:sp>
      <p:sp>
        <p:nvSpPr>
          <p:cNvPr id="28" name="Text 26"/>
          <p:cNvSpPr txBox="1"/>
          <p:nvPr/>
        </p:nvSpPr>
        <p:spPr>
          <a:xfrm>
            <a:off x="6415888" y="3352546"/>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9C948A"/>
                </a:solidFill>
                <a:latin typeface="Courier New" pitchFamily="34" charset="0"/>
                <a:ea typeface="Courier New" pitchFamily="34" charset="-122"/>
                <a:cs typeface="Courier New" pitchFamily="34" charset="-120"/>
              </a:rPr>
              <a:t>---</a:t>
            </a:r>
            <a:endParaRPr lang="en-US" sz="1100" dirty="0"/>
          </a:p>
        </p:txBody>
      </p:sp>
      <p:sp>
        <p:nvSpPr>
          <p:cNvPr id="29" name="Text 27"/>
          <p:cNvSpPr txBox="1"/>
          <p:nvPr/>
        </p:nvSpPr>
        <p:spPr>
          <a:xfrm>
            <a:off x="6415888" y="3555111"/>
            <a:ext cx="4833976" cy="202565"/>
          </a:xfrm>
          <a:prstGeom prst="rect">
            <a:avLst/>
          </a:prstGeom>
          <a:noFill/>
          <a:ln/>
        </p:spPr>
        <p:txBody>
          <a:bodyPr wrap="none" lIns="0" tIns="0" rIns="0" bIns="0" rtlCol="0" anchor="t"/>
          <a:lstStyle/>
          <a:p>
            <a:pPr algn="l" indent="0" marL="0">
              <a:lnSpc>
                <a:spcPct val="128000"/>
              </a:lnSpc>
              <a:buNone/>
            </a:pPr>
            <a:endParaRPr lang="en-US" sz="1100" dirty="0"/>
          </a:p>
        </p:txBody>
      </p:sp>
      <p:sp>
        <p:nvSpPr>
          <p:cNvPr id="30" name="Text 28"/>
          <p:cNvSpPr txBox="1"/>
          <p:nvPr/>
        </p:nvSpPr>
        <p:spPr>
          <a:xfrm>
            <a:off x="6415888" y="3757676"/>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 Function components only.</a:t>
            </a:r>
            <a:endParaRPr lang="en-US" sz="1100" dirty="0"/>
          </a:p>
        </p:txBody>
      </p:sp>
      <p:sp>
        <p:nvSpPr>
          <p:cNvPr id="31" name="Text 29"/>
          <p:cNvSpPr txBox="1"/>
          <p:nvPr/>
        </p:nvSpPr>
        <p:spPr>
          <a:xfrm>
            <a:off x="6415888" y="3960241"/>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 Co-locate tests as *.test.tsx.</a:t>
            </a:r>
            <a:endParaRPr lang="en-US" sz="1100" dirty="0"/>
          </a:p>
        </p:txBody>
      </p:sp>
      <p:sp>
        <p:nvSpPr>
          <p:cNvPr id="32" name="Text 30"/>
          <p:cNvSpPr txBox="1"/>
          <p:nvPr/>
        </p:nvSpPr>
        <p:spPr>
          <a:xfrm>
            <a:off x="6415888" y="4162806"/>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 No default exports.</a:t>
            </a:r>
            <a:endParaRPr lang="en-US" sz="1100" dirty="0"/>
          </a:p>
        </p:txBody>
      </p:sp>
      <p:sp>
        <p:nvSpPr>
          <p:cNvPr id="33" name="Shape 31"/>
          <p:cNvSpPr/>
          <p:nvPr/>
        </p:nvSpPr>
        <p:spPr>
          <a:xfrm>
            <a:off x="777240" y="4895723"/>
            <a:ext cx="10637215" cy="718759"/>
          </a:xfrm>
          <a:prstGeom prst="roundRect">
            <a:avLst>
              <a:gd name="adj" fmla="val 16185"/>
            </a:avLst>
          </a:prstGeom>
          <a:solidFill>
            <a:srgbClr val="26221E"/>
          </a:solidFill>
          <a:ln/>
        </p:spPr>
      </p:sp>
      <p:sp>
        <p:nvSpPr>
          <p:cNvPr id="34" name="Shape 32"/>
          <p:cNvSpPr/>
          <p:nvPr/>
        </p:nvSpPr>
        <p:spPr>
          <a:xfrm>
            <a:off x="1006572" y="5053935"/>
            <a:ext cx="402336" cy="402336"/>
          </a:xfrm>
          <a:prstGeom prst="ellipse">
            <a:avLst/>
          </a:prstGeom>
          <a:solidFill>
            <a:srgbClr val="C96442"/>
          </a:solidFill>
          <a:ln/>
        </p:spPr>
      </p:sp>
      <p:sp>
        <p:nvSpPr>
          <p:cNvPr id="35" name="Text 33"/>
          <p:cNvSpPr txBox="1"/>
          <p:nvPr/>
        </p:nvSpPr>
        <p:spPr>
          <a:xfrm>
            <a:off x="1006572" y="5053935"/>
            <a:ext cx="402336" cy="402336"/>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36" name="Text 34"/>
          <p:cNvSpPr txBox="1"/>
          <p:nvPr/>
        </p:nvSpPr>
        <p:spPr>
          <a:xfrm>
            <a:off x="1573500" y="5125055"/>
            <a:ext cx="9611624" cy="260096"/>
          </a:xfrm>
          <a:prstGeom prst="rect">
            <a:avLst/>
          </a:prstGeom>
          <a:noFill/>
          <a:ln/>
        </p:spPr>
        <p:txBody>
          <a:bodyPr wrap="square" lIns="0" tIns="0" rIns="0" bIns="0" rtlCol="0" anchor="t"/>
          <a:lstStyle/>
          <a:p>
            <a:pPr algn="l" indent="0" marL="0">
              <a:lnSpc>
                <a:spcPct val="128000"/>
              </a:lnSpc>
              <a:buNone/>
            </a:pPr>
            <a:r>
              <a:rPr lang="en-US" sz="1600" dirty="0">
                <a:solidFill>
                  <a:srgbClr val="F2EDE6"/>
                </a:solidFill>
                <a:latin typeface="Arial" pitchFamily="34" charset="0"/>
                <a:ea typeface="Arial" pitchFamily="34" charset="-122"/>
                <a:cs typeface="Arial" pitchFamily="34" charset="-120"/>
              </a:rPr>
              <a:t>Path-scoped beats always-on — your C# conventions cost zero context on a TypeScript day.</a:t>
            </a:r>
            <a:endParaRPr lang="en-US" sz="1600" dirty="0"/>
          </a:p>
        </p:txBody>
      </p:sp>
      <p:sp>
        <p:nvSpPr>
          <p:cNvPr id="37" name="Text 35"/>
          <p:cNvSpPr txBox="1"/>
          <p:nvPr/>
        </p:nvSpPr>
        <p:spPr>
          <a:xfrm>
            <a:off x="777240" y="5980242"/>
            <a:ext cx="10637215" cy="243840"/>
          </a:xfrm>
          <a:prstGeom prst="rect">
            <a:avLst/>
          </a:prstGeom>
          <a:noFill/>
          <a:ln/>
        </p:spPr>
        <p:txBody>
          <a:bodyPr wrap="square" lIns="0" tIns="0" rIns="0" bIns="0" rtlCol="0" anchor="t"/>
          <a:lstStyle/>
          <a:p>
            <a:pPr algn="l" indent="0" marL="0">
              <a:lnSpc>
                <a:spcPct val="128000"/>
              </a:lnSpc>
              <a:buNone/>
            </a:pPr>
            <a:r>
              <a:rPr lang="en-US" sz="1500" i="1" dirty="0">
                <a:solidFill>
                  <a:srgbClr val="6E675F"/>
                </a:solidFill>
                <a:latin typeface="Arial" pitchFamily="34" charset="0"/>
                <a:ea typeface="Arial" pitchFamily="34" charset="-122"/>
                <a:cs typeface="Arial" pitchFamily="34" charset="-120"/>
              </a:rPr>
              <a:t>Rules without a path scope always load like a CLAUDE.md.</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1349177"/>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05 · CLAUDE CUSTOMIZATION</a:t>
            </a:r>
            <a:endParaRPr lang="en-US" sz="1200" dirty="0"/>
          </a:p>
        </p:txBody>
      </p:sp>
      <p:sp>
        <p:nvSpPr>
          <p:cNvPr id="3" name="Text 1"/>
          <p:cNvSpPr txBox="1"/>
          <p:nvPr/>
        </p:nvSpPr>
        <p:spPr>
          <a:xfrm>
            <a:off x="777240" y="1632641"/>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Skills are Recipes for Repeated Work</a:t>
            </a:r>
            <a:endParaRPr lang="en-US" sz="4000" dirty="0"/>
          </a:p>
        </p:txBody>
      </p:sp>
      <p:sp>
        <p:nvSpPr>
          <p:cNvPr id="4" name="Shape 2"/>
          <p:cNvSpPr/>
          <p:nvPr/>
        </p:nvSpPr>
        <p:spPr>
          <a:xfrm>
            <a:off x="777240" y="2685217"/>
            <a:ext cx="5679476" cy="3034284"/>
          </a:xfrm>
          <a:prstGeom prst="roundRect">
            <a:avLst>
              <a:gd name="adj" fmla="val 727"/>
            </a:avLst>
          </a:prstGeom>
          <a:solidFill>
            <a:srgbClr val="1A1714"/>
          </a:solidFill>
          <a:ln/>
        </p:spPr>
      </p:sp>
      <p:sp>
        <p:nvSpPr>
          <p:cNvPr id="5" name="Shape 3"/>
          <p:cNvSpPr/>
          <p:nvPr/>
        </p:nvSpPr>
        <p:spPr>
          <a:xfrm>
            <a:off x="777240" y="2685217"/>
            <a:ext cx="5679476" cy="274320"/>
          </a:xfrm>
          <a:prstGeom prst="roundRect">
            <a:avLst>
              <a:gd name="adj" fmla="val 88889"/>
            </a:avLst>
          </a:prstGeom>
          <a:solidFill>
            <a:srgbClr val="332E28"/>
          </a:solidFill>
          <a:ln/>
        </p:spPr>
      </p:sp>
      <p:sp>
        <p:nvSpPr>
          <p:cNvPr id="6" name="Shape 4"/>
          <p:cNvSpPr/>
          <p:nvPr/>
        </p:nvSpPr>
        <p:spPr>
          <a:xfrm>
            <a:off x="777240" y="2886385"/>
            <a:ext cx="5679476" cy="73152"/>
          </a:xfrm>
          <a:prstGeom prst="rect">
            <a:avLst/>
          </a:prstGeom>
          <a:solidFill>
            <a:srgbClr val="332E28"/>
          </a:solidFill>
          <a:ln/>
        </p:spPr>
      </p:sp>
      <p:sp>
        <p:nvSpPr>
          <p:cNvPr id="7" name="Shape 5"/>
          <p:cNvSpPr/>
          <p:nvPr/>
        </p:nvSpPr>
        <p:spPr>
          <a:xfrm>
            <a:off x="905256" y="2781229"/>
            <a:ext cx="82296" cy="82296"/>
          </a:xfrm>
          <a:prstGeom prst="ellipse">
            <a:avLst/>
          </a:prstGeom>
          <a:solidFill>
            <a:srgbClr val="E8938A"/>
          </a:solidFill>
          <a:ln/>
        </p:spPr>
      </p:sp>
      <p:sp>
        <p:nvSpPr>
          <p:cNvPr id="8" name="Shape 6"/>
          <p:cNvSpPr/>
          <p:nvPr/>
        </p:nvSpPr>
        <p:spPr>
          <a:xfrm>
            <a:off x="1051560" y="2781229"/>
            <a:ext cx="82296" cy="82296"/>
          </a:xfrm>
          <a:prstGeom prst="ellipse">
            <a:avLst/>
          </a:prstGeom>
          <a:solidFill>
            <a:srgbClr val="9C948A"/>
          </a:solidFill>
          <a:ln/>
        </p:spPr>
      </p:sp>
      <p:sp>
        <p:nvSpPr>
          <p:cNvPr id="9" name="Shape 7"/>
          <p:cNvSpPr/>
          <p:nvPr/>
        </p:nvSpPr>
        <p:spPr>
          <a:xfrm>
            <a:off x="1197864" y="2781229"/>
            <a:ext cx="82296" cy="82296"/>
          </a:xfrm>
          <a:prstGeom prst="ellipse">
            <a:avLst/>
          </a:prstGeom>
          <a:solidFill>
            <a:srgbClr val="8FCB9B"/>
          </a:solidFill>
          <a:ln/>
        </p:spPr>
      </p:sp>
      <p:sp>
        <p:nvSpPr>
          <p:cNvPr id="10" name="Text 8"/>
          <p:cNvSpPr txBox="1"/>
          <p:nvPr/>
        </p:nvSpPr>
        <p:spPr>
          <a:xfrm>
            <a:off x="1380744" y="2712649"/>
            <a:ext cx="4947956" cy="219456"/>
          </a:xfrm>
          <a:prstGeom prst="rect">
            <a:avLst/>
          </a:prstGeom>
          <a:noFill/>
          <a:ln/>
        </p:spPr>
        <p:txBody>
          <a:bodyPr wrap="square" lIns="0" tIns="0" rIns="0" bIns="0" rtlCol="0" anchor="ctr"/>
          <a:lstStyle/>
          <a:p>
            <a:pPr algn="l" indent="0" marL="0">
              <a:lnSpc>
                <a:spcPct val="128000"/>
              </a:lnSpc>
              <a:buNone/>
            </a:pPr>
            <a:r>
              <a:rPr lang="en-US" sz="900" dirty="0">
                <a:solidFill>
                  <a:srgbClr val="9C948A"/>
                </a:solidFill>
                <a:latin typeface="Courier New" pitchFamily="34" charset="0"/>
                <a:ea typeface="Courier New" pitchFamily="34" charset="-122"/>
                <a:cs typeface="Courier New" pitchFamily="34" charset="-120"/>
              </a:rPr>
              <a:t>SKILL.md</a:t>
            </a:r>
            <a:endParaRPr lang="en-US" sz="900" dirty="0"/>
          </a:p>
        </p:txBody>
      </p:sp>
      <p:sp>
        <p:nvSpPr>
          <p:cNvPr id="11" name="Text 9"/>
          <p:cNvSpPr txBox="1"/>
          <p:nvPr/>
        </p:nvSpPr>
        <p:spPr>
          <a:xfrm>
            <a:off x="941832" y="3124129"/>
            <a:ext cx="5350292" cy="202565"/>
          </a:xfrm>
          <a:prstGeom prst="rect">
            <a:avLst/>
          </a:prstGeom>
          <a:noFill/>
          <a:ln/>
        </p:spPr>
        <p:txBody>
          <a:bodyPr wrap="none" lIns="0" tIns="0" rIns="0" bIns="0" rtlCol="0" anchor="t"/>
          <a:lstStyle/>
          <a:p>
            <a:pPr algn="l" indent="0" marL="0">
              <a:lnSpc>
                <a:spcPct val="128000"/>
              </a:lnSpc>
              <a:buNone/>
            </a:pPr>
            <a:r>
              <a:rPr lang="en-US" sz="1100" dirty="0">
                <a:solidFill>
                  <a:srgbClr val="9C948A"/>
                </a:solidFill>
                <a:latin typeface="Courier New" pitchFamily="34" charset="0"/>
                <a:ea typeface="Courier New" pitchFamily="34" charset="-122"/>
                <a:cs typeface="Courier New" pitchFamily="34" charset="-120"/>
              </a:rPr>
              <a:t>---</a:t>
            </a:r>
            <a:endParaRPr lang="en-US" sz="1100" dirty="0"/>
          </a:p>
        </p:txBody>
      </p:sp>
      <p:sp>
        <p:nvSpPr>
          <p:cNvPr id="12" name="Text 10"/>
          <p:cNvSpPr txBox="1"/>
          <p:nvPr/>
        </p:nvSpPr>
        <p:spPr>
          <a:xfrm>
            <a:off x="941832" y="3326694"/>
            <a:ext cx="5350292" cy="202565"/>
          </a:xfrm>
          <a:prstGeom prst="rect">
            <a:avLst/>
          </a:prstGeom>
          <a:noFill/>
          <a:ln/>
        </p:spPr>
        <p:txBody>
          <a:bodyPr wrap="none" lIns="0" tIns="0" rIns="0" bIns="0" rtlCol="0" anchor="t"/>
          <a:lstStyle/>
          <a:p>
            <a:pPr algn="l" indent="0" marL="0">
              <a:lnSpc>
                <a:spcPct val="128000"/>
              </a:lnSpc>
              <a:buNone/>
            </a:pPr>
            <a:r>
              <a:rPr lang="en-US" sz="1100" dirty="0">
                <a:solidFill>
                  <a:srgbClr val="8FCB9B"/>
                </a:solidFill>
                <a:latin typeface="Courier New" pitchFamily="34" charset="0"/>
                <a:ea typeface="Courier New" pitchFamily="34" charset="-122"/>
                <a:cs typeface="Courier New" pitchFamily="34" charset="-120"/>
              </a:rPr>
              <a:t>name: pr-description</a:t>
            </a:r>
            <a:endParaRPr lang="en-US" sz="1100" dirty="0"/>
          </a:p>
        </p:txBody>
      </p:sp>
      <p:sp>
        <p:nvSpPr>
          <p:cNvPr id="13" name="Text 11"/>
          <p:cNvSpPr txBox="1"/>
          <p:nvPr/>
        </p:nvSpPr>
        <p:spPr>
          <a:xfrm>
            <a:off x="941832" y="3529259"/>
            <a:ext cx="5350292" cy="202565"/>
          </a:xfrm>
          <a:prstGeom prst="rect">
            <a:avLst/>
          </a:prstGeom>
          <a:noFill/>
          <a:ln/>
        </p:spPr>
        <p:txBody>
          <a:bodyPr wrap="none" lIns="0" tIns="0" rIns="0" bIns="0" rtlCol="0" anchor="t"/>
          <a:lstStyle/>
          <a:p>
            <a:pPr algn="l" indent="0" marL="0">
              <a:lnSpc>
                <a:spcPct val="128000"/>
              </a:lnSpc>
              <a:buNone/>
            </a:pPr>
            <a:r>
              <a:rPr lang="en-US" sz="1100" dirty="0">
                <a:solidFill>
                  <a:srgbClr val="8FCB9B"/>
                </a:solidFill>
                <a:latin typeface="Courier New" pitchFamily="34" charset="0"/>
                <a:ea typeface="Courier New" pitchFamily="34" charset="-122"/>
                <a:cs typeface="Courier New" pitchFamily="34" charset="-120"/>
              </a:rPr>
              <a:t>description: Write the PR</a:t>
            </a:r>
            <a:endParaRPr lang="en-US" sz="1100" dirty="0"/>
          </a:p>
        </p:txBody>
      </p:sp>
      <p:sp>
        <p:nvSpPr>
          <p:cNvPr id="14" name="Text 12"/>
          <p:cNvSpPr txBox="1"/>
          <p:nvPr/>
        </p:nvSpPr>
        <p:spPr>
          <a:xfrm>
            <a:off x="941832" y="3731824"/>
            <a:ext cx="5350292" cy="202565"/>
          </a:xfrm>
          <a:prstGeom prst="rect">
            <a:avLst/>
          </a:prstGeom>
          <a:noFill/>
          <a:ln/>
        </p:spPr>
        <p:txBody>
          <a:bodyPr wrap="none" lIns="0" tIns="0" rIns="0" bIns="0" rtlCol="0" anchor="t"/>
          <a:lstStyle/>
          <a:p>
            <a:pPr algn="l" indent="0" marL="0">
              <a:lnSpc>
                <a:spcPct val="128000"/>
              </a:lnSpc>
              <a:buNone/>
            </a:pPr>
            <a:r>
              <a:rPr lang="en-US" sz="1100" dirty="0">
                <a:solidFill>
                  <a:srgbClr val="8FCB9B"/>
                </a:solidFill>
                <a:latin typeface="Courier New" pitchFamily="34" charset="0"/>
                <a:ea typeface="Courier New" pitchFamily="34" charset="-122"/>
                <a:cs typeface="Courier New" pitchFamily="34" charset="-120"/>
              </a:rPr>
              <a:t>  description for a branch. Use</a:t>
            </a:r>
            <a:endParaRPr lang="en-US" sz="1100" dirty="0"/>
          </a:p>
        </p:txBody>
      </p:sp>
      <p:sp>
        <p:nvSpPr>
          <p:cNvPr id="15" name="Text 13"/>
          <p:cNvSpPr txBox="1"/>
          <p:nvPr/>
        </p:nvSpPr>
        <p:spPr>
          <a:xfrm>
            <a:off x="941832" y="3934389"/>
            <a:ext cx="5350292" cy="202565"/>
          </a:xfrm>
          <a:prstGeom prst="rect">
            <a:avLst/>
          </a:prstGeom>
          <a:noFill/>
          <a:ln/>
        </p:spPr>
        <p:txBody>
          <a:bodyPr wrap="none" lIns="0" tIns="0" rIns="0" bIns="0" rtlCol="0" anchor="t"/>
          <a:lstStyle/>
          <a:p>
            <a:pPr algn="l" indent="0" marL="0">
              <a:lnSpc>
                <a:spcPct val="128000"/>
              </a:lnSpc>
              <a:buNone/>
            </a:pPr>
            <a:r>
              <a:rPr lang="en-US" sz="1100" dirty="0">
                <a:solidFill>
                  <a:srgbClr val="8FCB9B"/>
                </a:solidFill>
                <a:latin typeface="Courier New" pitchFamily="34" charset="0"/>
                <a:ea typeface="Courier New" pitchFamily="34" charset="-122"/>
                <a:cs typeface="Courier New" pitchFamily="34" charset="-120"/>
              </a:rPr>
              <a:t>  when asked to open a PR or</a:t>
            </a:r>
            <a:endParaRPr lang="en-US" sz="1100" dirty="0"/>
          </a:p>
        </p:txBody>
      </p:sp>
      <p:sp>
        <p:nvSpPr>
          <p:cNvPr id="16" name="Text 14"/>
          <p:cNvSpPr txBox="1"/>
          <p:nvPr/>
        </p:nvSpPr>
        <p:spPr>
          <a:xfrm>
            <a:off x="941832" y="4136954"/>
            <a:ext cx="5350292" cy="202565"/>
          </a:xfrm>
          <a:prstGeom prst="rect">
            <a:avLst/>
          </a:prstGeom>
          <a:noFill/>
          <a:ln/>
        </p:spPr>
        <p:txBody>
          <a:bodyPr wrap="none" lIns="0" tIns="0" rIns="0" bIns="0" rtlCol="0" anchor="t"/>
          <a:lstStyle/>
          <a:p>
            <a:pPr algn="l" indent="0" marL="0">
              <a:lnSpc>
                <a:spcPct val="128000"/>
              </a:lnSpc>
              <a:buNone/>
            </a:pPr>
            <a:r>
              <a:rPr lang="en-US" sz="1100" dirty="0">
                <a:solidFill>
                  <a:srgbClr val="8FCB9B"/>
                </a:solidFill>
                <a:latin typeface="Courier New" pitchFamily="34" charset="0"/>
                <a:ea typeface="Courier New" pitchFamily="34" charset="-122"/>
                <a:cs typeface="Courier New" pitchFamily="34" charset="-120"/>
              </a:rPr>
              <a:t>  write a PR body.</a:t>
            </a:r>
            <a:endParaRPr lang="en-US" sz="1100" dirty="0"/>
          </a:p>
        </p:txBody>
      </p:sp>
      <p:sp>
        <p:nvSpPr>
          <p:cNvPr id="17" name="Text 15"/>
          <p:cNvSpPr txBox="1"/>
          <p:nvPr/>
        </p:nvSpPr>
        <p:spPr>
          <a:xfrm>
            <a:off x="941832" y="4339519"/>
            <a:ext cx="5350292" cy="202565"/>
          </a:xfrm>
          <a:prstGeom prst="rect">
            <a:avLst/>
          </a:prstGeom>
          <a:noFill/>
          <a:ln/>
        </p:spPr>
        <p:txBody>
          <a:bodyPr wrap="none" lIns="0" tIns="0" rIns="0" bIns="0" rtlCol="0" anchor="t"/>
          <a:lstStyle/>
          <a:p>
            <a:pPr algn="l" indent="0" marL="0">
              <a:lnSpc>
                <a:spcPct val="128000"/>
              </a:lnSpc>
              <a:buNone/>
            </a:pPr>
            <a:r>
              <a:rPr lang="en-US" sz="1100" dirty="0">
                <a:solidFill>
                  <a:srgbClr val="9C948A"/>
                </a:solidFill>
                <a:latin typeface="Courier New" pitchFamily="34" charset="0"/>
                <a:ea typeface="Courier New" pitchFamily="34" charset="-122"/>
                <a:cs typeface="Courier New" pitchFamily="34" charset="-120"/>
              </a:rPr>
              <a:t>---</a:t>
            </a:r>
            <a:endParaRPr lang="en-US" sz="1100" dirty="0"/>
          </a:p>
        </p:txBody>
      </p:sp>
      <p:sp>
        <p:nvSpPr>
          <p:cNvPr id="18" name="Text 16"/>
          <p:cNvSpPr txBox="1"/>
          <p:nvPr/>
        </p:nvSpPr>
        <p:spPr>
          <a:xfrm>
            <a:off x="941832" y="4542084"/>
            <a:ext cx="5350292" cy="202565"/>
          </a:xfrm>
          <a:prstGeom prst="rect">
            <a:avLst/>
          </a:prstGeom>
          <a:noFill/>
          <a:ln/>
        </p:spPr>
        <p:txBody>
          <a:bodyPr wrap="none" lIns="0" tIns="0" rIns="0" bIns="0" rtlCol="0" anchor="t"/>
          <a:lstStyle/>
          <a:p>
            <a:pPr algn="l" indent="0" marL="0">
              <a:lnSpc>
                <a:spcPct val="128000"/>
              </a:lnSpc>
              <a:buNone/>
            </a:pPr>
            <a:endParaRPr lang="en-US" sz="1100" dirty="0"/>
          </a:p>
        </p:txBody>
      </p:sp>
      <p:sp>
        <p:nvSpPr>
          <p:cNvPr id="19" name="Text 17"/>
          <p:cNvSpPr txBox="1"/>
          <p:nvPr/>
        </p:nvSpPr>
        <p:spPr>
          <a:xfrm>
            <a:off x="941832" y="4744649"/>
            <a:ext cx="5350292"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1. Diff the branch against main.</a:t>
            </a:r>
            <a:endParaRPr lang="en-US" sz="1100" dirty="0"/>
          </a:p>
        </p:txBody>
      </p:sp>
      <p:sp>
        <p:nvSpPr>
          <p:cNvPr id="20" name="Text 18"/>
          <p:cNvSpPr txBox="1"/>
          <p:nvPr/>
        </p:nvSpPr>
        <p:spPr>
          <a:xfrm>
            <a:off x="941832" y="4947214"/>
            <a:ext cx="5350292"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2. Group changes by intent.</a:t>
            </a:r>
            <a:endParaRPr lang="en-US" sz="1100" dirty="0"/>
          </a:p>
        </p:txBody>
      </p:sp>
      <p:sp>
        <p:nvSpPr>
          <p:cNvPr id="21" name="Text 19"/>
          <p:cNvSpPr txBox="1"/>
          <p:nvPr/>
        </p:nvSpPr>
        <p:spPr>
          <a:xfrm>
            <a:off x="941832" y="5149779"/>
            <a:ext cx="5350292"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3. Fill the PR template.</a:t>
            </a:r>
            <a:endParaRPr lang="en-US" sz="1100" dirty="0"/>
          </a:p>
        </p:txBody>
      </p:sp>
      <p:sp>
        <p:nvSpPr>
          <p:cNvPr id="22" name="Text 20"/>
          <p:cNvSpPr txBox="1"/>
          <p:nvPr/>
        </p:nvSpPr>
        <p:spPr>
          <a:xfrm>
            <a:off x="941832" y="5352344"/>
            <a:ext cx="5350292"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4. List anything needing review.</a:t>
            </a:r>
            <a:endParaRPr lang="en-US" sz="1100" dirty="0"/>
          </a:p>
        </p:txBody>
      </p:sp>
      <p:sp>
        <p:nvSpPr>
          <p:cNvPr id="23" name="Text 21"/>
          <p:cNvSpPr txBox="1"/>
          <p:nvPr/>
        </p:nvSpPr>
        <p:spPr>
          <a:xfrm>
            <a:off x="6767612" y="2685217"/>
            <a:ext cx="4646844" cy="731520"/>
          </a:xfrm>
          <a:prstGeom prst="rect">
            <a:avLst/>
          </a:prstGeom>
          <a:noFill/>
          <a:ln/>
        </p:spPr>
        <p:txBody>
          <a:bodyPr wrap="square" lIns="0" tIns="0" rIns="0" bIns="0" rtlCol="0" anchor="t"/>
          <a:lstStyle/>
          <a:p>
            <a:pPr algn="l" indent="0" marL="0">
              <a:lnSpc>
                <a:spcPct val="128000"/>
              </a:lnSpc>
              <a:buNone/>
            </a:pPr>
            <a:r>
              <a:rPr lang="en-US" sz="1500" dirty="0">
                <a:solidFill>
                  <a:srgbClr val="2A2621"/>
                </a:solidFill>
                <a:latin typeface="Arial" pitchFamily="34" charset="0"/>
                <a:ea typeface="Arial" pitchFamily="34" charset="-122"/>
                <a:cs typeface="Arial" pitchFamily="34" charset="-120"/>
              </a:rPr>
              <a:t>A skill can be a simple list of steps, a branching workflow, or a full instruction book with scripts attached.</a:t>
            </a:r>
            <a:endParaRPr lang="en-US" sz="1500" dirty="0"/>
          </a:p>
        </p:txBody>
      </p:sp>
      <p:sp>
        <p:nvSpPr>
          <p:cNvPr id="24" name="Text 22"/>
          <p:cNvSpPr txBox="1"/>
          <p:nvPr/>
        </p:nvSpPr>
        <p:spPr>
          <a:xfrm>
            <a:off x="6767612" y="3782497"/>
            <a:ext cx="4646844" cy="243840"/>
          </a:xfrm>
          <a:prstGeom prst="rect">
            <a:avLst/>
          </a:prstGeom>
          <a:noFill/>
          <a:ln/>
        </p:spPr>
        <p:txBody>
          <a:bodyPr wrap="square" lIns="0" tIns="0" rIns="0" bIns="0" rtlCol="0" anchor="t"/>
          <a:lstStyle/>
          <a:p>
            <a:pPr algn="l" indent="0" marL="0">
              <a:lnSpc>
                <a:spcPct val="128000"/>
              </a:lnSpc>
              <a:buNone/>
            </a:pPr>
            <a:r>
              <a:rPr lang="en-US" sz="1500" b="1" dirty="0">
                <a:solidFill>
                  <a:srgbClr val="2A2621"/>
                </a:solidFill>
                <a:latin typeface="Arial" pitchFamily="34" charset="0"/>
                <a:ea typeface="Arial" pitchFamily="34" charset="-122"/>
                <a:cs typeface="Arial" pitchFamily="34" charset="-120"/>
              </a:rPr>
              <a:t>Invoke implicitly</a:t>
            </a:r>
            <a:endParaRPr lang="en-US" sz="1500" dirty="0"/>
          </a:p>
        </p:txBody>
      </p:sp>
      <p:sp>
        <p:nvSpPr>
          <p:cNvPr id="25" name="Text 23"/>
          <p:cNvSpPr txBox="1"/>
          <p:nvPr/>
        </p:nvSpPr>
        <p:spPr>
          <a:xfrm>
            <a:off x="6767612" y="4136065"/>
            <a:ext cx="285750" cy="266700"/>
          </a:xfrm>
          <a:prstGeom prst="rect">
            <a:avLst/>
          </a:prstGeom>
          <a:noFill/>
          <a:ln/>
        </p:spPr>
        <p:txBody>
          <a:bodyPr wrap="square" lIns="0" tIns="0" rIns="0" bIns="0" rtlCol="0" anchor="t"/>
          <a:lstStyle/>
          <a:p>
            <a:pPr algn="l" indent="0" marL="0">
              <a:lnSpc>
                <a:spcPct val="128000"/>
              </a:lnSpc>
              <a:buNone/>
            </a:pPr>
            <a:r>
              <a:rPr lang="en-US" sz="1500" b="1" dirty="0">
                <a:solidFill>
                  <a:srgbClr val="C96442"/>
                </a:solidFill>
                <a:latin typeface="Arial" pitchFamily="34" charset="0"/>
                <a:ea typeface="Arial" pitchFamily="34" charset="-122"/>
                <a:cs typeface="Arial" pitchFamily="34" charset="-120"/>
              </a:rPr>
              <a:t>•</a:t>
            </a:r>
            <a:endParaRPr lang="en-US" sz="1500" dirty="0"/>
          </a:p>
        </p:txBody>
      </p:sp>
      <p:sp>
        <p:nvSpPr>
          <p:cNvPr id="26" name="Text 24"/>
          <p:cNvSpPr txBox="1"/>
          <p:nvPr/>
        </p:nvSpPr>
        <p:spPr>
          <a:xfrm>
            <a:off x="7053362" y="4136065"/>
            <a:ext cx="4361094" cy="243840"/>
          </a:xfrm>
          <a:prstGeom prst="rect">
            <a:avLst/>
          </a:prstGeom>
          <a:noFill/>
          <a:ln/>
        </p:spPr>
        <p:txBody>
          <a:bodyPr wrap="square" lIns="0" tIns="0" rIns="0" bIns="0" rtlCol="0" anchor="t"/>
          <a:lstStyle/>
          <a:p>
            <a:pPr algn="l" indent="0" marL="0">
              <a:lnSpc>
                <a:spcPct val="128000"/>
              </a:lnSpc>
              <a:buNone/>
            </a:pPr>
            <a:r>
              <a:rPr lang="en-US" sz="1500" dirty="0">
                <a:solidFill>
                  <a:srgbClr val="2A2621"/>
                </a:solidFill>
                <a:latin typeface="Arial" pitchFamily="34" charset="0"/>
                <a:ea typeface="Arial" pitchFamily="34" charset="-122"/>
                <a:cs typeface="Arial" pitchFamily="34" charset="-120"/>
              </a:rPr>
              <a:t>Description does the triggering</a:t>
            </a:r>
            <a:endParaRPr lang="en-US" sz="1500" dirty="0"/>
          </a:p>
        </p:txBody>
      </p:sp>
      <p:sp>
        <p:nvSpPr>
          <p:cNvPr id="27" name="Text 25"/>
          <p:cNvSpPr txBox="1"/>
          <p:nvPr/>
        </p:nvSpPr>
        <p:spPr>
          <a:xfrm>
            <a:off x="6767612" y="4525843"/>
            <a:ext cx="285750" cy="266700"/>
          </a:xfrm>
          <a:prstGeom prst="rect">
            <a:avLst/>
          </a:prstGeom>
          <a:noFill/>
          <a:ln/>
        </p:spPr>
        <p:txBody>
          <a:bodyPr wrap="square" lIns="0" tIns="0" rIns="0" bIns="0" rtlCol="0" anchor="t"/>
          <a:lstStyle/>
          <a:p>
            <a:pPr algn="l" indent="0" marL="0">
              <a:lnSpc>
                <a:spcPct val="128000"/>
              </a:lnSpc>
              <a:buNone/>
            </a:pPr>
            <a:r>
              <a:rPr lang="en-US" sz="1500" b="1" dirty="0">
                <a:solidFill>
                  <a:srgbClr val="C96442"/>
                </a:solidFill>
                <a:latin typeface="Arial" pitchFamily="34" charset="0"/>
                <a:ea typeface="Arial" pitchFamily="34" charset="-122"/>
                <a:cs typeface="Arial" pitchFamily="34" charset="-120"/>
              </a:rPr>
              <a:t>•</a:t>
            </a:r>
            <a:endParaRPr lang="en-US" sz="1500" dirty="0"/>
          </a:p>
        </p:txBody>
      </p:sp>
      <p:sp>
        <p:nvSpPr>
          <p:cNvPr id="28" name="Text 26"/>
          <p:cNvSpPr txBox="1"/>
          <p:nvPr/>
        </p:nvSpPr>
        <p:spPr>
          <a:xfrm>
            <a:off x="7053362" y="4525843"/>
            <a:ext cx="4361094" cy="243840"/>
          </a:xfrm>
          <a:prstGeom prst="rect">
            <a:avLst/>
          </a:prstGeom>
          <a:noFill/>
          <a:ln/>
        </p:spPr>
        <p:txBody>
          <a:bodyPr wrap="square" lIns="0" tIns="0" rIns="0" bIns="0" rtlCol="0" anchor="t"/>
          <a:lstStyle/>
          <a:p>
            <a:pPr algn="l" indent="0" marL="0">
              <a:lnSpc>
                <a:spcPct val="128000"/>
              </a:lnSpc>
              <a:buNone/>
            </a:pPr>
            <a:r>
              <a:rPr lang="en-US" sz="1500" dirty="0">
                <a:solidFill>
                  <a:srgbClr val="2A2621"/>
                </a:solidFill>
                <a:latin typeface="Arial" pitchFamily="34" charset="0"/>
                <a:ea typeface="Arial" pitchFamily="34" charset="-122"/>
                <a:cs typeface="Arial" pitchFamily="34" charset="-120"/>
              </a:rPr>
              <a:t>Claude picks it up by matching</a:t>
            </a:r>
            <a:endParaRPr lang="en-US" sz="1500" dirty="0"/>
          </a:p>
        </p:txBody>
      </p:sp>
      <p:sp>
        <p:nvSpPr>
          <p:cNvPr id="29" name="Text 27"/>
          <p:cNvSpPr txBox="1"/>
          <p:nvPr/>
        </p:nvSpPr>
        <p:spPr>
          <a:xfrm>
            <a:off x="6767612" y="5135443"/>
            <a:ext cx="4646844" cy="243840"/>
          </a:xfrm>
          <a:prstGeom prst="rect">
            <a:avLst/>
          </a:prstGeom>
          <a:noFill/>
          <a:ln/>
        </p:spPr>
        <p:txBody>
          <a:bodyPr wrap="square" lIns="0" tIns="0" rIns="0" bIns="0" rtlCol="0" anchor="t"/>
          <a:lstStyle/>
          <a:p>
            <a:pPr algn="l" indent="0" marL="0">
              <a:lnSpc>
                <a:spcPct val="128000"/>
              </a:lnSpc>
              <a:buNone/>
            </a:pPr>
            <a:r>
              <a:rPr lang="en-US" sz="1500" b="1" dirty="0">
                <a:solidFill>
                  <a:srgbClr val="2A2621"/>
                </a:solidFill>
                <a:latin typeface="Arial" pitchFamily="34" charset="0"/>
                <a:ea typeface="Arial" pitchFamily="34" charset="-122"/>
                <a:cs typeface="Arial" pitchFamily="34" charset="-120"/>
              </a:rPr>
              <a:t>Invoke explicitly with /</a:t>
            </a:r>
            <a:endParaRPr lang="en-US" sz="1500" dirty="0"/>
          </a:p>
        </p:txBody>
      </p:sp>
      <p:sp>
        <p:nvSpPr>
          <p:cNvPr id="30" name="Text 28"/>
          <p:cNvSpPr txBox="1"/>
          <p:nvPr/>
        </p:nvSpPr>
        <p:spPr>
          <a:xfrm>
            <a:off x="6767612" y="5489011"/>
            <a:ext cx="285750" cy="266700"/>
          </a:xfrm>
          <a:prstGeom prst="rect">
            <a:avLst/>
          </a:prstGeom>
          <a:noFill/>
          <a:ln/>
        </p:spPr>
        <p:txBody>
          <a:bodyPr wrap="square" lIns="0" tIns="0" rIns="0" bIns="0" rtlCol="0" anchor="t"/>
          <a:lstStyle/>
          <a:p>
            <a:pPr algn="l" indent="0" marL="0">
              <a:lnSpc>
                <a:spcPct val="128000"/>
              </a:lnSpc>
              <a:buNone/>
            </a:pPr>
            <a:r>
              <a:rPr lang="en-US" sz="1500" b="1" dirty="0">
                <a:solidFill>
                  <a:srgbClr val="C96442"/>
                </a:solidFill>
                <a:latin typeface="Arial" pitchFamily="34" charset="0"/>
                <a:ea typeface="Arial" pitchFamily="34" charset="-122"/>
                <a:cs typeface="Arial" pitchFamily="34" charset="-120"/>
              </a:rPr>
              <a:t>•</a:t>
            </a:r>
            <a:endParaRPr lang="en-US" sz="1500" dirty="0"/>
          </a:p>
        </p:txBody>
      </p:sp>
      <p:sp>
        <p:nvSpPr>
          <p:cNvPr id="31" name="Text 29"/>
          <p:cNvSpPr txBox="1"/>
          <p:nvPr/>
        </p:nvSpPr>
        <p:spPr>
          <a:xfrm>
            <a:off x="7053362" y="5489011"/>
            <a:ext cx="4361094" cy="243840"/>
          </a:xfrm>
          <a:prstGeom prst="rect">
            <a:avLst/>
          </a:prstGeom>
          <a:noFill/>
          <a:ln/>
        </p:spPr>
        <p:txBody>
          <a:bodyPr wrap="square" lIns="0" tIns="0" rIns="0" bIns="0" rtlCol="0" anchor="t"/>
          <a:lstStyle/>
          <a:p>
            <a:pPr algn="l" indent="0" marL="0">
              <a:lnSpc>
                <a:spcPct val="128000"/>
              </a:lnSpc>
              <a:buNone/>
            </a:pPr>
            <a:r>
              <a:rPr lang="en-US" sz="1500" dirty="0">
                <a:solidFill>
                  <a:srgbClr val="2A2621"/>
                </a:solidFill>
                <a:latin typeface="Arial" pitchFamily="34" charset="0"/>
                <a:ea typeface="Arial" pitchFamily="34" charset="-122"/>
                <a:cs typeface="Arial" pitchFamily="34" charset="-120"/>
              </a:rPr>
              <a:t>Name the skill yourself: /pr-description</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6221E"/>
        </a:solidFill>
      </p:bgPr>
    </p:bg>
    <p:spTree>
      <p:nvGrpSpPr>
        <p:cNvPr id="1" name=""/>
        <p:cNvGrpSpPr/>
        <p:nvPr/>
      </p:nvGrpSpPr>
      <p:grpSpPr>
        <a:xfrm>
          <a:off x="0" y="0"/>
          <a:ext cx="0" cy="0"/>
          <a:chOff x="0" y="0"/>
          <a:chExt cx="0" cy="0"/>
        </a:xfrm>
      </p:grpSpPr>
      <p:sp>
        <p:nvSpPr>
          <p:cNvPr id="2" name="Text 0"/>
          <p:cNvSpPr txBox="1"/>
          <p:nvPr/>
        </p:nvSpPr>
        <p:spPr>
          <a:xfrm>
            <a:off x="777240" y="1795653"/>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06 · ABCOP AI PLAYBOOKS</a:t>
            </a:r>
            <a:endParaRPr lang="en-US" sz="1200" dirty="0"/>
          </a:p>
        </p:txBody>
      </p:sp>
      <p:sp>
        <p:nvSpPr>
          <p:cNvPr id="3" name="Text 1"/>
          <p:cNvSpPr txBox="1"/>
          <p:nvPr/>
        </p:nvSpPr>
        <p:spPr>
          <a:xfrm>
            <a:off x="777240" y="2079117"/>
            <a:ext cx="10637215" cy="845312"/>
          </a:xfrm>
          <a:prstGeom prst="rect">
            <a:avLst/>
          </a:prstGeom>
          <a:noFill/>
          <a:ln/>
        </p:spPr>
        <p:txBody>
          <a:bodyPr wrap="square" lIns="0" tIns="0" rIns="0" bIns="0" rtlCol="0" anchor="t"/>
          <a:lstStyle/>
          <a:p>
            <a:pPr algn="l" indent="0" marL="0">
              <a:lnSpc>
                <a:spcPct val="128000"/>
              </a:lnSpc>
              <a:buNone/>
            </a:pPr>
            <a:r>
              <a:rPr lang="en-US" sz="5200" b="1" dirty="0">
                <a:solidFill>
                  <a:srgbClr val="F2EDE6"/>
                </a:solidFill>
                <a:latin typeface="Arial" pitchFamily="34" charset="0"/>
                <a:ea typeface="Arial" pitchFamily="34" charset="-122"/>
                <a:cs typeface="Arial" pitchFamily="34" charset="-120"/>
              </a:rPr>
              <a:t>ABCOP AI</a:t>
            </a:r>
            <a:endParaRPr lang="en-US" sz="5200" dirty="0"/>
          </a:p>
        </p:txBody>
      </p:sp>
      <p:sp>
        <p:nvSpPr>
          <p:cNvPr id="4" name="Text 2"/>
          <p:cNvSpPr txBox="1"/>
          <p:nvPr/>
        </p:nvSpPr>
        <p:spPr>
          <a:xfrm>
            <a:off x="777240" y="2924429"/>
            <a:ext cx="10637215" cy="845312"/>
          </a:xfrm>
          <a:prstGeom prst="rect">
            <a:avLst/>
          </a:prstGeom>
          <a:noFill/>
          <a:ln/>
        </p:spPr>
        <p:txBody>
          <a:bodyPr wrap="square" lIns="0" tIns="0" rIns="0" bIns="0" rtlCol="0" anchor="t"/>
          <a:lstStyle/>
          <a:p>
            <a:pPr algn="l" indent="0" marL="0">
              <a:lnSpc>
                <a:spcPct val="128000"/>
              </a:lnSpc>
              <a:buNone/>
            </a:pPr>
            <a:r>
              <a:rPr lang="en-US" sz="5200" b="1" dirty="0">
                <a:solidFill>
                  <a:srgbClr val="C96442"/>
                </a:solidFill>
                <a:latin typeface="Arial" pitchFamily="34" charset="0"/>
                <a:ea typeface="Arial" pitchFamily="34" charset="-122"/>
                <a:cs typeface="Arial" pitchFamily="34" charset="-120"/>
              </a:rPr>
              <a:t>Playbooks</a:t>
            </a:r>
            <a:endParaRPr lang="en-US" sz="5200" dirty="0"/>
          </a:p>
        </p:txBody>
      </p:sp>
      <p:sp>
        <p:nvSpPr>
          <p:cNvPr id="5" name="Text 3"/>
          <p:cNvSpPr txBox="1"/>
          <p:nvPr/>
        </p:nvSpPr>
        <p:spPr>
          <a:xfrm>
            <a:off x="777240" y="4172077"/>
            <a:ext cx="8412480" cy="552704"/>
          </a:xfrm>
          <a:prstGeom prst="rect">
            <a:avLst/>
          </a:prstGeom>
          <a:noFill/>
          <a:ln/>
        </p:spPr>
        <p:txBody>
          <a:bodyPr wrap="square" lIns="0" tIns="0" rIns="0" bIns="0" rtlCol="0" anchor="t"/>
          <a:lstStyle/>
          <a:p>
            <a:pPr algn="l" indent="0" marL="0">
              <a:lnSpc>
                <a:spcPct val="128000"/>
              </a:lnSpc>
              <a:buNone/>
            </a:pPr>
            <a:r>
              <a:rPr lang="en-US" sz="1700" dirty="0">
                <a:solidFill>
                  <a:srgbClr val="B8B1A8"/>
                </a:solidFill>
                <a:latin typeface="Arial" pitchFamily="34" charset="0"/>
                <a:ea typeface="Arial" pitchFamily="34" charset="-122"/>
                <a:cs typeface="Arial" pitchFamily="34" charset="-120"/>
              </a:rPr>
              <a:t>One shared repo of rules and skills. Install it once, and it works on every project.</a:t>
            </a:r>
            <a:endParaRPr lang="en-US" sz="1700" dirty="0"/>
          </a:p>
        </p:txBody>
      </p:sp>
      <p:sp>
        <p:nvSpPr>
          <p:cNvPr id="6" name="Shape 4"/>
          <p:cNvSpPr/>
          <p:nvPr/>
        </p:nvSpPr>
        <p:spPr>
          <a:xfrm>
            <a:off x="777240" y="4962525"/>
            <a:ext cx="1494536" cy="346710"/>
          </a:xfrm>
          <a:prstGeom prst="roundRect">
            <a:avLst>
              <a:gd name="adj" fmla="val 131868"/>
            </a:avLst>
          </a:prstGeom>
          <a:solidFill>
            <a:srgbClr val="332E28"/>
          </a:solidFill>
          <a:ln/>
        </p:spPr>
      </p:sp>
      <p:sp>
        <p:nvSpPr>
          <p:cNvPr id="7" name="Text 5"/>
          <p:cNvSpPr txBox="1"/>
          <p:nvPr/>
        </p:nvSpPr>
        <p:spPr>
          <a:xfrm>
            <a:off x="777240" y="4962525"/>
            <a:ext cx="1494536"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prompt-helper</a:t>
            </a:r>
            <a:endParaRPr lang="en-US" sz="1300" dirty="0"/>
          </a:p>
        </p:txBody>
      </p:sp>
      <p:sp>
        <p:nvSpPr>
          <p:cNvPr id="8" name="Shape 6"/>
          <p:cNvSpPr/>
          <p:nvPr/>
        </p:nvSpPr>
        <p:spPr>
          <a:xfrm>
            <a:off x="2381504" y="4962525"/>
            <a:ext cx="1309624" cy="346710"/>
          </a:xfrm>
          <a:prstGeom prst="roundRect">
            <a:avLst>
              <a:gd name="adj" fmla="val 131868"/>
            </a:avLst>
          </a:prstGeom>
          <a:solidFill>
            <a:srgbClr val="332E28"/>
          </a:solidFill>
          <a:ln/>
        </p:spPr>
      </p:sp>
      <p:sp>
        <p:nvSpPr>
          <p:cNvPr id="9" name="Text 7"/>
          <p:cNvSpPr txBox="1"/>
          <p:nvPr/>
        </p:nvSpPr>
        <p:spPr>
          <a:xfrm>
            <a:off x="2381504" y="4962525"/>
            <a:ext cx="1309624"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karpathy.md</a:t>
            </a:r>
            <a:endParaRPr lang="en-US" sz="1300" dirty="0"/>
          </a:p>
        </p:txBody>
      </p:sp>
      <p:sp>
        <p:nvSpPr>
          <p:cNvPr id="10" name="Shape 8"/>
          <p:cNvSpPr/>
          <p:nvPr/>
        </p:nvSpPr>
        <p:spPr>
          <a:xfrm>
            <a:off x="3800856" y="4962525"/>
            <a:ext cx="1586992" cy="346710"/>
          </a:xfrm>
          <a:prstGeom prst="roundRect">
            <a:avLst>
              <a:gd name="adj" fmla="val 131868"/>
            </a:avLst>
          </a:prstGeom>
          <a:solidFill>
            <a:srgbClr val="332E28"/>
          </a:solidFill>
          <a:ln/>
        </p:spPr>
      </p:sp>
      <p:sp>
        <p:nvSpPr>
          <p:cNvPr id="11" name="Text 9"/>
          <p:cNvSpPr txBox="1"/>
          <p:nvPr/>
        </p:nvSpPr>
        <p:spPr>
          <a:xfrm>
            <a:off x="3800856" y="4962525"/>
            <a:ext cx="1586992"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session-review</a:t>
            </a:r>
            <a:endParaRPr lang="en-US" sz="1300" dirty="0"/>
          </a:p>
        </p:txBody>
      </p:sp>
      <p:sp>
        <p:nvSpPr>
          <p:cNvPr id="12" name="Shape 10"/>
          <p:cNvSpPr/>
          <p:nvPr/>
        </p:nvSpPr>
        <p:spPr>
          <a:xfrm>
            <a:off x="5497576" y="4962525"/>
            <a:ext cx="1956816" cy="346710"/>
          </a:xfrm>
          <a:prstGeom prst="roundRect">
            <a:avLst>
              <a:gd name="adj" fmla="val 131868"/>
            </a:avLst>
          </a:prstGeom>
          <a:solidFill>
            <a:srgbClr val="332E28"/>
          </a:solidFill>
          <a:ln/>
        </p:spPr>
      </p:sp>
      <p:sp>
        <p:nvSpPr>
          <p:cNvPr id="13" name="Text 11"/>
          <p:cNvSpPr txBox="1"/>
          <p:nvPr/>
        </p:nvSpPr>
        <p:spPr>
          <a:xfrm>
            <a:off x="5497576" y="4962525"/>
            <a:ext cx="1956816"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typescript-general</a:t>
            </a:r>
            <a:endParaRPr lang="en-US" sz="1300" dirty="0"/>
          </a:p>
        </p:txBody>
      </p:sp>
      <p:sp>
        <p:nvSpPr>
          <p:cNvPr id="14" name="Shape 12"/>
          <p:cNvSpPr/>
          <p:nvPr/>
        </p:nvSpPr>
        <p:spPr>
          <a:xfrm>
            <a:off x="7564120" y="4962525"/>
            <a:ext cx="1586992" cy="346710"/>
          </a:xfrm>
          <a:prstGeom prst="roundRect">
            <a:avLst>
              <a:gd name="adj" fmla="val 131868"/>
            </a:avLst>
          </a:prstGeom>
          <a:solidFill>
            <a:srgbClr val="332E28"/>
          </a:solidFill>
          <a:ln/>
        </p:spPr>
      </p:sp>
      <p:sp>
        <p:nvSpPr>
          <p:cNvPr id="15" name="Text 13"/>
          <p:cNvSpPr txBox="1"/>
          <p:nvPr/>
        </p:nvSpPr>
        <p:spPr>
          <a:xfrm>
            <a:off x="7564120" y="4962525"/>
            <a:ext cx="1586992"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csharp-general</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658368"/>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06 · ABCOP AI PLAYBOOKS</a:t>
            </a:r>
            <a:endParaRPr lang="en-US" sz="1200" dirty="0"/>
          </a:p>
        </p:txBody>
      </p:sp>
      <p:sp>
        <p:nvSpPr>
          <p:cNvPr id="3" name="Text 1"/>
          <p:cNvSpPr txBox="1"/>
          <p:nvPr/>
        </p:nvSpPr>
        <p:spPr>
          <a:xfrm>
            <a:off x="777240" y="941832"/>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The Playbooks Repo</a:t>
            </a:r>
            <a:endParaRPr lang="en-US" sz="4000" dirty="0"/>
          </a:p>
        </p:txBody>
      </p:sp>
      <p:sp>
        <p:nvSpPr>
          <p:cNvPr id="4" name="Text 2"/>
          <p:cNvSpPr txBox="1"/>
          <p:nvPr/>
        </p:nvSpPr>
        <p:spPr>
          <a:xfrm>
            <a:off x="777240" y="1994408"/>
            <a:ext cx="8412480" cy="276352"/>
          </a:xfrm>
          <a:prstGeom prst="rect">
            <a:avLst/>
          </a:prstGeom>
          <a:noFill/>
          <a:ln/>
        </p:spPr>
        <p:txBody>
          <a:bodyPr wrap="square" lIns="0" tIns="0" rIns="0" bIns="0" rtlCol="0" anchor="t"/>
          <a:lstStyle/>
          <a:p>
            <a:pPr algn="l" indent="0" marL="0">
              <a:lnSpc>
                <a:spcPct val="128000"/>
              </a:lnSpc>
              <a:buNone/>
            </a:pPr>
            <a:r>
              <a:rPr lang="en-US" sz="1700" dirty="0">
                <a:solidFill>
                  <a:srgbClr val="6E675F"/>
                </a:solidFill>
                <a:latin typeface="Arial" pitchFamily="34" charset="0"/>
                <a:ea typeface="Arial" pitchFamily="34" charset="-122"/>
                <a:cs typeface="Arial" pitchFamily="34" charset="-120"/>
              </a:rPr>
              <a:t>One shared repo of rules and skills, installed once.</a:t>
            </a:r>
            <a:endParaRPr lang="en-US" sz="1700" dirty="0"/>
          </a:p>
        </p:txBody>
      </p:sp>
      <p:sp>
        <p:nvSpPr>
          <p:cNvPr id="5" name="Shape 3"/>
          <p:cNvSpPr/>
          <p:nvPr/>
        </p:nvSpPr>
        <p:spPr>
          <a:xfrm>
            <a:off x="777240" y="2508504"/>
            <a:ext cx="3717475" cy="2021459"/>
          </a:xfrm>
          <a:prstGeom prst="roundRect">
            <a:avLst>
              <a:gd name="adj" fmla="val 1637"/>
            </a:avLst>
          </a:prstGeom>
          <a:solidFill>
            <a:srgbClr val="1A1714"/>
          </a:solidFill>
          <a:ln/>
        </p:spPr>
      </p:sp>
      <p:sp>
        <p:nvSpPr>
          <p:cNvPr id="6" name="Shape 4"/>
          <p:cNvSpPr/>
          <p:nvPr/>
        </p:nvSpPr>
        <p:spPr>
          <a:xfrm>
            <a:off x="777240" y="2508504"/>
            <a:ext cx="3717475" cy="274320"/>
          </a:xfrm>
          <a:prstGeom prst="roundRect">
            <a:avLst>
              <a:gd name="adj" fmla="val 88889"/>
            </a:avLst>
          </a:prstGeom>
          <a:solidFill>
            <a:srgbClr val="332E28"/>
          </a:solidFill>
          <a:ln/>
        </p:spPr>
      </p:sp>
      <p:sp>
        <p:nvSpPr>
          <p:cNvPr id="7" name="Shape 5"/>
          <p:cNvSpPr/>
          <p:nvPr/>
        </p:nvSpPr>
        <p:spPr>
          <a:xfrm>
            <a:off x="777240" y="2709672"/>
            <a:ext cx="3717475" cy="73152"/>
          </a:xfrm>
          <a:prstGeom prst="rect">
            <a:avLst/>
          </a:prstGeom>
          <a:solidFill>
            <a:srgbClr val="332E28"/>
          </a:solidFill>
          <a:ln/>
        </p:spPr>
      </p:sp>
      <p:sp>
        <p:nvSpPr>
          <p:cNvPr id="8" name="Shape 6"/>
          <p:cNvSpPr/>
          <p:nvPr/>
        </p:nvSpPr>
        <p:spPr>
          <a:xfrm>
            <a:off x="905256" y="2604516"/>
            <a:ext cx="82296" cy="82296"/>
          </a:xfrm>
          <a:prstGeom prst="ellipse">
            <a:avLst/>
          </a:prstGeom>
          <a:solidFill>
            <a:srgbClr val="E8938A"/>
          </a:solidFill>
          <a:ln/>
        </p:spPr>
      </p:sp>
      <p:sp>
        <p:nvSpPr>
          <p:cNvPr id="9" name="Shape 7"/>
          <p:cNvSpPr/>
          <p:nvPr/>
        </p:nvSpPr>
        <p:spPr>
          <a:xfrm>
            <a:off x="1051560" y="2604516"/>
            <a:ext cx="82296" cy="82296"/>
          </a:xfrm>
          <a:prstGeom prst="ellipse">
            <a:avLst/>
          </a:prstGeom>
          <a:solidFill>
            <a:srgbClr val="9C948A"/>
          </a:solidFill>
          <a:ln/>
        </p:spPr>
      </p:sp>
      <p:sp>
        <p:nvSpPr>
          <p:cNvPr id="10" name="Shape 8"/>
          <p:cNvSpPr/>
          <p:nvPr/>
        </p:nvSpPr>
        <p:spPr>
          <a:xfrm>
            <a:off x="1197864" y="2604516"/>
            <a:ext cx="82296" cy="82296"/>
          </a:xfrm>
          <a:prstGeom prst="ellipse">
            <a:avLst/>
          </a:prstGeom>
          <a:solidFill>
            <a:srgbClr val="8FCB9B"/>
          </a:solidFill>
          <a:ln/>
        </p:spPr>
      </p:sp>
      <p:sp>
        <p:nvSpPr>
          <p:cNvPr id="11" name="Text 9"/>
          <p:cNvSpPr txBox="1"/>
          <p:nvPr/>
        </p:nvSpPr>
        <p:spPr>
          <a:xfrm>
            <a:off x="1380744" y="2535936"/>
            <a:ext cx="2985955" cy="219456"/>
          </a:xfrm>
          <a:prstGeom prst="rect">
            <a:avLst/>
          </a:prstGeom>
          <a:noFill/>
          <a:ln/>
        </p:spPr>
        <p:txBody>
          <a:bodyPr wrap="square" lIns="0" tIns="0" rIns="0" bIns="0" rtlCol="0" anchor="ctr"/>
          <a:lstStyle/>
          <a:p>
            <a:pPr algn="l" indent="0" marL="0">
              <a:lnSpc>
                <a:spcPct val="128000"/>
              </a:lnSpc>
              <a:buNone/>
            </a:pPr>
            <a:r>
              <a:rPr lang="en-US" sz="900" dirty="0">
                <a:solidFill>
                  <a:srgbClr val="9C948A"/>
                </a:solidFill>
                <a:latin typeface="Courier New" pitchFamily="34" charset="0"/>
                <a:ea typeface="Courier New" pitchFamily="34" charset="-122"/>
                <a:cs typeface="Courier New" pitchFamily="34" charset="-120"/>
              </a:rPr>
              <a:t>install</a:t>
            </a:r>
            <a:endParaRPr lang="en-US" sz="900" dirty="0"/>
          </a:p>
        </p:txBody>
      </p:sp>
      <p:sp>
        <p:nvSpPr>
          <p:cNvPr id="12" name="Text 10"/>
          <p:cNvSpPr txBox="1"/>
          <p:nvPr/>
        </p:nvSpPr>
        <p:spPr>
          <a:xfrm>
            <a:off x="941832" y="2947416"/>
            <a:ext cx="3388291" cy="202565"/>
          </a:xfrm>
          <a:prstGeom prst="rect">
            <a:avLst/>
          </a:prstGeom>
          <a:noFill/>
          <a:ln/>
        </p:spPr>
        <p:txBody>
          <a:bodyPr wrap="none" lIns="0" tIns="0" rIns="0" bIns="0" rtlCol="0" anchor="t"/>
          <a:lstStyle/>
          <a:p>
            <a:pPr algn="l" indent="0" marL="0">
              <a:lnSpc>
                <a:spcPct val="128000"/>
              </a:lnSpc>
              <a:buNone/>
            </a:pPr>
            <a:r>
              <a:rPr lang="en-US" sz="1100" dirty="0">
                <a:solidFill>
                  <a:srgbClr val="E8938A"/>
                </a:solidFill>
                <a:latin typeface="Courier New" pitchFamily="34" charset="0"/>
                <a:ea typeface="Courier New" pitchFamily="34" charset="-122"/>
                <a:cs typeface="Courier New" pitchFamily="34" charset="-120"/>
              </a:rPr>
              <a:t># [TODO: clone / install</a:t>
            </a:r>
            <a:endParaRPr lang="en-US" sz="1100" dirty="0"/>
          </a:p>
        </p:txBody>
      </p:sp>
      <p:sp>
        <p:nvSpPr>
          <p:cNvPr id="13" name="Text 11"/>
          <p:cNvSpPr txBox="1"/>
          <p:nvPr/>
        </p:nvSpPr>
        <p:spPr>
          <a:xfrm>
            <a:off x="941832" y="3149981"/>
            <a:ext cx="3388291" cy="202565"/>
          </a:xfrm>
          <a:prstGeom prst="rect">
            <a:avLst/>
          </a:prstGeom>
          <a:noFill/>
          <a:ln/>
        </p:spPr>
        <p:txBody>
          <a:bodyPr wrap="none" lIns="0" tIns="0" rIns="0" bIns="0" rtlCol="0" anchor="t"/>
          <a:lstStyle/>
          <a:p>
            <a:pPr algn="l" indent="0" marL="0">
              <a:lnSpc>
                <a:spcPct val="128000"/>
              </a:lnSpc>
              <a:buNone/>
            </a:pPr>
            <a:r>
              <a:rPr lang="en-US" sz="1100" dirty="0">
                <a:solidFill>
                  <a:srgbClr val="E8938A"/>
                </a:solidFill>
                <a:latin typeface="Courier New" pitchFamily="34" charset="0"/>
                <a:ea typeface="Courier New" pitchFamily="34" charset="-122"/>
                <a:cs typeface="Courier New" pitchFamily="34" charset="-120"/>
              </a:rPr>
              <a:t>#  command]</a:t>
            </a:r>
            <a:endParaRPr lang="en-US" sz="1100" dirty="0"/>
          </a:p>
        </p:txBody>
      </p:sp>
      <p:sp>
        <p:nvSpPr>
          <p:cNvPr id="14" name="Text 12"/>
          <p:cNvSpPr txBox="1"/>
          <p:nvPr/>
        </p:nvSpPr>
        <p:spPr>
          <a:xfrm>
            <a:off x="941832" y="3352546"/>
            <a:ext cx="3388291" cy="202565"/>
          </a:xfrm>
          <a:prstGeom prst="rect">
            <a:avLst/>
          </a:prstGeom>
          <a:noFill/>
          <a:ln/>
        </p:spPr>
        <p:txBody>
          <a:bodyPr wrap="none" lIns="0" tIns="0" rIns="0" bIns="0" rtlCol="0" anchor="t"/>
          <a:lstStyle/>
          <a:p>
            <a:pPr algn="l" indent="0" marL="0">
              <a:lnSpc>
                <a:spcPct val="128000"/>
              </a:lnSpc>
              <a:buNone/>
            </a:pPr>
            <a:endParaRPr lang="en-US" sz="1100" dirty="0"/>
          </a:p>
        </p:txBody>
      </p:sp>
      <p:sp>
        <p:nvSpPr>
          <p:cNvPr id="15" name="Text 13"/>
          <p:cNvSpPr txBox="1"/>
          <p:nvPr/>
        </p:nvSpPr>
        <p:spPr>
          <a:xfrm>
            <a:off x="941832" y="3555111"/>
            <a:ext cx="3388291" cy="202565"/>
          </a:xfrm>
          <a:prstGeom prst="rect">
            <a:avLst/>
          </a:prstGeom>
          <a:noFill/>
          <a:ln/>
        </p:spPr>
        <p:txBody>
          <a:bodyPr wrap="none" lIns="0" tIns="0" rIns="0" bIns="0" rtlCol="0" anchor="t"/>
          <a:lstStyle/>
          <a:p>
            <a:pPr algn="l" indent="0" marL="0">
              <a:lnSpc>
                <a:spcPct val="128000"/>
              </a:lnSpc>
              <a:buNone/>
            </a:pPr>
            <a:r>
              <a:rPr lang="en-US" sz="1100" dirty="0">
                <a:solidFill>
                  <a:srgbClr val="E8938A"/>
                </a:solidFill>
                <a:latin typeface="Courier New" pitchFamily="34" charset="0"/>
                <a:ea typeface="Courier New" pitchFamily="34" charset="-122"/>
                <a:cs typeface="Courier New" pitchFamily="34" charset="-120"/>
              </a:rPr>
              <a:t># [TODO: where it lands]</a:t>
            </a:r>
            <a:endParaRPr lang="en-US" sz="1100" dirty="0"/>
          </a:p>
        </p:txBody>
      </p:sp>
      <p:sp>
        <p:nvSpPr>
          <p:cNvPr id="16" name="Text 14"/>
          <p:cNvSpPr txBox="1"/>
          <p:nvPr/>
        </p:nvSpPr>
        <p:spPr>
          <a:xfrm>
            <a:off x="941832" y="3757676"/>
            <a:ext cx="3388291"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~/.claude/rules/</a:t>
            </a:r>
            <a:endParaRPr lang="en-US" sz="1100" dirty="0"/>
          </a:p>
        </p:txBody>
      </p:sp>
      <p:sp>
        <p:nvSpPr>
          <p:cNvPr id="17" name="Text 15"/>
          <p:cNvSpPr txBox="1"/>
          <p:nvPr/>
        </p:nvSpPr>
        <p:spPr>
          <a:xfrm>
            <a:off x="941832" y="3960241"/>
            <a:ext cx="3388291"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~/.claude/skills/</a:t>
            </a:r>
            <a:endParaRPr lang="en-US" sz="1100" dirty="0"/>
          </a:p>
        </p:txBody>
      </p:sp>
      <p:sp>
        <p:nvSpPr>
          <p:cNvPr id="18" name="Text 16"/>
          <p:cNvSpPr txBox="1"/>
          <p:nvPr/>
        </p:nvSpPr>
        <p:spPr>
          <a:xfrm>
            <a:off x="941832" y="4162806"/>
            <a:ext cx="3388291"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~/.claude/CLAUDE.md</a:t>
            </a:r>
            <a:endParaRPr lang="en-US" sz="1100" dirty="0"/>
          </a:p>
        </p:txBody>
      </p:sp>
      <p:sp>
        <p:nvSpPr>
          <p:cNvPr id="19" name="Shape 17"/>
          <p:cNvSpPr/>
          <p:nvPr/>
        </p:nvSpPr>
        <p:spPr>
          <a:xfrm>
            <a:off x="4805611" y="2508504"/>
            <a:ext cx="420624" cy="420624"/>
          </a:xfrm>
          <a:prstGeom prst="ellipse">
            <a:avLst/>
          </a:prstGeom>
          <a:solidFill>
            <a:srgbClr val="C96442"/>
          </a:solidFill>
          <a:ln/>
        </p:spPr>
      </p:sp>
      <p:sp>
        <p:nvSpPr>
          <p:cNvPr id="20" name="Text 18"/>
          <p:cNvSpPr txBox="1"/>
          <p:nvPr/>
        </p:nvSpPr>
        <p:spPr>
          <a:xfrm>
            <a:off x="4805611" y="2508504"/>
            <a:ext cx="420624" cy="420624"/>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500" dirty="0"/>
          </a:p>
        </p:txBody>
      </p:sp>
      <p:sp>
        <p:nvSpPr>
          <p:cNvPr id="21" name="Text 19"/>
          <p:cNvSpPr txBox="1"/>
          <p:nvPr/>
        </p:nvSpPr>
        <p:spPr>
          <a:xfrm>
            <a:off x="5409115" y="2508504"/>
            <a:ext cx="2563758"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prompt-helper</a:t>
            </a:r>
            <a:endParaRPr lang="en-US" sz="1600" dirty="0"/>
          </a:p>
        </p:txBody>
      </p:sp>
      <p:sp>
        <p:nvSpPr>
          <p:cNvPr id="22" name="Text 20"/>
          <p:cNvSpPr txBox="1"/>
          <p:nvPr/>
        </p:nvSpPr>
        <p:spPr>
          <a:xfrm>
            <a:off x="5409115" y="2823464"/>
            <a:ext cx="2563758" cy="682752"/>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Skill. Grades a draft prompt against the Three S's.</a:t>
            </a:r>
            <a:endParaRPr lang="en-US" sz="1400" dirty="0"/>
          </a:p>
        </p:txBody>
      </p:sp>
      <p:sp>
        <p:nvSpPr>
          <p:cNvPr id="23" name="Shape 21"/>
          <p:cNvSpPr/>
          <p:nvPr/>
        </p:nvSpPr>
        <p:spPr>
          <a:xfrm>
            <a:off x="8247193" y="2508504"/>
            <a:ext cx="420624" cy="420624"/>
          </a:xfrm>
          <a:prstGeom prst="ellipse">
            <a:avLst/>
          </a:prstGeom>
          <a:solidFill>
            <a:srgbClr val="C96442"/>
          </a:solidFill>
          <a:ln/>
        </p:spPr>
      </p:sp>
      <p:sp>
        <p:nvSpPr>
          <p:cNvPr id="24" name="Text 22"/>
          <p:cNvSpPr txBox="1"/>
          <p:nvPr/>
        </p:nvSpPr>
        <p:spPr>
          <a:xfrm>
            <a:off x="8247193" y="2508504"/>
            <a:ext cx="420624" cy="420624"/>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500" dirty="0"/>
          </a:p>
        </p:txBody>
      </p:sp>
      <p:sp>
        <p:nvSpPr>
          <p:cNvPr id="25" name="Text 23"/>
          <p:cNvSpPr txBox="1"/>
          <p:nvPr/>
        </p:nvSpPr>
        <p:spPr>
          <a:xfrm>
            <a:off x="8850697" y="2508504"/>
            <a:ext cx="2563758"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karpathy.md</a:t>
            </a:r>
            <a:endParaRPr lang="en-US" sz="1600" dirty="0"/>
          </a:p>
        </p:txBody>
      </p:sp>
      <p:sp>
        <p:nvSpPr>
          <p:cNvPr id="26" name="Text 24"/>
          <p:cNvSpPr txBox="1"/>
          <p:nvPr/>
        </p:nvSpPr>
        <p:spPr>
          <a:xfrm>
            <a:off x="8850697" y="2823464"/>
            <a:ext cx="2563758" cy="455168"/>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Rule. Keeps changes surgical and scoped.</a:t>
            </a:r>
            <a:endParaRPr lang="en-US" sz="1400" dirty="0"/>
          </a:p>
        </p:txBody>
      </p:sp>
      <p:sp>
        <p:nvSpPr>
          <p:cNvPr id="27" name="Shape 25"/>
          <p:cNvSpPr/>
          <p:nvPr/>
        </p:nvSpPr>
        <p:spPr>
          <a:xfrm>
            <a:off x="4805611" y="3762248"/>
            <a:ext cx="420624" cy="420624"/>
          </a:xfrm>
          <a:prstGeom prst="ellipse">
            <a:avLst/>
          </a:prstGeom>
          <a:solidFill>
            <a:srgbClr val="C96442"/>
          </a:solidFill>
          <a:ln/>
        </p:spPr>
      </p:sp>
      <p:sp>
        <p:nvSpPr>
          <p:cNvPr id="28" name="Text 26"/>
          <p:cNvSpPr txBox="1"/>
          <p:nvPr/>
        </p:nvSpPr>
        <p:spPr>
          <a:xfrm>
            <a:off x="4805611" y="3762248"/>
            <a:ext cx="420624" cy="420624"/>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500" dirty="0"/>
          </a:p>
        </p:txBody>
      </p:sp>
      <p:sp>
        <p:nvSpPr>
          <p:cNvPr id="29" name="Text 27"/>
          <p:cNvSpPr txBox="1"/>
          <p:nvPr/>
        </p:nvSpPr>
        <p:spPr>
          <a:xfrm>
            <a:off x="5409115" y="3762248"/>
            <a:ext cx="2563758"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session-review</a:t>
            </a:r>
            <a:endParaRPr lang="en-US" sz="1600" dirty="0"/>
          </a:p>
        </p:txBody>
      </p:sp>
      <p:sp>
        <p:nvSpPr>
          <p:cNvPr id="30" name="Text 28"/>
          <p:cNvSpPr txBox="1"/>
          <p:nvPr/>
        </p:nvSpPr>
        <p:spPr>
          <a:xfrm>
            <a:off x="5409115" y="4077208"/>
            <a:ext cx="2563758" cy="455168"/>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Skill. Audits a session and fixes your setup.</a:t>
            </a:r>
            <a:endParaRPr lang="en-US" sz="1400" dirty="0"/>
          </a:p>
        </p:txBody>
      </p:sp>
      <p:sp>
        <p:nvSpPr>
          <p:cNvPr id="31" name="Shape 29"/>
          <p:cNvSpPr/>
          <p:nvPr/>
        </p:nvSpPr>
        <p:spPr>
          <a:xfrm>
            <a:off x="8247193" y="3762248"/>
            <a:ext cx="420624" cy="420624"/>
          </a:xfrm>
          <a:prstGeom prst="ellipse">
            <a:avLst/>
          </a:prstGeom>
          <a:solidFill>
            <a:srgbClr val="C96442"/>
          </a:solidFill>
          <a:ln/>
        </p:spPr>
      </p:sp>
      <p:sp>
        <p:nvSpPr>
          <p:cNvPr id="32" name="Text 30"/>
          <p:cNvSpPr txBox="1"/>
          <p:nvPr/>
        </p:nvSpPr>
        <p:spPr>
          <a:xfrm>
            <a:off x="8247193" y="3762248"/>
            <a:ext cx="420624" cy="420624"/>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500" dirty="0"/>
          </a:p>
        </p:txBody>
      </p:sp>
      <p:sp>
        <p:nvSpPr>
          <p:cNvPr id="33" name="Text 31"/>
          <p:cNvSpPr txBox="1"/>
          <p:nvPr/>
        </p:nvSpPr>
        <p:spPr>
          <a:xfrm>
            <a:off x="8850697" y="3762248"/>
            <a:ext cx="2563758"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typescript-general</a:t>
            </a:r>
            <a:endParaRPr lang="en-US" sz="1600" dirty="0"/>
          </a:p>
        </p:txBody>
      </p:sp>
      <p:sp>
        <p:nvSpPr>
          <p:cNvPr id="34" name="Text 32"/>
          <p:cNvSpPr txBox="1"/>
          <p:nvPr/>
        </p:nvSpPr>
        <p:spPr>
          <a:xfrm>
            <a:off x="8850697" y="4077208"/>
            <a:ext cx="2563758" cy="455168"/>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Rule. TypeScript files only.</a:t>
            </a:r>
            <a:endParaRPr lang="en-US" sz="1400" dirty="0"/>
          </a:p>
        </p:txBody>
      </p:sp>
      <p:sp>
        <p:nvSpPr>
          <p:cNvPr id="35" name="Shape 33"/>
          <p:cNvSpPr/>
          <p:nvPr/>
        </p:nvSpPr>
        <p:spPr>
          <a:xfrm>
            <a:off x="4805611" y="4788408"/>
            <a:ext cx="420624" cy="420624"/>
          </a:xfrm>
          <a:prstGeom prst="ellipse">
            <a:avLst/>
          </a:prstGeom>
          <a:solidFill>
            <a:srgbClr val="C96442"/>
          </a:solidFill>
          <a:ln/>
        </p:spPr>
      </p:sp>
      <p:sp>
        <p:nvSpPr>
          <p:cNvPr id="36" name="Text 34"/>
          <p:cNvSpPr txBox="1"/>
          <p:nvPr/>
        </p:nvSpPr>
        <p:spPr>
          <a:xfrm>
            <a:off x="4805611" y="4788408"/>
            <a:ext cx="420624" cy="420624"/>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500" dirty="0"/>
          </a:p>
        </p:txBody>
      </p:sp>
      <p:sp>
        <p:nvSpPr>
          <p:cNvPr id="37" name="Text 35"/>
          <p:cNvSpPr txBox="1"/>
          <p:nvPr/>
        </p:nvSpPr>
        <p:spPr>
          <a:xfrm>
            <a:off x="5409115" y="4788408"/>
            <a:ext cx="2563758"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csharp-general</a:t>
            </a:r>
            <a:endParaRPr lang="en-US" sz="1600" dirty="0"/>
          </a:p>
        </p:txBody>
      </p:sp>
      <p:sp>
        <p:nvSpPr>
          <p:cNvPr id="38" name="Text 36"/>
          <p:cNvSpPr txBox="1"/>
          <p:nvPr/>
        </p:nvSpPr>
        <p:spPr>
          <a:xfrm>
            <a:off x="5409115" y="5103368"/>
            <a:ext cx="2563758"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Rule. C# files only.</a:t>
            </a:r>
            <a:endParaRPr lang="en-US" sz="1400" dirty="0"/>
          </a:p>
        </p:txBody>
      </p:sp>
      <p:sp>
        <p:nvSpPr>
          <p:cNvPr id="39" name="Shape 37"/>
          <p:cNvSpPr/>
          <p:nvPr/>
        </p:nvSpPr>
        <p:spPr>
          <a:xfrm>
            <a:off x="777240" y="5715000"/>
            <a:ext cx="10637215" cy="718759"/>
          </a:xfrm>
          <a:prstGeom prst="roundRect">
            <a:avLst>
              <a:gd name="adj" fmla="val 16185"/>
            </a:avLst>
          </a:prstGeom>
          <a:solidFill>
            <a:srgbClr val="26221E"/>
          </a:solidFill>
          <a:ln/>
        </p:spPr>
      </p:sp>
      <p:sp>
        <p:nvSpPr>
          <p:cNvPr id="40" name="Shape 38"/>
          <p:cNvSpPr/>
          <p:nvPr/>
        </p:nvSpPr>
        <p:spPr>
          <a:xfrm>
            <a:off x="1006572" y="5873212"/>
            <a:ext cx="402336" cy="402336"/>
          </a:xfrm>
          <a:prstGeom prst="ellipse">
            <a:avLst/>
          </a:prstGeom>
          <a:solidFill>
            <a:srgbClr val="C96442"/>
          </a:solidFill>
          <a:ln/>
        </p:spPr>
      </p:sp>
      <p:sp>
        <p:nvSpPr>
          <p:cNvPr id="41" name="Text 39"/>
          <p:cNvSpPr txBox="1"/>
          <p:nvPr/>
        </p:nvSpPr>
        <p:spPr>
          <a:xfrm>
            <a:off x="1006572" y="5873212"/>
            <a:ext cx="402336" cy="402336"/>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42" name="Text 40"/>
          <p:cNvSpPr txBox="1"/>
          <p:nvPr/>
        </p:nvSpPr>
        <p:spPr>
          <a:xfrm>
            <a:off x="1573500" y="5944332"/>
            <a:ext cx="9611624" cy="260096"/>
          </a:xfrm>
          <a:prstGeom prst="rect">
            <a:avLst/>
          </a:prstGeom>
          <a:noFill/>
          <a:ln/>
        </p:spPr>
        <p:txBody>
          <a:bodyPr wrap="square" lIns="0" tIns="0" rIns="0" bIns="0" rtlCol="0" anchor="t"/>
          <a:lstStyle/>
          <a:p>
            <a:pPr algn="l" indent="0" marL="0">
              <a:lnSpc>
                <a:spcPct val="128000"/>
              </a:lnSpc>
              <a:buNone/>
            </a:pPr>
            <a:r>
              <a:rPr lang="en-US" sz="1600" dirty="0">
                <a:solidFill>
                  <a:srgbClr val="F2EDE6"/>
                </a:solidFill>
                <a:latin typeface="Arial" pitchFamily="34" charset="0"/>
                <a:ea typeface="Arial" pitchFamily="34" charset="-122"/>
                <a:cs typeface="Arial" pitchFamily="34" charset="-120"/>
              </a:rPr>
              <a:t>[TODO: install steps and how to verify it loaded.]</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1850136"/>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06 · ABCOP AI PLAYBOOKS</a:t>
            </a:r>
            <a:endParaRPr lang="en-US" sz="1200" dirty="0"/>
          </a:p>
        </p:txBody>
      </p:sp>
      <p:sp>
        <p:nvSpPr>
          <p:cNvPr id="3" name="Text 1"/>
          <p:cNvSpPr txBox="1"/>
          <p:nvPr/>
        </p:nvSpPr>
        <p:spPr>
          <a:xfrm>
            <a:off x="777240" y="2133600"/>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prompt-helper</a:t>
            </a:r>
            <a:endParaRPr lang="en-US" sz="4000" dirty="0"/>
          </a:p>
        </p:txBody>
      </p:sp>
      <p:sp>
        <p:nvSpPr>
          <p:cNvPr id="4" name="Text 2"/>
          <p:cNvSpPr txBox="1"/>
          <p:nvPr/>
        </p:nvSpPr>
        <p:spPr>
          <a:xfrm>
            <a:off x="777240" y="3186176"/>
            <a:ext cx="8412480" cy="276352"/>
          </a:xfrm>
          <a:prstGeom prst="rect">
            <a:avLst/>
          </a:prstGeom>
          <a:noFill/>
          <a:ln/>
        </p:spPr>
        <p:txBody>
          <a:bodyPr wrap="square" lIns="0" tIns="0" rIns="0" bIns="0" rtlCol="0" anchor="t"/>
          <a:lstStyle/>
          <a:p>
            <a:pPr algn="l" indent="0" marL="0">
              <a:lnSpc>
                <a:spcPct val="128000"/>
              </a:lnSpc>
              <a:buNone/>
            </a:pPr>
            <a:r>
              <a:rPr lang="en-US" sz="1700" dirty="0">
                <a:solidFill>
                  <a:srgbClr val="6E675F"/>
                </a:solidFill>
                <a:latin typeface="Arial" pitchFamily="34" charset="0"/>
                <a:ea typeface="Arial" pitchFamily="34" charset="-122"/>
                <a:cs typeface="Arial" pitchFamily="34" charset="-120"/>
              </a:rPr>
              <a:t>[TODO: one-line description]</a:t>
            </a:r>
            <a:endParaRPr lang="en-US" sz="1700" dirty="0"/>
          </a:p>
        </p:txBody>
      </p:sp>
      <p:sp>
        <p:nvSpPr>
          <p:cNvPr id="5" name="Shape 3"/>
          <p:cNvSpPr/>
          <p:nvPr/>
        </p:nvSpPr>
        <p:spPr>
          <a:xfrm>
            <a:off x="777240" y="3700272"/>
            <a:ext cx="4543580" cy="1266444"/>
          </a:xfrm>
          <a:prstGeom prst="roundRect">
            <a:avLst>
              <a:gd name="adj" fmla="val 4171"/>
            </a:avLst>
          </a:prstGeom>
          <a:solidFill>
            <a:srgbClr val="1A1714"/>
          </a:solidFill>
          <a:ln/>
        </p:spPr>
      </p:sp>
      <p:sp>
        <p:nvSpPr>
          <p:cNvPr id="6" name="Shape 4"/>
          <p:cNvSpPr/>
          <p:nvPr/>
        </p:nvSpPr>
        <p:spPr>
          <a:xfrm>
            <a:off x="777240" y="3700272"/>
            <a:ext cx="4543580" cy="274320"/>
          </a:xfrm>
          <a:prstGeom prst="roundRect">
            <a:avLst>
              <a:gd name="adj" fmla="val 88889"/>
            </a:avLst>
          </a:prstGeom>
          <a:solidFill>
            <a:srgbClr val="332E28"/>
          </a:solidFill>
          <a:ln/>
        </p:spPr>
      </p:sp>
      <p:sp>
        <p:nvSpPr>
          <p:cNvPr id="7" name="Shape 5"/>
          <p:cNvSpPr/>
          <p:nvPr/>
        </p:nvSpPr>
        <p:spPr>
          <a:xfrm>
            <a:off x="777240" y="3901440"/>
            <a:ext cx="4543580" cy="73152"/>
          </a:xfrm>
          <a:prstGeom prst="rect">
            <a:avLst/>
          </a:prstGeom>
          <a:solidFill>
            <a:srgbClr val="332E28"/>
          </a:solidFill>
          <a:ln/>
        </p:spPr>
      </p:sp>
      <p:sp>
        <p:nvSpPr>
          <p:cNvPr id="8" name="Shape 6"/>
          <p:cNvSpPr/>
          <p:nvPr/>
        </p:nvSpPr>
        <p:spPr>
          <a:xfrm>
            <a:off x="905256" y="3796284"/>
            <a:ext cx="82296" cy="82296"/>
          </a:xfrm>
          <a:prstGeom prst="ellipse">
            <a:avLst/>
          </a:prstGeom>
          <a:solidFill>
            <a:srgbClr val="E8938A"/>
          </a:solidFill>
          <a:ln/>
        </p:spPr>
      </p:sp>
      <p:sp>
        <p:nvSpPr>
          <p:cNvPr id="9" name="Shape 7"/>
          <p:cNvSpPr/>
          <p:nvPr/>
        </p:nvSpPr>
        <p:spPr>
          <a:xfrm>
            <a:off x="1051560" y="3796284"/>
            <a:ext cx="82296" cy="82296"/>
          </a:xfrm>
          <a:prstGeom prst="ellipse">
            <a:avLst/>
          </a:prstGeom>
          <a:solidFill>
            <a:srgbClr val="9C948A"/>
          </a:solidFill>
          <a:ln/>
        </p:spPr>
      </p:sp>
      <p:sp>
        <p:nvSpPr>
          <p:cNvPr id="10" name="Shape 8"/>
          <p:cNvSpPr/>
          <p:nvPr/>
        </p:nvSpPr>
        <p:spPr>
          <a:xfrm>
            <a:off x="1197864" y="3796284"/>
            <a:ext cx="82296" cy="82296"/>
          </a:xfrm>
          <a:prstGeom prst="ellipse">
            <a:avLst/>
          </a:prstGeom>
          <a:solidFill>
            <a:srgbClr val="8FCB9B"/>
          </a:solidFill>
          <a:ln/>
        </p:spPr>
      </p:sp>
      <p:sp>
        <p:nvSpPr>
          <p:cNvPr id="11" name="Text 9"/>
          <p:cNvSpPr txBox="1"/>
          <p:nvPr/>
        </p:nvSpPr>
        <p:spPr>
          <a:xfrm>
            <a:off x="1380744" y="3727704"/>
            <a:ext cx="3812060" cy="219456"/>
          </a:xfrm>
          <a:prstGeom prst="rect">
            <a:avLst/>
          </a:prstGeom>
          <a:noFill/>
          <a:ln/>
        </p:spPr>
        <p:txBody>
          <a:bodyPr wrap="square" lIns="0" tIns="0" rIns="0" bIns="0" rtlCol="0" anchor="ctr"/>
          <a:lstStyle/>
          <a:p>
            <a:pPr algn="l" indent="0" marL="0">
              <a:lnSpc>
                <a:spcPct val="128000"/>
              </a:lnSpc>
              <a:buNone/>
            </a:pPr>
            <a:r>
              <a:rPr lang="en-US" sz="1000" dirty="0">
                <a:solidFill>
                  <a:srgbClr val="9C948A"/>
                </a:solidFill>
                <a:latin typeface="Courier New" pitchFamily="34" charset="0"/>
                <a:ea typeface="Courier New" pitchFamily="34" charset="-122"/>
                <a:cs typeface="Courier New" pitchFamily="34" charset="-120"/>
              </a:rPr>
              <a:t>prompt-helper</a:t>
            </a:r>
            <a:endParaRPr lang="en-US" sz="1000" dirty="0"/>
          </a:p>
        </p:txBody>
      </p:sp>
      <p:sp>
        <p:nvSpPr>
          <p:cNvPr id="12" name="Text 10"/>
          <p:cNvSpPr txBox="1"/>
          <p:nvPr/>
        </p:nvSpPr>
        <p:spPr>
          <a:xfrm>
            <a:off x="941832" y="4139184"/>
            <a:ext cx="4214396" cy="220980"/>
          </a:xfrm>
          <a:prstGeom prst="rect">
            <a:avLst/>
          </a:prstGeom>
          <a:noFill/>
          <a:ln/>
        </p:spPr>
        <p:txBody>
          <a:bodyPr wrap="none" lIns="0" tIns="0" rIns="0" bIns="0" rtlCol="0" anchor="t"/>
          <a:lstStyle/>
          <a:p>
            <a:pPr algn="l" indent="0" marL="0">
              <a:lnSpc>
                <a:spcPct val="128000"/>
              </a:lnSpc>
              <a:buNone/>
            </a:pPr>
            <a:r>
              <a:rPr lang="en-US" sz="1200" dirty="0">
                <a:solidFill>
                  <a:srgbClr val="8FCB9B"/>
                </a:solidFill>
                <a:latin typeface="Courier New" pitchFamily="34" charset="0"/>
                <a:ea typeface="Courier New" pitchFamily="34" charset="-122"/>
                <a:cs typeface="Courier New" pitchFamily="34" charset="-120"/>
              </a:rPr>
              <a:t>[TODO: example invocation]</a:t>
            </a:r>
            <a:endParaRPr lang="en-US" sz="1200" dirty="0"/>
          </a:p>
        </p:txBody>
      </p:sp>
      <p:sp>
        <p:nvSpPr>
          <p:cNvPr id="13" name="Text 11"/>
          <p:cNvSpPr txBox="1"/>
          <p:nvPr/>
        </p:nvSpPr>
        <p:spPr>
          <a:xfrm>
            <a:off x="941832" y="4360164"/>
            <a:ext cx="4214396" cy="220980"/>
          </a:xfrm>
          <a:prstGeom prst="rect">
            <a:avLst/>
          </a:prstGeom>
          <a:noFill/>
          <a:ln/>
        </p:spPr>
        <p:txBody>
          <a:bodyPr wrap="none" lIns="0" tIns="0" rIns="0" bIns="0" rtlCol="0" anchor="t"/>
          <a:lstStyle/>
          <a:p>
            <a:pPr algn="l" indent="0" marL="0">
              <a:lnSpc>
                <a:spcPct val="128000"/>
              </a:lnSpc>
              <a:buNone/>
            </a:pPr>
            <a:endParaRPr lang="en-US" sz="1200" dirty="0"/>
          </a:p>
        </p:txBody>
      </p:sp>
      <p:sp>
        <p:nvSpPr>
          <p:cNvPr id="14" name="Text 12"/>
          <p:cNvSpPr txBox="1"/>
          <p:nvPr/>
        </p:nvSpPr>
        <p:spPr>
          <a:xfrm>
            <a:off x="941832" y="4581144"/>
            <a:ext cx="4214396" cy="220980"/>
          </a:xfrm>
          <a:prstGeom prst="rect">
            <a:avLst/>
          </a:prstGeom>
          <a:noFill/>
          <a:ln/>
        </p:spPr>
        <p:txBody>
          <a:bodyPr wrap="none" lIns="0" tIns="0" rIns="0" bIns="0" rtlCol="0" anchor="t"/>
          <a:lstStyle/>
          <a:p>
            <a:pPr algn="l" indent="0" marL="0">
              <a:lnSpc>
                <a:spcPct val="128000"/>
              </a:lnSpc>
              <a:buNone/>
            </a:pPr>
            <a:r>
              <a:rPr lang="en-US" sz="1200" dirty="0">
                <a:solidFill>
                  <a:srgbClr val="9C948A"/>
                </a:solidFill>
                <a:latin typeface="Courier New" pitchFamily="34" charset="0"/>
                <a:ea typeface="Courier New" pitchFamily="34" charset="-122"/>
                <a:cs typeface="Courier New" pitchFamily="34" charset="-120"/>
              </a:rPr>
              <a:t>&gt; [TODO: what it says back]</a:t>
            </a:r>
            <a:endParaRPr lang="en-US" sz="1200" dirty="0"/>
          </a:p>
        </p:txBody>
      </p:sp>
      <p:sp>
        <p:nvSpPr>
          <p:cNvPr id="15" name="Shape 13"/>
          <p:cNvSpPr/>
          <p:nvPr/>
        </p:nvSpPr>
        <p:spPr>
          <a:xfrm>
            <a:off x="5631716" y="3700272"/>
            <a:ext cx="384048" cy="384048"/>
          </a:xfrm>
          <a:prstGeom prst="ellipse">
            <a:avLst/>
          </a:prstGeom>
          <a:solidFill>
            <a:srgbClr val="C96442"/>
          </a:solidFill>
          <a:ln/>
        </p:spPr>
      </p:sp>
      <p:sp>
        <p:nvSpPr>
          <p:cNvPr id="16" name="Text 14"/>
          <p:cNvSpPr txBox="1"/>
          <p:nvPr/>
        </p:nvSpPr>
        <p:spPr>
          <a:xfrm>
            <a:off x="5631716" y="3700272"/>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7" name="Text 15"/>
          <p:cNvSpPr txBox="1"/>
          <p:nvPr/>
        </p:nvSpPr>
        <p:spPr>
          <a:xfrm>
            <a:off x="6198644" y="3700272"/>
            <a:ext cx="1850476"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[TODO: point 1]</a:t>
            </a:r>
            <a:endParaRPr lang="en-US" sz="1600" dirty="0"/>
          </a:p>
        </p:txBody>
      </p:sp>
      <p:sp>
        <p:nvSpPr>
          <p:cNvPr id="18" name="Text 16"/>
          <p:cNvSpPr txBox="1"/>
          <p:nvPr/>
        </p:nvSpPr>
        <p:spPr>
          <a:xfrm>
            <a:off x="8268577" y="3700272"/>
            <a:ext cx="3145878"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[TODO]</a:t>
            </a:r>
            <a:endParaRPr lang="en-US" sz="1400" dirty="0"/>
          </a:p>
        </p:txBody>
      </p:sp>
      <p:sp>
        <p:nvSpPr>
          <p:cNvPr id="19" name="Shape 17"/>
          <p:cNvSpPr/>
          <p:nvPr/>
        </p:nvSpPr>
        <p:spPr>
          <a:xfrm>
            <a:off x="5631716" y="4184904"/>
            <a:ext cx="5782739" cy="12700"/>
          </a:xfrm>
          <a:prstGeom prst="rect">
            <a:avLst/>
          </a:prstGeom>
          <a:solidFill>
            <a:srgbClr val="E4DFD9"/>
          </a:solidFill>
          <a:ln/>
        </p:spPr>
      </p:sp>
      <p:sp>
        <p:nvSpPr>
          <p:cNvPr id="20" name="Shape 18"/>
          <p:cNvSpPr/>
          <p:nvPr/>
        </p:nvSpPr>
        <p:spPr>
          <a:xfrm>
            <a:off x="5631716" y="4285488"/>
            <a:ext cx="384048" cy="384048"/>
          </a:xfrm>
          <a:prstGeom prst="ellipse">
            <a:avLst/>
          </a:prstGeom>
          <a:solidFill>
            <a:srgbClr val="C96442"/>
          </a:solidFill>
          <a:ln/>
        </p:spPr>
      </p:sp>
      <p:sp>
        <p:nvSpPr>
          <p:cNvPr id="21" name="Text 19"/>
          <p:cNvSpPr txBox="1"/>
          <p:nvPr/>
        </p:nvSpPr>
        <p:spPr>
          <a:xfrm>
            <a:off x="5631716" y="4285488"/>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2" name="Text 20"/>
          <p:cNvSpPr txBox="1"/>
          <p:nvPr/>
        </p:nvSpPr>
        <p:spPr>
          <a:xfrm>
            <a:off x="6198644" y="4285488"/>
            <a:ext cx="1850476"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[TODO: point 2]</a:t>
            </a:r>
            <a:endParaRPr lang="en-US" sz="1600" dirty="0"/>
          </a:p>
        </p:txBody>
      </p:sp>
      <p:sp>
        <p:nvSpPr>
          <p:cNvPr id="23" name="Text 21"/>
          <p:cNvSpPr txBox="1"/>
          <p:nvPr/>
        </p:nvSpPr>
        <p:spPr>
          <a:xfrm>
            <a:off x="8268577" y="4285488"/>
            <a:ext cx="3145878"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[TODO]</a:t>
            </a:r>
            <a:endParaRPr lang="en-US" sz="1400" dirty="0"/>
          </a:p>
        </p:txBody>
      </p:sp>
      <p:sp>
        <p:nvSpPr>
          <p:cNvPr id="24" name="Shape 22"/>
          <p:cNvSpPr/>
          <p:nvPr/>
        </p:nvSpPr>
        <p:spPr>
          <a:xfrm>
            <a:off x="5631716" y="4770120"/>
            <a:ext cx="5782739" cy="12700"/>
          </a:xfrm>
          <a:prstGeom prst="rect">
            <a:avLst/>
          </a:prstGeom>
          <a:solidFill>
            <a:srgbClr val="E4DFD9"/>
          </a:solidFill>
          <a:ln/>
        </p:spPr>
      </p:sp>
      <p:sp>
        <p:nvSpPr>
          <p:cNvPr id="25" name="Shape 23"/>
          <p:cNvSpPr/>
          <p:nvPr/>
        </p:nvSpPr>
        <p:spPr>
          <a:xfrm>
            <a:off x="5631716" y="4870704"/>
            <a:ext cx="384048" cy="384048"/>
          </a:xfrm>
          <a:prstGeom prst="ellipse">
            <a:avLst/>
          </a:prstGeom>
          <a:solidFill>
            <a:srgbClr val="C96442"/>
          </a:solidFill>
          <a:ln/>
        </p:spPr>
      </p:sp>
      <p:sp>
        <p:nvSpPr>
          <p:cNvPr id="26" name="Text 24"/>
          <p:cNvSpPr txBox="1"/>
          <p:nvPr/>
        </p:nvSpPr>
        <p:spPr>
          <a:xfrm>
            <a:off x="5631716" y="4870704"/>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7" name="Text 25"/>
          <p:cNvSpPr txBox="1"/>
          <p:nvPr/>
        </p:nvSpPr>
        <p:spPr>
          <a:xfrm>
            <a:off x="6198644" y="4870704"/>
            <a:ext cx="1850476"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[TODO: point 3]</a:t>
            </a:r>
            <a:endParaRPr lang="en-US" sz="1600" dirty="0"/>
          </a:p>
        </p:txBody>
      </p:sp>
      <p:sp>
        <p:nvSpPr>
          <p:cNvPr id="28" name="Text 26"/>
          <p:cNvSpPr txBox="1"/>
          <p:nvPr/>
        </p:nvSpPr>
        <p:spPr>
          <a:xfrm>
            <a:off x="8268577" y="4870704"/>
            <a:ext cx="3145878"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[TODO]</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1850136"/>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06 · ABCOP AI PLAYBOOKS</a:t>
            </a:r>
            <a:endParaRPr lang="en-US" sz="1200" dirty="0"/>
          </a:p>
        </p:txBody>
      </p:sp>
      <p:sp>
        <p:nvSpPr>
          <p:cNvPr id="3" name="Text 1"/>
          <p:cNvSpPr txBox="1"/>
          <p:nvPr/>
        </p:nvSpPr>
        <p:spPr>
          <a:xfrm>
            <a:off x="777240" y="2133600"/>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karpathy.md</a:t>
            </a:r>
            <a:endParaRPr lang="en-US" sz="4000" dirty="0"/>
          </a:p>
        </p:txBody>
      </p:sp>
      <p:sp>
        <p:nvSpPr>
          <p:cNvPr id="4" name="Text 2"/>
          <p:cNvSpPr txBox="1"/>
          <p:nvPr/>
        </p:nvSpPr>
        <p:spPr>
          <a:xfrm>
            <a:off x="777240" y="3186176"/>
            <a:ext cx="8412480" cy="276352"/>
          </a:xfrm>
          <a:prstGeom prst="rect">
            <a:avLst/>
          </a:prstGeom>
          <a:noFill/>
          <a:ln/>
        </p:spPr>
        <p:txBody>
          <a:bodyPr wrap="square" lIns="0" tIns="0" rIns="0" bIns="0" rtlCol="0" anchor="t"/>
          <a:lstStyle/>
          <a:p>
            <a:pPr algn="l" indent="0" marL="0">
              <a:lnSpc>
                <a:spcPct val="128000"/>
              </a:lnSpc>
              <a:buNone/>
            </a:pPr>
            <a:r>
              <a:rPr lang="en-US" sz="1700" dirty="0">
                <a:solidFill>
                  <a:srgbClr val="6E675F"/>
                </a:solidFill>
                <a:latin typeface="Arial" pitchFamily="34" charset="0"/>
                <a:ea typeface="Arial" pitchFamily="34" charset="-122"/>
                <a:cs typeface="Arial" pitchFamily="34" charset="-120"/>
              </a:rPr>
              <a:t>[TODO: one-line description]</a:t>
            </a:r>
            <a:endParaRPr lang="en-US" sz="1700" dirty="0"/>
          </a:p>
        </p:txBody>
      </p:sp>
      <p:sp>
        <p:nvSpPr>
          <p:cNvPr id="5" name="Shape 3"/>
          <p:cNvSpPr/>
          <p:nvPr/>
        </p:nvSpPr>
        <p:spPr>
          <a:xfrm>
            <a:off x="777240" y="3700272"/>
            <a:ext cx="4543580" cy="806069"/>
          </a:xfrm>
          <a:prstGeom prst="roundRect">
            <a:avLst>
              <a:gd name="adj" fmla="val 10295"/>
            </a:avLst>
          </a:prstGeom>
          <a:solidFill>
            <a:srgbClr val="1A1714"/>
          </a:solidFill>
          <a:ln/>
        </p:spPr>
      </p:sp>
      <p:sp>
        <p:nvSpPr>
          <p:cNvPr id="6" name="Shape 4"/>
          <p:cNvSpPr/>
          <p:nvPr/>
        </p:nvSpPr>
        <p:spPr>
          <a:xfrm>
            <a:off x="777240" y="3700272"/>
            <a:ext cx="4543580" cy="274320"/>
          </a:xfrm>
          <a:prstGeom prst="roundRect">
            <a:avLst>
              <a:gd name="adj" fmla="val 88889"/>
            </a:avLst>
          </a:prstGeom>
          <a:solidFill>
            <a:srgbClr val="332E28"/>
          </a:solidFill>
          <a:ln/>
        </p:spPr>
      </p:sp>
      <p:sp>
        <p:nvSpPr>
          <p:cNvPr id="7" name="Shape 5"/>
          <p:cNvSpPr/>
          <p:nvPr/>
        </p:nvSpPr>
        <p:spPr>
          <a:xfrm>
            <a:off x="777240" y="3901440"/>
            <a:ext cx="4543580" cy="73152"/>
          </a:xfrm>
          <a:prstGeom prst="rect">
            <a:avLst/>
          </a:prstGeom>
          <a:solidFill>
            <a:srgbClr val="332E28"/>
          </a:solidFill>
          <a:ln/>
        </p:spPr>
      </p:sp>
      <p:sp>
        <p:nvSpPr>
          <p:cNvPr id="8" name="Shape 6"/>
          <p:cNvSpPr/>
          <p:nvPr/>
        </p:nvSpPr>
        <p:spPr>
          <a:xfrm>
            <a:off x="905256" y="3796284"/>
            <a:ext cx="82296" cy="82296"/>
          </a:xfrm>
          <a:prstGeom prst="ellipse">
            <a:avLst/>
          </a:prstGeom>
          <a:solidFill>
            <a:srgbClr val="E8938A"/>
          </a:solidFill>
          <a:ln/>
        </p:spPr>
      </p:sp>
      <p:sp>
        <p:nvSpPr>
          <p:cNvPr id="9" name="Shape 7"/>
          <p:cNvSpPr/>
          <p:nvPr/>
        </p:nvSpPr>
        <p:spPr>
          <a:xfrm>
            <a:off x="1051560" y="3796284"/>
            <a:ext cx="82296" cy="82296"/>
          </a:xfrm>
          <a:prstGeom prst="ellipse">
            <a:avLst/>
          </a:prstGeom>
          <a:solidFill>
            <a:srgbClr val="9C948A"/>
          </a:solidFill>
          <a:ln/>
        </p:spPr>
      </p:sp>
      <p:sp>
        <p:nvSpPr>
          <p:cNvPr id="10" name="Shape 8"/>
          <p:cNvSpPr/>
          <p:nvPr/>
        </p:nvSpPr>
        <p:spPr>
          <a:xfrm>
            <a:off x="1197864" y="3796284"/>
            <a:ext cx="82296" cy="82296"/>
          </a:xfrm>
          <a:prstGeom prst="ellipse">
            <a:avLst/>
          </a:prstGeom>
          <a:solidFill>
            <a:srgbClr val="8FCB9B"/>
          </a:solidFill>
          <a:ln/>
        </p:spPr>
      </p:sp>
      <p:sp>
        <p:nvSpPr>
          <p:cNvPr id="11" name="Text 9"/>
          <p:cNvSpPr txBox="1"/>
          <p:nvPr/>
        </p:nvSpPr>
        <p:spPr>
          <a:xfrm>
            <a:off x="1380744" y="3727704"/>
            <a:ext cx="3812060" cy="219456"/>
          </a:xfrm>
          <a:prstGeom prst="rect">
            <a:avLst/>
          </a:prstGeom>
          <a:noFill/>
          <a:ln/>
        </p:spPr>
        <p:txBody>
          <a:bodyPr wrap="square" lIns="0" tIns="0" rIns="0" bIns="0" rtlCol="0" anchor="ctr"/>
          <a:lstStyle/>
          <a:p>
            <a:pPr algn="l" indent="0" marL="0">
              <a:lnSpc>
                <a:spcPct val="128000"/>
              </a:lnSpc>
              <a:buNone/>
            </a:pPr>
            <a:r>
              <a:rPr lang="en-US" sz="900" dirty="0">
                <a:solidFill>
                  <a:srgbClr val="9C948A"/>
                </a:solidFill>
                <a:latin typeface="Courier New" pitchFamily="34" charset="0"/>
                <a:ea typeface="Courier New" pitchFamily="34" charset="-122"/>
                <a:cs typeface="Courier New" pitchFamily="34" charset="-120"/>
              </a:rPr>
              <a:t>.claude/rules/karpathy.md</a:t>
            </a:r>
            <a:endParaRPr lang="en-US" sz="900" dirty="0"/>
          </a:p>
        </p:txBody>
      </p:sp>
      <p:sp>
        <p:nvSpPr>
          <p:cNvPr id="12" name="Text 10"/>
          <p:cNvSpPr txBox="1"/>
          <p:nvPr/>
        </p:nvSpPr>
        <p:spPr>
          <a:xfrm>
            <a:off x="941832" y="4139184"/>
            <a:ext cx="4214396" cy="202565"/>
          </a:xfrm>
          <a:prstGeom prst="rect">
            <a:avLst/>
          </a:prstGeom>
          <a:noFill/>
          <a:ln/>
        </p:spPr>
        <p:txBody>
          <a:bodyPr wrap="none" lIns="0" tIns="0" rIns="0" bIns="0" rtlCol="0" anchor="t"/>
          <a:lstStyle/>
          <a:p>
            <a:pPr algn="l" indent="0" marL="0">
              <a:lnSpc>
                <a:spcPct val="128000"/>
              </a:lnSpc>
              <a:buNone/>
            </a:pPr>
            <a:r>
              <a:rPr lang="en-US" sz="1100" dirty="0">
                <a:solidFill>
                  <a:srgbClr val="8FCB9B"/>
                </a:solidFill>
                <a:latin typeface="Courier New" pitchFamily="34" charset="0"/>
                <a:ea typeface="Courier New" pitchFamily="34" charset="-122"/>
                <a:cs typeface="Courier New" pitchFamily="34" charset="-120"/>
              </a:rPr>
              <a:t>[TODO: excerpt from the rule]</a:t>
            </a:r>
            <a:endParaRPr lang="en-US" sz="1100" dirty="0"/>
          </a:p>
        </p:txBody>
      </p:sp>
      <p:sp>
        <p:nvSpPr>
          <p:cNvPr id="13" name="Shape 11"/>
          <p:cNvSpPr/>
          <p:nvPr/>
        </p:nvSpPr>
        <p:spPr>
          <a:xfrm>
            <a:off x="5631716" y="3700272"/>
            <a:ext cx="384048" cy="384048"/>
          </a:xfrm>
          <a:prstGeom prst="ellipse">
            <a:avLst/>
          </a:prstGeom>
          <a:solidFill>
            <a:srgbClr val="C96442"/>
          </a:solidFill>
          <a:ln/>
        </p:spPr>
      </p:sp>
      <p:sp>
        <p:nvSpPr>
          <p:cNvPr id="14" name="Text 12"/>
          <p:cNvSpPr txBox="1"/>
          <p:nvPr/>
        </p:nvSpPr>
        <p:spPr>
          <a:xfrm>
            <a:off x="5631716" y="3700272"/>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5" name="Text 13"/>
          <p:cNvSpPr txBox="1"/>
          <p:nvPr/>
        </p:nvSpPr>
        <p:spPr>
          <a:xfrm>
            <a:off x="6198644" y="3700272"/>
            <a:ext cx="1850476"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[TODO: point 1]</a:t>
            </a:r>
            <a:endParaRPr lang="en-US" sz="1600" dirty="0"/>
          </a:p>
        </p:txBody>
      </p:sp>
      <p:sp>
        <p:nvSpPr>
          <p:cNvPr id="16" name="Text 14"/>
          <p:cNvSpPr txBox="1"/>
          <p:nvPr/>
        </p:nvSpPr>
        <p:spPr>
          <a:xfrm>
            <a:off x="8268577" y="3700272"/>
            <a:ext cx="3145878"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[TODO]</a:t>
            </a:r>
            <a:endParaRPr lang="en-US" sz="1400" dirty="0"/>
          </a:p>
        </p:txBody>
      </p:sp>
      <p:sp>
        <p:nvSpPr>
          <p:cNvPr id="17" name="Shape 15"/>
          <p:cNvSpPr/>
          <p:nvPr/>
        </p:nvSpPr>
        <p:spPr>
          <a:xfrm>
            <a:off x="5631716" y="4184904"/>
            <a:ext cx="5782739" cy="12700"/>
          </a:xfrm>
          <a:prstGeom prst="rect">
            <a:avLst/>
          </a:prstGeom>
          <a:solidFill>
            <a:srgbClr val="E4DFD9"/>
          </a:solidFill>
          <a:ln/>
        </p:spPr>
      </p:sp>
      <p:sp>
        <p:nvSpPr>
          <p:cNvPr id="18" name="Shape 16"/>
          <p:cNvSpPr/>
          <p:nvPr/>
        </p:nvSpPr>
        <p:spPr>
          <a:xfrm>
            <a:off x="5631716" y="4285488"/>
            <a:ext cx="384048" cy="384048"/>
          </a:xfrm>
          <a:prstGeom prst="ellipse">
            <a:avLst/>
          </a:prstGeom>
          <a:solidFill>
            <a:srgbClr val="C96442"/>
          </a:solidFill>
          <a:ln/>
        </p:spPr>
      </p:sp>
      <p:sp>
        <p:nvSpPr>
          <p:cNvPr id="19" name="Text 17"/>
          <p:cNvSpPr txBox="1"/>
          <p:nvPr/>
        </p:nvSpPr>
        <p:spPr>
          <a:xfrm>
            <a:off x="5631716" y="4285488"/>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0" name="Text 18"/>
          <p:cNvSpPr txBox="1"/>
          <p:nvPr/>
        </p:nvSpPr>
        <p:spPr>
          <a:xfrm>
            <a:off x="6198644" y="4285488"/>
            <a:ext cx="1850476"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[TODO: point 2]</a:t>
            </a:r>
            <a:endParaRPr lang="en-US" sz="1600" dirty="0"/>
          </a:p>
        </p:txBody>
      </p:sp>
      <p:sp>
        <p:nvSpPr>
          <p:cNvPr id="21" name="Text 19"/>
          <p:cNvSpPr txBox="1"/>
          <p:nvPr/>
        </p:nvSpPr>
        <p:spPr>
          <a:xfrm>
            <a:off x="8268577" y="4285488"/>
            <a:ext cx="3145878"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[TODO]</a:t>
            </a:r>
            <a:endParaRPr lang="en-US" sz="1400" dirty="0"/>
          </a:p>
        </p:txBody>
      </p:sp>
      <p:sp>
        <p:nvSpPr>
          <p:cNvPr id="22" name="Shape 20"/>
          <p:cNvSpPr/>
          <p:nvPr/>
        </p:nvSpPr>
        <p:spPr>
          <a:xfrm>
            <a:off x="5631716" y="4770120"/>
            <a:ext cx="5782739" cy="12700"/>
          </a:xfrm>
          <a:prstGeom prst="rect">
            <a:avLst/>
          </a:prstGeom>
          <a:solidFill>
            <a:srgbClr val="E4DFD9"/>
          </a:solidFill>
          <a:ln/>
        </p:spPr>
      </p:sp>
      <p:sp>
        <p:nvSpPr>
          <p:cNvPr id="23" name="Shape 21"/>
          <p:cNvSpPr/>
          <p:nvPr/>
        </p:nvSpPr>
        <p:spPr>
          <a:xfrm>
            <a:off x="5631716" y="4870704"/>
            <a:ext cx="384048" cy="384048"/>
          </a:xfrm>
          <a:prstGeom prst="ellipse">
            <a:avLst/>
          </a:prstGeom>
          <a:solidFill>
            <a:srgbClr val="C96442"/>
          </a:solidFill>
          <a:ln/>
        </p:spPr>
      </p:sp>
      <p:sp>
        <p:nvSpPr>
          <p:cNvPr id="24" name="Text 22"/>
          <p:cNvSpPr txBox="1"/>
          <p:nvPr/>
        </p:nvSpPr>
        <p:spPr>
          <a:xfrm>
            <a:off x="5631716" y="4870704"/>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5" name="Text 23"/>
          <p:cNvSpPr txBox="1"/>
          <p:nvPr/>
        </p:nvSpPr>
        <p:spPr>
          <a:xfrm>
            <a:off x="6198644" y="4870704"/>
            <a:ext cx="1850476"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[TODO: point 3]</a:t>
            </a:r>
            <a:endParaRPr lang="en-US" sz="1600" dirty="0"/>
          </a:p>
        </p:txBody>
      </p:sp>
      <p:sp>
        <p:nvSpPr>
          <p:cNvPr id="26" name="Text 24"/>
          <p:cNvSpPr txBox="1"/>
          <p:nvPr/>
        </p:nvSpPr>
        <p:spPr>
          <a:xfrm>
            <a:off x="8268577" y="4870704"/>
            <a:ext cx="3145878"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[TODO]</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1850136"/>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06 · ABCOP AI PLAYBOOKS</a:t>
            </a:r>
            <a:endParaRPr lang="en-US" sz="1200" dirty="0"/>
          </a:p>
        </p:txBody>
      </p:sp>
      <p:sp>
        <p:nvSpPr>
          <p:cNvPr id="3" name="Text 1"/>
          <p:cNvSpPr txBox="1"/>
          <p:nvPr/>
        </p:nvSpPr>
        <p:spPr>
          <a:xfrm>
            <a:off x="777240" y="2133600"/>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session-review</a:t>
            </a:r>
            <a:endParaRPr lang="en-US" sz="4000" dirty="0"/>
          </a:p>
        </p:txBody>
      </p:sp>
      <p:sp>
        <p:nvSpPr>
          <p:cNvPr id="4" name="Text 2"/>
          <p:cNvSpPr txBox="1"/>
          <p:nvPr/>
        </p:nvSpPr>
        <p:spPr>
          <a:xfrm>
            <a:off x="777240" y="3186176"/>
            <a:ext cx="8412480" cy="276352"/>
          </a:xfrm>
          <a:prstGeom prst="rect">
            <a:avLst/>
          </a:prstGeom>
          <a:noFill/>
          <a:ln/>
        </p:spPr>
        <p:txBody>
          <a:bodyPr wrap="square" lIns="0" tIns="0" rIns="0" bIns="0" rtlCol="0" anchor="t"/>
          <a:lstStyle/>
          <a:p>
            <a:pPr algn="l" indent="0" marL="0">
              <a:lnSpc>
                <a:spcPct val="128000"/>
              </a:lnSpc>
              <a:buNone/>
            </a:pPr>
            <a:r>
              <a:rPr lang="en-US" sz="1700" dirty="0">
                <a:solidFill>
                  <a:srgbClr val="6E675F"/>
                </a:solidFill>
                <a:latin typeface="Arial" pitchFamily="34" charset="0"/>
                <a:ea typeface="Arial" pitchFamily="34" charset="-122"/>
                <a:cs typeface="Arial" pitchFamily="34" charset="-120"/>
              </a:rPr>
              <a:t>[TODO: one-line description]</a:t>
            </a:r>
            <a:endParaRPr lang="en-US" sz="1700" dirty="0"/>
          </a:p>
        </p:txBody>
      </p:sp>
      <p:sp>
        <p:nvSpPr>
          <p:cNvPr id="5" name="Shape 3"/>
          <p:cNvSpPr/>
          <p:nvPr/>
        </p:nvSpPr>
        <p:spPr>
          <a:xfrm>
            <a:off x="777240" y="3700272"/>
            <a:ext cx="4543580" cy="1266444"/>
          </a:xfrm>
          <a:prstGeom prst="roundRect">
            <a:avLst>
              <a:gd name="adj" fmla="val 4171"/>
            </a:avLst>
          </a:prstGeom>
          <a:solidFill>
            <a:srgbClr val="1A1714"/>
          </a:solidFill>
          <a:ln/>
        </p:spPr>
      </p:sp>
      <p:sp>
        <p:nvSpPr>
          <p:cNvPr id="6" name="Shape 4"/>
          <p:cNvSpPr/>
          <p:nvPr/>
        </p:nvSpPr>
        <p:spPr>
          <a:xfrm>
            <a:off x="777240" y="3700272"/>
            <a:ext cx="4543580" cy="274320"/>
          </a:xfrm>
          <a:prstGeom prst="roundRect">
            <a:avLst>
              <a:gd name="adj" fmla="val 88889"/>
            </a:avLst>
          </a:prstGeom>
          <a:solidFill>
            <a:srgbClr val="332E28"/>
          </a:solidFill>
          <a:ln/>
        </p:spPr>
      </p:sp>
      <p:sp>
        <p:nvSpPr>
          <p:cNvPr id="7" name="Shape 5"/>
          <p:cNvSpPr/>
          <p:nvPr/>
        </p:nvSpPr>
        <p:spPr>
          <a:xfrm>
            <a:off x="777240" y="3901440"/>
            <a:ext cx="4543580" cy="73152"/>
          </a:xfrm>
          <a:prstGeom prst="rect">
            <a:avLst/>
          </a:prstGeom>
          <a:solidFill>
            <a:srgbClr val="332E28"/>
          </a:solidFill>
          <a:ln/>
        </p:spPr>
      </p:sp>
      <p:sp>
        <p:nvSpPr>
          <p:cNvPr id="8" name="Shape 6"/>
          <p:cNvSpPr/>
          <p:nvPr/>
        </p:nvSpPr>
        <p:spPr>
          <a:xfrm>
            <a:off x="905256" y="3796284"/>
            <a:ext cx="82296" cy="82296"/>
          </a:xfrm>
          <a:prstGeom prst="ellipse">
            <a:avLst/>
          </a:prstGeom>
          <a:solidFill>
            <a:srgbClr val="E8938A"/>
          </a:solidFill>
          <a:ln/>
        </p:spPr>
      </p:sp>
      <p:sp>
        <p:nvSpPr>
          <p:cNvPr id="9" name="Shape 7"/>
          <p:cNvSpPr/>
          <p:nvPr/>
        </p:nvSpPr>
        <p:spPr>
          <a:xfrm>
            <a:off x="1051560" y="3796284"/>
            <a:ext cx="82296" cy="82296"/>
          </a:xfrm>
          <a:prstGeom prst="ellipse">
            <a:avLst/>
          </a:prstGeom>
          <a:solidFill>
            <a:srgbClr val="9C948A"/>
          </a:solidFill>
          <a:ln/>
        </p:spPr>
      </p:sp>
      <p:sp>
        <p:nvSpPr>
          <p:cNvPr id="10" name="Shape 8"/>
          <p:cNvSpPr/>
          <p:nvPr/>
        </p:nvSpPr>
        <p:spPr>
          <a:xfrm>
            <a:off x="1197864" y="3796284"/>
            <a:ext cx="82296" cy="82296"/>
          </a:xfrm>
          <a:prstGeom prst="ellipse">
            <a:avLst/>
          </a:prstGeom>
          <a:solidFill>
            <a:srgbClr val="8FCB9B"/>
          </a:solidFill>
          <a:ln/>
        </p:spPr>
      </p:sp>
      <p:sp>
        <p:nvSpPr>
          <p:cNvPr id="11" name="Text 9"/>
          <p:cNvSpPr txBox="1"/>
          <p:nvPr/>
        </p:nvSpPr>
        <p:spPr>
          <a:xfrm>
            <a:off x="1380744" y="3727704"/>
            <a:ext cx="3812060" cy="219456"/>
          </a:xfrm>
          <a:prstGeom prst="rect">
            <a:avLst/>
          </a:prstGeom>
          <a:noFill/>
          <a:ln/>
        </p:spPr>
        <p:txBody>
          <a:bodyPr wrap="square" lIns="0" tIns="0" rIns="0" bIns="0" rtlCol="0" anchor="ctr"/>
          <a:lstStyle/>
          <a:p>
            <a:pPr algn="l" indent="0" marL="0">
              <a:lnSpc>
                <a:spcPct val="128000"/>
              </a:lnSpc>
              <a:buNone/>
            </a:pPr>
            <a:r>
              <a:rPr lang="en-US" sz="1000" dirty="0">
                <a:solidFill>
                  <a:srgbClr val="9C948A"/>
                </a:solidFill>
                <a:latin typeface="Courier New" pitchFamily="34" charset="0"/>
                <a:ea typeface="Courier New" pitchFamily="34" charset="-122"/>
                <a:cs typeface="Courier New" pitchFamily="34" charset="-120"/>
              </a:rPr>
              <a:t>session-review</a:t>
            </a:r>
            <a:endParaRPr lang="en-US" sz="1000" dirty="0"/>
          </a:p>
        </p:txBody>
      </p:sp>
      <p:sp>
        <p:nvSpPr>
          <p:cNvPr id="12" name="Text 10"/>
          <p:cNvSpPr txBox="1"/>
          <p:nvPr/>
        </p:nvSpPr>
        <p:spPr>
          <a:xfrm>
            <a:off x="941832" y="4139184"/>
            <a:ext cx="4214396" cy="220980"/>
          </a:xfrm>
          <a:prstGeom prst="rect">
            <a:avLst/>
          </a:prstGeom>
          <a:noFill/>
          <a:ln/>
        </p:spPr>
        <p:txBody>
          <a:bodyPr wrap="none" lIns="0" tIns="0" rIns="0" bIns="0" rtlCol="0" anchor="t"/>
          <a:lstStyle/>
          <a:p>
            <a:pPr algn="l" indent="0" marL="0">
              <a:lnSpc>
                <a:spcPct val="128000"/>
              </a:lnSpc>
              <a:buNone/>
            </a:pPr>
            <a:r>
              <a:rPr lang="en-US" sz="1200" dirty="0">
                <a:solidFill>
                  <a:srgbClr val="8FCB9B"/>
                </a:solidFill>
                <a:latin typeface="Courier New" pitchFamily="34" charset="0"/>
                <a:ea typeface="Courier New" pitchFamily="34" charset="-122"/>
                <a:cs typeface="Courier New" pitchFamily="34" charset="-120"/>
              </a:rPr>
              <a:t>[TODO: example invocation]</a:t>
            </a:r>
            <a:endParaRPr lang="en-US" sz="1200" dirty="0"/>
          </a:p>
        </p:txBody>
      </p:sp>
      <p:sp>
        <p:nvSpPr>
          <p:cNvPr id="13" name="Text 11"/>
          <p:cNvSpPr txBox="1"/>
          <p:nvPr/>
        </p:nvSpPr>
        <p:spPr>
          <a:xfrm>
            <a:off x="941832" y="4360164"/>
            <a:ext cx="4214396" cy="220980"/>
          </a:xfrm>
          <a:prstGeom prst="rect">
            <a:avLst/>
          </a:prstGeom>
          <a:noFill/>
          <a:ln/>
        </p:spPr>
        <p:txBody>
          <a:bodyPr wrap="none" lIns="0" tIns="0" rIns="0" bIns="0" rtlCol="0" anchor="t"/>
          <a:lstStyle/>
          <a:p>
            <a:pPr algn="l" indent="0" marL="0">
              <a:lnSpc>
                <a:spcPct val="128000"/>
              </a:lnSpc>
              <a:buNone/>
            </a:pPr>
            <a:endParaRPr lang="en-US" sz="1200" dirty="0"/>
          </a:p>
        </p:txBody>
      </p:sp>
      <p:sp>
        <p:nvSpPr>
          <p:cNvPr id="14" name="Text 12"/>
          <p:cNvSpPr txBox="1"/>
          <p:nvPr/>
        </p:nvSpPr>
        <p:spPr>
          <a:xfrm>
            <a:off x="941832" y="4581144"/>
            <a:ext cx="4214396" cy="220980"/>
          </a:xfrm>
          <a:prstGeom prst="rect">
            <a:avLst/>
          </a:prstGeom>
          <a:noFill/>
          <a:ln/>
        </p:spPr>
        <p:txBody>
          <a:bodyPr wrap="none" lIns="0" tIns="0" rIns="0" bIns="0" rtlCol="0" anchor="t"/>
          <a:lstStyle/>
          <a:p>
            <a:pPr algn="l" indent="0" marL="0">
              <a:lnSpc>
                <a:spcPct val="128000"/>
              </a:lnSpc>
              <a:buNone/>
            </a:pPr>
            <a:r>
              <a:rPr lang="en-US" sz="1200" dirty="0">
                <a:solidFill>
                  <a:srgbClr val="9C948A"/>
                </a:solidFill>
                <a:latin typeface="Courier New" pitchFamily="34" charset="0"/>
                <a:ea typeface="Courier New" pitchFamily="34" charset="-122"/>
                <a:cs typeface="Courier New" pitchFamily="34" charset="-120"/>
              </a:rPr>
              <a:t>&gt; [TODO: what it reports]</a:t>
            </a:r>
            <a:endParaRPr lang="en-US" sz="1200" dirty="0"/>
          </a:p>
        </p:txBody>
      </p:sp>
      <p:sp>
        <p:nvSpPr>
          <p:cNvPr id="15" name="Shape 13"/>
          <p:cNvSpPr/>
          <p:nvPr/>
        </p:nvSpPr>
        <p:spPr>
          <a:xfrm>
            <a:off x="5631716" y="3700272"/>
            <a:ext cx="384048" cy="384048"/>
          </a:xfrm>
          <a:prstGeom prst="ellipse">
            <a:avLst/>
          </a:prstGeom>
          <a:solidFill>
            <a:srgbClr val="C96442"/>
          </a:solidFill>
          <a:ln/>
        </p:spPr>
      </p:sp>
      <p:sp>
        <p:nvSpPr>
          <p:cNvPr id="16" name="Text 14"/>
          <p:cNvSpPr txBox="1"/>
          <p:nvPr/>
        </p:nvSpPr>
        <p:spPr>
          <a:xfrm>
            <a:off x="5631716" y="3700272"/>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7" name="Text 15"/>
          <p:cNvSpPr txBox="1"/>
          <p:nvPr/>
        </p:nvSpPr>
        <p:spPr>
          <a:xfrm>
            <a:off x="6198644" y="3700272"/>
            <a:ext cx="1850476"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[TODO: point 1]</a:t>
            </a:r>
            <a:endParaRPr lang="en-US" sz="1600" dirty="0"/>
          </a:p>
        </p:txBody>
      </p:sp>
      <p:sp>
        <p:nvSpPr>
          <p:cNvPr id="18" name="Text 16"/>
          <p:cNvSpPr txBox="1"/>
          <p:nvPr/>
        </p:nvSpPr>
        <p:spPr>
          <a:xfrm>
            <a:off x="8268577" y="3700272"/>
            <a:ext cx="3145878"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[TODO]</a:t>
            </a:r>
            <a:endParaRPr lang="en-US" sz="1400" dirty="0"/>
          </a:p>
        </p:txBody>
      </p:sp>
      <p:sp>
        <p:nvSpPr>
          <p:cNvPr id="19" name="Shape 17"/>
          <p:cNvSpPr/>
          <p:nvPr/>
        </p:nvSpPr>
        <p:spPr>
          <a:xfrm>
            <a:off x="5631716" y="4184904"/>
            <a:ext cx="5782739" cy="12700"/>
          </a:xfrm>
          <a:prstGeom prst="rect">
            <a:avLst/>
          </a:prstGeom>
          <a:solidFill>
            <a:srgbClr val="E4DFD9"/>
          </a:solidFill>
          <a:ln/>
        </p:spPr>
      </p:sp>
      <p:sp>
        <p:nvSpPr>
          <p:cNvPr id="20" name="Shape 18"/>
          <p:cNvSpPr/>
          <p:nvPr/>
        </p:nvSpPr>
        <p:spPr>
          <a:xfrm>
            <a:off x="5631716" y="4285488"/>
            <a:ext cx="384048" cy="384048"/>
          </a:xfrm>
          <a:prstGeom prst="ellipse">
            <a:avLst/>
          </a:prstGeom>
          <a:solidFill>
            <a:srgbClr val="C96442"/>
          </a:solidFill>
          <a:ln/>
        </p:spPr>
      </p:sp>
      <p:sp>
        <p:nvSpPr>
          <p:cNvPr id="21" name="Text 19"/>
          <p:cNvSpPr txBox="1"/>
          <p:nvPr/>
        </p:nvSpPr>
        <p:spPr>
          <a:xfrm>
            <a:off x="5631716" y="4285488"/>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2" name="Text 20"/>
          <p:cNvSpPr txBox="1"/>
          <p:nvPr/>
        </p:nvSpPr>
        <p:spPr>
          <a:xfrm>
            <a:off x="6198644" y="4285488"/>
            <a:ext cx="1850476"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[TODO: point 2]</a:t>
            </a:r>
            <a:endParaRPr lang="en-US" sz="1600" dirty="0"/>
          </a:p>
        </p:txBody>
      </p:sp>
      <p:sp>
        <p:nvSpPr>
          <p:cNvPr id="23" name="Text 21"/>
          <p:cNvSpPr txBox="1"/>
          <p:nvPr/>
        </p:nvSpPr>
        <p:spPr>
          <a:xfrm>
            <a:off x="8268577" y="4285488"/>
            <a:ext cx="3145878"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[TODO]</a:t>
            </a:r>
            <a:endParaRPr lang="en-US" sz="1400" dirty="0"/>
          </a:p>
        </p:txBody>
      </p:sp>
      <p:sp>
        <p:nvSpPr>
          <p:cNvPr id="24" name="Shape 22"/>
          <p:cNvSpPr/>
          <p:nvPr/>
        </p:nvSpPr>
        <p:spPr>
          <a:xfrm>
            <a:off x="5631716" y="4770120"/>
            <a:ext cx="5782739" cy="12700"/>
          </a:xfrm>
          <a:prstGeom prst="rect">
            <a:avLst/>
          </a:prstGeom>
          <a:solidFill>
            <a:srgbClr val="E4DFD9"/>
          </a:solidFill>
          <a:ln/>
        </p:spPr>
      </p:sp>
      <p:sp>
        <p:nvSpPr>
          <p:cNvPr id="25" name="Shape 23"/>
          <p:cNvSpPr/>
          <p:nvPr/>
        </p:nvSpPr>
        <p:spPr>
          <a:xfrm>
            <a:off x="5631716" y="4870704"/>
            <a:ext cx="384048" cy="384048"/>
          </a:xfrm>
          <a:prstGeom prst="ellipse">
            <a:avLst/>
          </a:prstGeom>
          <a:solidFill>
            <a:srgbClr val="C96442"/>
          </a:solidFill>
          <a:ln/>
        </p:spPr>
      </p:sp>
      <p:sp>
        <p:nvSpPr>
          <p:cNvPr id="26" name="Text 24"/>
          <p:cNvSpPr txBox="1"/>
          <p:nvPr/>
        </p:nvSpPr>
        <p:spPr>
          <a:xfrm>
            <a:off x="5631716" y="4870704"/>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7" name="Text 25"/>
          <p:cNvSpPr txBox="1"/>
          <p:nvPr/>
        </p:nvSpPr>
        <p:spPr>
          <a:xfrm>
            <a:off x="6198644" y="4870704"/>
            <a:ext cx="1850476"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[TODO: point 3]</a:t>
            </a:r>
            <a:endParaRPr lang="en-US" sz="1600" dirty="0"/>
          </a:p>
        </p:txBody>
      </p:sp>
      <p:sp>
        <p:nvSpPr>
          <p:cNvPr id="28" name="Text 26"/>
          <p:cNvSpPr txBox="1"/>
          <p:nvPr/>
        </p:nvSpPr>
        <p:spPr>
          <a:xfrm>
            <a:off x="8268577" y="4870704"/>
            <a:ext cx="3145878"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[TODO]</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1819212"/>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06 · ABCOP AI PLAYBOOKS</a:t>
            </a:r>
            <a:endParaRPr lang="en-US" sz="1200" dirty="0"/>
          </a:p>
        </p:txBody>
      </p:sp>
      <p:sp>
        <p:nvSpPr>
          <p:cNvPr id="3" name="Text 1"/>
          <p:cNvSpPr txBox="1"/>
          <p:nvPr/>
        </p:nvSpPr>
        <p:spPr>
          <a:xfrm>
            <a:off x="777240" y="2102676"/>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typescript-general</a:t>
            </a:r>
            <a:endParaRPr lang="en-US" sz="4000" dirty="0"/>
          </a:p>
        </p:txBody>
      </p:sp>
      <p:sp>
        <p:nvSpPr>
          <p:cNvPr id="4" name="Text 2"/>
          <p:cNvSpPr txBox="1"/>
          <p:nvPr/>
        </p:nvSpPr>
        <p:spPr>
          <a:xfrm>
            <a:off x="777240" y="3155252"/>
            <a:ext cx="8412480" cy="276352"/>
          </a:xfrm>
          <a:prstGeom prst="rect">
            <a:avLst/>
          </a:prstGeom>
          <a:noFill/>
          <a:ln/>
        </p:spPr>
        <p:txBody>
          <a:bodyPr wrap="square" lIns="0" tIns="0" rIns="0" bIns="0" rtlCol="0" anchor="t"/>
          <a:lstStyle/>
          <a:p>
            <a:pPr algn="l" indent="0" marL="0">
              <a:lnSpc>
                <a:spcPct val="128000"/>
              </a:lnSpc>
              <a:buNone/>
            </a:pPr>
            <a:r>
              <a:rPr lang="en-US" sz="1700" dirty="0">
                <a:solidFill>
                  <a:srgbClr val="6E675F"/>
                </a:solidFill>
                <a:latin typeface="Arial" pitchFamily="34" charset="0"/>
                <a:ea typeface="Arial" pitchFamily="34" charset="-122"/>
                <a:cs typeface="Arial" pitchFamily="34" charset="-120"/>
              </a:rPr>
              <a:t>[TODO: one-line description]</a:t>
            </a:r>
            <a:endParaRPr lang="en-US" sz="1700" dirty="0"/>
          </a:p>
        </p:txBody>
      </p:sp>
      <p:sp>
        <p:nvSpPr>
          <p:cNvPr id="5" name="Shape 3"/>
          <p:cNvSpPr/>
          <p:nvPr/>
        </p:nvSpPr>
        <p:spPr>
          <a:xfrm>
            <a:off x="777240" y="3669347"/>
            <a:ext cx="4543580" cy="1616329"/>
          </a:xfrm>
          <a:prstGeom prst="roundRect">
            <a:avLst>
              <a:gd name="adj" fmla="val 2560"/>
            </a:avLst>
          </a:prstGeom>
          <a:solidFill>
            <a:srgbClr val="1A1714"/>
          </a:solidFill>
          <a:ln/>
        </p:spPr>
      </p:sp>
      <p:sp>
        <p:nvSpPr>
          <p:cNvPr id="6" name="Shape 4"/>
          <p:cNvSpPr/>
          <p:nvPr/>
        </p:nvSpPr>
        <p:spPr>
          <a:xfrm>
            <a:off x="777240" y="3669347"/>
            <a:ext cx="4543580" cy="274320"/>
          </a:xfrm>
          <a:prstGeom prst="roundRect">
            <a:avLst>
              <a:gd name="adj" fmla="val 88889"/>
            </a:avLst>
          </a:prstGeom>
          <a:solidFill>
            <a:srgbClr val="332E28"/>
          </a:solidFill>
          <a:ln/>
        </p:spPr>
      </p:sp>
      <p:sp>
        <p:nvSpPr>
          <p:cNvPr id="7" name="Shape 5"/>
          <p:cNvSpPr/>
          <p:nvPr/>
        </p:nvSpPr>
        <p:spPr>
          <a:xfrm>
            <a:off x="777240" y="3870516"/>
            <a:ext cx="4543580" cy="73152"/>
          </a:xfrm>
          <a:prstGeom prst="rect">
            <a:avLst/>
          </a:prstGeom>
          <a:solidFill>
            <a:srgbClr val="332E28"/>
          </a:solidFill>
          <a:ln/>
        </p:spPr>
      </p:sp>
      <p:sp>
        <p:nvSpPr>
          <p:cNvPr id="8" name="Shape 6"/>
          <p:cNvSpPr/>
          <p:nvPr/>
        </p:nvSpPr>
        <p:spPr>
          <a:xfrm>
            <a:off x="905256" y="3765360"/>
            <a:ext cx="82296" cy="82296"/>
          </a:xfrm>
          <a:prstGeom prst="ellipse">
            <a:avLst/>
          </a:prstGeom>
          <a:solidFill>
            <a:srgbClr val="E8938A"/>
          </a:solidFill>
          <a:ln/>
        </p:spPr>
      </p:sp>
      <p:sp>
        <p:nvSpPr>
          <p:cNvPr id="9" name="Shape 7"/>
          <p:cNvSpPr/>
          <p:nvPr/>
        </p:nvSpPr>
        <p:spPr>
          <a:xfrm>
            <a:off x="1051560" y="3765360"/>
            <a:ext cx="82296" cy="82296"/>
          </a:xfrm>
          <a:prstGeom prst="ellipse">
            <a:avLst/>
          </a:prstGeom>
          <a:solidFill>
            <a:srgbClr val="9C948A"/>
          </a:solidFill>
          <a:ln/>
        </p:spPr>
      </p:sp>
      <p:sp>
        <p:nvSpPr>
          <p:cNvPr id="10" name="Shape 8"/>
          <p:cNvSpPr/>
          <p:nvPr/>
        </p:nvSpPr>
        <p:spPr>
          <a:xfrm>
            <a:off x="1197864" y="3765360"/>
            <a:ext cx="82296" cy="82296"/>
          </a:xfrm>
          <a:prstGeom prst="ellipse">
            <a:avLst/>
          </a:prstGeom>
          <a:solidFill>
            <a:srgbClr val="8FCB9B"/>
          </a:solidFill>
          <a:ln/>
        </p:spPr>
      </p:sp>
      <p:sp>
        <p:nvSpPr>
          <p:cNvPr id="11" name="Text 9"/>
          <p:cNvSpPr txBox="1"/>
          <p:nvPr/>
        </p:nvSpPr>
        <p:spPr>
          <a:xfrm>
            <a:off x="1380744" y="3696780"/>
            <a:ext cx="3812060" cy="219456"/>
          </a:xfrm>
          <a:prstGeom prst="rect">
            <a:avLst/>
          </a:prstGeom>
          <a:noFill/>
          <a:ln/>
        </p:spPr>
        <p:txBody>
          <a:bodyPr wrap="square" lIns="0" tIns="0" rIns="0" bIns="0" rtlCol="0" anchor="ctr"/>
          <a:lstStyle/>
          <a:p>
            <a:pPr algn="l" indent="0" marL="0">
              <a:lnSpc>
                <a:spcPct val="128000"/>
              </a:lnSpc>
              <a:buNone/>
            </a:pPr>
            <a:r>
              <a:rPr lang="en-US" sz="900" dirty="0">
                <a:solidFill>
                  <a:srgbClr val="9C948A"/>
                </a:solidFill>
                <a:latin typeface="Courier New" pitchFamily="34" charset="0"/>
                <a:ea typeface="Courier New" pitchFamily="34" charset="-122"/>
                <a:cs typeface="Courier New" pitchFamily="34" charset="-120"/>
              </a:rPr>
              <a:t>.claude/rules/typescript-general.md</a:t>
            </a:r>
            <a:endParaRPr lang="en-US" sz="900" dirty="0"/>
          </a:p>
        </p:txBody>
      </p:sp>
      <p:sp>
        <p:nvSpPr>
          <p:cNvPr id="12" name="Text 10"/>
          <p:cNvSpPr txBox="1"/>
          <p:nvPr/>
        </p:nvSpPr>
        <p:spPr>
          <a:xfrm>
            <a:off x="941832" y="4108260"/>
            <a:ext cx="4214396" cy="202565"/>
          </a:xfrm>
          <a:prstGeom prst="rect">
            <a:avLst/>
          </a:prstGeom>
          <a:noFill/>
          <a:ln/>
        </p:spPr>
        <p:txBody>
          <a:bodyPr wrap="none" lIns="0" tIns="0" rIns="0" bIns="0" rtlCol="0" anchor="t"/>
          <a:lstStyle/>
          <a:p>
            <a:pPr algn="l" indent="0" marL="0">
              <a:lnSpc>
                <a:spcPct val="128000"/>
              </a:lnSpc>
              <a:buNone/>
            </a:pPr>
            <a:r>
              <a:rPr lang="en-US" sz="1100" dirty="0">
                <a:solidFill>
                  <a:srgbClr val="9C948A"/>
                </a:solidFill>
                <a:latin typeface="Courier New" pitchFamily="34" charset="0"/>
                <a:ea typeface="Courier New" pitchFamily="34" charset="-122"/>
                <a:cs typeface="Courier New" pitchFamily="34" charset="-120"/>
              </a:rPr>
              <a:t>---</a:t>
            </a:r>
            <a:endParaRPr lang="en-US" sz="1100" dirty="0"/>
          </a:p>
        </p:txBody>
      </p:sp>
      <p:sp>
        <p:nvSpPr>
          <p:cNvPr id="13" name="Text 11"/>
          <p:cNvSpPr txBox="1"/>
          <p:nvPr/>
        </p:nvSpPr>
        <p:spPr>
          <a:xfrm>
            <a:off x="941832" y="4310825"/>
            <a:ext cx="4214396" cy="202565"/>
          </a:xfrm>
          <a:prstGeom prst="rect">
            <a:avLst/>
          </a:prstGeom>
          <a:noFill/>
          <a:ln/>
        </p:spPr>
        <p:txBody>
          <a:bodyPr wrap="none" lIns="0" tIns="0" rIns="0" bIns="0" rtlCol="0" anchor="t"/>
          <a:lstStyle/>
          <a:p>
            <a:pPr algn="l" indent="0" marL="0">
              <a:lnSpc>
                <a:spcPct val="128000"/>
              </a:lnSpc>
              <a:buNone/>
            </a:pPr>
            <a:r>
              <a:rPr lang="en-US" sz="1100" dirty="0">
                <a:solidFill>
                  <a:srgbClr val="8FCB9B"/>
                </a:solidFill>
                <a:latin typeface="Courier New" pitchFamily="34" charset="0"/>
                <a:ea typeface="Courier New" pitchFamily="34" charset="-122"/>
                <a:cs typeface="Courier New" pitchFamily="34" charset="-120"/>
              </a:rPr>
              <a:t>paths: ["[TODO]"]</a:t>
            </a:r>
            <a:endParaRPr lang="en-US" sz="1100" dirty="0"/>
          </a:p>
        </p:txBody>
      </p:sp>
      <p:sp>
        <p:nvSpPr>
          <p:cNvPr id="14" name="Text 12"/>
          <p:cNvSpPr txBox="1"/>
          <p:nvPr/>
        </p:nvSpPr>
        <p:spPr>
          <a:xfrm>
            <a:off x="941832" y="4513390"/>
            <a:ext cx="4214396" cy="202565"/>
          </a:xfrm>
          <a:prstGeom prst="rect">
            <a:avLst/>
          </a:prstGeom>
          <a:noFill/>
          <a:ln/>
        </p:spPr>
        <p:txBody>
          <a:bodyPr wrap="none" lIns="0" tIns="0" rIns="0" bIns="0" rtlCol="0" anchor="t"/>
          <a:lstStyle/>
          <a:p>
            <a:pPr algn="l" indent="0" marL="0">
              <a:lnSpc>
                <a:spcPct val="128000"/>
              </a:lnSpc>
              <a:buNone/>
            </a:pPr>
            <a:r>
              <a:rPr lang="en-US" sz="1100" dirty="0">
                <a:solidFill>
                  <a:srgbClr val="9C948A"/>
                </a:solidFill>
                <a:latin typeface="Courier New" pitchFamily="34" charset="0"/>
                <a:ea typeface="Courier New" pitchFamily="34" charset="-122"/>
                <a:cs typeface="Courier New" pitchFamily="34" charset="-120"/>
              </a:rPr>
              <a:t>---</a:t>
            </a:r>
            <a:endParaRPr lang="en-US" sz="1100" dirty="0"/>
          </a:p>
        </p:txBody>
      </p:sp>
      <p:sp>
        <p:nvSpPr>
          <p:cNvPr id="15" name="Text 13"/>
          <p:cNvSpPr txBox="1"/>
          <p:nvPr/>
        </p:nvSpPr>
        <p:spPr>
          <a:xfrm>
            <a:off x="941832" y="4715955"/>
            <a:ext cx="4214396" cy="202565"/>
          </a:xfrm>
          <a:prstGeom prst="rect">
            <a:avLst/>
          </a:prstGeom>
          <a:noFill/>
          <a:ln/>
        </p:spPr>
        <p:txBody>
          <a:bodyPr wrap="none" lIns="0" tIns="0" rIns="0" bIns="0" rtlCol="0" anchor="t"/>
          <a:lstStyle/>
          <a:p>
            <a:pPr algn="l" indent="0" marL="0">
              <a:lnSpc>
                <a:spcPct val="128000"/>
              </a:lnSpc>
              <a:buNone/>
            </a:pPr>
            <a:endParaRPr lang="en-US" sz="1100" dirty="0"/>
          </a:p>
        </p:txBody>
      </p:sp>
      <p:sp>
        <p:nvSpPr>
          <p:cNvPr id="16" name="Text 14"/>
          <p:cNvSpPr txBox="1"/>
          <p:nvPr/>
        </p:nvSpPr>
        <p:spPr>
          <a:xfrm>
            <a:off x="941832" y="4918520"/>
            <a:ext cx="4214396"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 [TODO: convention]</a:t>
            </a:r>
            <a:endParaRPr lang="en-US" sz="1100" dirty="0"/>
          </a:p>
        </p:txBody>
      </p:sp>
      <p:sp>
        <p:nvSpPr>
          <p:cNvPr id="17" name="Shape 15"/>
          <p:cNvSpPr/>
          <p:nvPr/>
        </p:nvSpPr>
        <p:spPr>
          <a:xfrm>
            <a:off x="5631716" y="3669347"/>
            <a:ext cx="384048" cy="384048"/>
          </a:xfrm>
          <a:prstGeom prst="ellipse">
            <a:avLst/>
          </a:prstGeom>
          <a:solidFill>
            <a:srgbClr val="C96442"/>
          </a:solidFill>
          <a:ln/>
        </p:spPr>
      </p:sp>
      <p:sp>
        <p:nvSpPr>
          <p:cNvPr id="18" name="Text 16"/>
          <p:cNvSpPr txBox="1"/>
          <p:nvPr/>
        </p:nvSpPr>
        <p:spPr>
          <a:xfrm>
            <a:off x="5631716" y="3669347"/>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9" name="Text 17"/>
          <p:cNvSpPr txBox="1"/>
          <p:nvPr/>
        </p:nvSpPr>
        <p:spPr>
          <a:xfrm>
            <a:off x="6198644" y="3669347"/>
            <a:ext cx="1850476"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[TODO: point 1]</a:t>
            </a:r>
            <a:endParaRPr lang="en-US" sz="1600" dirty="0"/>
          </a:p>
        </p:txBody>
      </p:sp>
      <p:sp>
        <p:nvSpPr>
          <p:cNvPr id="20" name="Text 18"/>
          <p:cNvSpPr txBox="1"/>
          <p:nvPr/>
        </p:nvSpPr>
        <p:spPr>
          <a:xfrm>
            <a:off x="8268577" y="3669347"/>
            <a:ext cx="3145878"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[TODO]</a:t>
            </a:r>
            <a:endParaRPr lang="en-US" sz="1400" dirty="0"/>
          </a:p>
        </p:txBody>
      </p:sp>
      <p:sp>
        <p:nvSpPr>
          <p:cNvPr id="21" name="Shape 19"/>
          <p:cNvSpPr/>
          <p:nvPr/>
        </p:nvSpPr>
        <p:spPr>
          <a:xfrm>
            <a:off x="5631716" y="4153980"/>
            <a:ext cx="5782739" cy="12700"/>
          </a:xfrm>
          <a:prstGeom prst="rect">
            <a:avLst/>
          </a:prstGeom>
          <a:solidFill>
            <a:srgbClr val="E4DFD9"/>
          </a:solidFill>
          <a:ln/>
        </p:spPr>
      </p:sp>
      <p:sp>
        <p:nvSpPr>
          <p:cNvPr id="22" name="Shape 20"/>
          <p:cNvSpPr/>
          <p:nvPr/>
        </p:nvSpPr>
        <p:spPr>
          <a:xfrm>
            <a:off x="5631716" y="4254564"/>
            <a:ext cx="384048" cy="384048"/>
          </a:xfrm>
          <a:prstGeom prst="ellipse">
            <a:avLst/>
          </a:prstGeom>
          <a:solidFill>
            <a:srgbClr val="C96442"/>
          </a:solidFill>
          <a:ln/>
        </p:spPr>
      </p:sp>
      <p:sp>
        <p:nvSpPr>
          <p:cNvPr id="23" name="Text 21"/>
          <p:cNvSpPr txBox="1"/>
          <p:nvPr/>
        </p:nvSpPr>
        <p:spPr>
          <a:xfrm>
            <a:off x="5631716" y="4254564"/>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4" name="Text 22"/>
          <p:cNvSpPr txBox="1"/>
          <p:nvPr/>
        </p:nvSpPr>
        <p:spPr>
          <a:xfrm>
            <a:off x="6198644" y="4254564"/>
            <a:ext cx="1850476"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[TODO: point 2]</a:t>
            </a:r>
            <a:endParaRPr lang="en-US" sz="1600" dirty="0"/>
          </a:p>
        </p:txBody>
      </p:sp>
      <p:sp>
        <p:nvSpPr>
          <p:cNvPr id="25" name="Text 23"/>
          <p:cNvSpPr txBox="1"/>
          <p:nvPr/>
        </p:nvSpPr>
        <p:spPr>
          <a:xfrm>
            <a:off x="8268577" y="4254564"/>
            <a:ext cx="3145878"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[TODO]</a:t>
            </a:r>
            <a:endParaRPr lang="en-US" sz="1400" dirty="0"/>
          </a:p>
        </p:txBody>
      </p:sp>
      <p:sp>
        <p:nvSpPr>
          <p:cNvPr id="26" name="Shape 24"/>
          <p:cNvSpPr/>
          <p:nvPr/>
        </p:nvSpPr>
        <p:spPr>
          <a:xfrm>
            <a:off x="5631716" y="4739196"/>
            <a:ext cx="5782739" cy="12700"/>
          </a:xfrm>
          <a:prstGeom prst="rect">
            <a:avLst/>
          </a:prstGeom>
          <a:solidFill>
            <a:srgbClr val="E4DFD9"/>
          </a:solidFill>
          <a:ln/>
        </p:spPr>
      </p:sp>
      <p:sp>
        <p:nvSpPr>
          <p:cNvPr id="27" name="Shape 25"/>
          <p:cNvSpPr/>
          <p:nvPr/>
        </p:nvSpPr>
        <p:spPr>
          <a:xfrm>
            <a:off x="5631716" y="4839780"/>
            <a:ext cx="384048" cy="384048"/>
          </a:xfrm>
          <a:prstGeom prst="ellipse">
            <a:avLst/>
          </a:prstGeom>
          <a:solidFill>
            <a:srgbClr val="C96442"/>
          </a:solidFill>
          <a:ln/>
        </p:spPr>
      </p:sp>
      <p:sp>
        <p:nvSpPr>
          <p:cNvPr id="28" name="Text 26"/>
          <p:cNvSpPr txBox="1"/>
          <p:nvPr/>
        </p:nvSpPr>
        <p:spPr>
          <a:xfrm>
            <a:off x="5631716" y="4839780"/>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9" name="Text 27"/>
          <p:cNvSpPr txBox="1"/>
          <p:nvPr/>
        </p:nvSpPr>
        <p:spPr>
          <a:xfrm>
            <a:off x="6198644" y="4839780"/>
            <a:ext cx="1850476"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[TODO: point 3]</a:t>
            </a:r>
            <a:endParaRPr lang="en-US" sz="1600" dirty="0"/>
          </a:p>
        </p:txBody>
      </p:sp>
      <p:sp>
        <p:nvSpPr>
          <p:cNvPr id="30" name="Text 28"/>
          <p:cNvSpPr txBox="1"/>
          <p:nvPr/>
        </p:nvSpPr>
        <p:spPr>
          <a:xfrm>
            <a:off x="8268577" y="4839780"/>
            <a:ext cx="3145878"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[TODO]</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1819212"/>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06 · ABCOP AI PLAYBOOKS</a:t>
            </a:r>
            <a:endParaRPr lang="en-US" sz="1200" dirty="0"/>
          </a:p>
        </p:txBody>
      </p:sp>
      <p:sp>
        <p:nvSpPr>
          <p:cNvPr id="3" name="Text 1"/>
          <p:cNvSpPr txBox="1"/>
          <p:nvPr/>
        </p:nvSpPr>
        <p:spPr>
          <a:xfrm>
            <a:off x="777240" y="2102676"/>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csharp-general</a:t>
            </a:r>
            <a:endParaRPr lang="en-US" sz="4000" dirty="0"/>
          </a:p>
        </p:txBody>
      </p:sp>
      <p:sp>
        <p:nvSpPr>
          <p:cNvPr id="4" name="Text 2"/>
          <p:cNvSpPr txBox="1"/>
          <p:nvPr/>
        </p:nvSpPr>
        <p:spPr>
          <a:xfrm>
            <a:off x="777240" y="3155252"/>
            <a:ext cx="8412480" cy="276352"/>
          </a:xfrm>
          <a:prstGeom prst="rect">
            <a:avLst/>
          </a:prstGeom>
          <a:noFill/>
          <a:ln/>
        </p:spPr>
        <p:txBody>
          <a:bodyPr wrap="square" lIns="0" tIns="0" rIns="0" bIns="0" rtlCol="0" anchor="t"/>
          <a:lstStyle/>
          <a:p>
            <a:pPr algn="l" indent="0" marL="0">
              <a:lnSpc>
                <a:spcPct val="128000"/>
              </a:lnSpc>
              <a:buNone/>
            </a:pPr>
            <a:r>
              <a:rPr lang="en-US" sz="1700" dirty="0">
                <a:solidFill>
                  <a:srgbClr val="6E675F"/>
                </a:solidFill>
                <a:latin typeface="Arial" pitchFamily="34" charset="0"/>
                <a:ea typeface="Arial" pitchFamily="34" charset="-122"/>
                <a:cs typeface="Arial" pitchFamily="34" charset="-120"/>
              </a:rPr>
              <a:t>[TODO: one-line description]</a:t>
            </a:r>
            <a:endParaRPr lang="en-US" sz="1700" dirty="0"/>
          </a:p>
        </p:txBody>
      </p:sp>
      <p:sp>
        <p:nvSpPr>
          <p:cNvPr id="5" name="Shape 3"/>
          <p:cNvSpPr/>
          <p:nvPr/>
        </p:nvSpPr>
        <p:spPr>
          <a:xfrm>
            <a:off x="777240" y="3669347"/>
            <a:ext cx="4543580" cy="1616329"/>
          </a:xfrm>
          <a:prstGeom prst="roundRect">
            <a:avLst>
              <a:gd name="adj" fmla="val 2560"/>
            </a:avLst>
          </a:prstGeom>
          <a:solidFill>
            <a:srgbClr val="1A1714"/>
          </a:solidFill>
          <a:ln/>
        </p:spPr>
      </p:sp>
      <p:sp>
        <p:nvSpPr>
          <p:cNvPr id="6" name="Shape 4"/>
          <p:cNvSpPr/>
          <p:nvPr/>
        </p:nvSpPr>
        <p:spPr>
          <a:xfrm>
            <a:off x="777240" y="3669347"/>
            <a:ext cx="4543580" cy="274320"/>
          </a:xfrm>
          <a:prstGeom prst="roundRect">
            <a:avLst>
              <a:gd name="adj" fmla="val 88889"/>
            </a:avLst>
          </a:prstGeom>
          <a:solidFill>
            <a:srgbClr val="332E28"/>
          </a:solidFill>
          <a:ln/>
        </p:spPr>
      </p:sp>
      <p:sp>
        <p:nvSpPr>
          <p:cNvPr id="7" name="Shape 5"/>
          <p:cNvSpPr/>
          <p:nvPr/>
        </p:nvSpPr>
        <p:spPr>
          <a:xfrm>
            <a:off x="777240" y="3870516"/>
            <a:ext cx="4543580" cy="73152"/>
          </a:xfrm>
          <a:prstGeom prst="rect">
            <a:avLst/>
          </a:prstGeom>
          <a:solidFill>
            <a:srgbClr val="332E28"/>
          </a:solidFill>
          <a:ln/>
        </p:spPr>
      </p:sp>
      <p:sp>
        <p:nvSpPr>
          <p:cNvPr id="8" name="Shape 6"/>
          <p:cNvSpPr/>
          <p:nvPr/>
        </p:nvSpPr>
        <p:spPr>
          <a:xfrm>
            <a:off x="905256" y="3765360"/>
            <a:ext cx="82296" cy="82296"/>
          </a:xfrm>
          <a:prstGeom prst="ellipse">
            <a:avLst/>
          </a:prstGeom>
          <a:solidFill>
            <a:srgbClr val="E8938A"/>
          </a:solidFill>
          <a:ln/>
        </p:spPr>
      </p:sp>
      <p:sp>
        <p:nvSpPr>
          <p:cNvPr id="9" name="Shape 7"/>
          <p:cNvSpPr/>
          <p:nvPr/>
        </p:nvSpPr>
        <p:spPr>
          <a:xfrm>
            <a:off x="1051560" y="3765360"/>
            <a:ext cx="82296" cy="82296"/>
          </a:xfrm>
          <a:prstGeom prst="ellipse">
            <a:avLst/>
          </a:prstGeom>
          <a:solidFill>
            <a:srgbClr val="9C948A"/>
          </a:solidFill>
          <a:ln/>
        </p:spPr>
      </p:sp>
      <p:sp>
        <p:nvSpPr>
          <p:cNvPr id="10" name="Shape 8"/>
          <p:cNvSpPr/>
          <p:nvPr/>
        </p:nvSpPr>
        <p:spPr>
          <a:xfrm>
            <a:off x="1197864" y="3765360"/>
            <a:ext cx="82296" cy="82296"/>
          </a:xfrm>
          <a:prstGeom prst="ellipse">
            <a:avLst/>
          </a:prstGeom>
          <a:solidFill>
            <a:srgbClr val="8FCB9B"/>
          </a:solidFill>
          <a:ln/>
        </p:spPr>
      </p:sp>
      <p:sp>
        <p:nvSpPr>
          <p:cNvPr id="11" name="Text 9"/>
          <p:cNvSpPr txBox="1"/>
          <p:nvPr/>
        </p:nvSpPr>
        <p:spPr>
          <a:xfrm>
            <a:off x="1380744" y="3696780"/>
            <a:ext cx="3812060" cy="219456"/>
          </a:xfrm>
          <a:prstGeom prst="rect">
            <a:avLst/>
          </a:prstGeom>
          <a:noFill/>
          <a:ln/>
        </p:spPr>
        <p:txBody>
          <a:bodyPr wrap="square" lIns="0" tIns="0" rIns="0" bIns="0" rtlCol="0" anchor="ctr"/>
          <a:lstStyle/>
          <a:p>
            <a:pPr algn="l" indent="0" marL="0">
              <a:lnSpc>
                <a:spcPct val="128000"/>
              </a:lnSpc>
              <a:buNone/>
            </a:pPr>
            <a:r>
              <a:rPr lang="en-US" sz="900" dirty="0">
                <a:solidFill>
                  <a:srgbClr val="9C948A"/>
                </a:solidFill>
                <a:latin typeface="Courier New" pitchFamily="34" charset="0"/>
                <a:ea typeface="Courier New" pitchFamily="34" charset="-122"/>
                <a:cs typeface="Courier New" pitchFamily="34" charset="-120"/>
              </a:rPr>
              <a:t>.claude/rules/csharp-general.md</a:t>
            </a:r>
            <a:endParaRPr lang="en-US" sz="900" dirty="0"/>
          </a:p>
        </p:txBody>
      </p:sp>
      <p:sp>
        <p:nvSpPr>
          <p:cNvPr id="12" name="Text 10"/>
          <p:cNvSpPr txBox="1"/>
          <p:nvPr/>
        </p:nvSpPr>
        <p:spPr>
          <a:xfrm>
            <a:off x="941832" y="4108260"/>
            <a:ext cx="4214396" cy="202565"/>
          </a:xfrm>
          <a:prstGeom prst="rect">
            <a:avLst/>
          </a:prstGeom>
          <a:noFill/>
          <a:ln/>
        </p:spPr>
        <p:txBody>
          <a:bodyPr wrap="none" lIns="0" tIns="0" rIns="0" bIns="0" rtlCol="0" anchor="t"/>
          <a:lstStyle/>
          <a:p>
            <a:pPr algn="l" indent="0" marL="0">
              <a:lnSpc>
                <a:spcPct val="128000"/>
              </a:lnSpc>
              <a:buNone/>
            </a:pPr>
            <a:r>
              <a:rPr lang="en-US" sz="1100" dirty="0">
                <a:solidFill>
                  <a:srgbClr val="9C948A"/>
                </a:solidFill>
                <a:latin typeface="Courier New" pitchFamily="34" charset="0"/>
                <a:ea typeface="Courier New" pitchFamily="34" charset="-122"/>
                <a:cs typeface="Courier New" pitchFamily="34" charset="-120"/>
              </a:rPr>
              <a:t>---</a:t>
            </a:r>
            <a:endParaRPr lang="en-US" sz="1100" dirty="0"/>
          </a:p>
        </p:txBody>
      </p:sp>
      <p:sp>
        <p:nvSpPr>
          <p:cNvPr id="13" name="Text 11"/>
          <p:cNvSpPr txBox="1"/>
          <p:nvPr/>
        </p:nvSpPr>
        <p:spPr>
          <a:xfrm>
            <a:off x="941832" y="4310825"/>
            <a:ext cx="4214396" cy="202565"/>
          </a:xfrm>
          <a:prstGeom prst="rect">
            <a:avLst/>
          </a:prstGeom>
          <a:noFill/>
          <a:ln/>
        </p:spPr>
        <p:txBody>
          <a:bodyPr wrap="none" lIns="0" tIns="0" rIns="0" bIns="0" rtlCol="0" anchor="t"/>
          <a:lstStyle/>
          <a:p>
            <a:pPr algn="l" indent="0" marL="0">
              <a:lnSpc>
                <a:spcPct val="128000"/>
              </a:lnSpc>
              <a:buNone/>
            </a:pPr>
            <a:r>
              <a:rPr lang="en-US" sz="1100" dirty="0">
                <a:solidFill>
                  <a:srgbClr val="8FCB9B"/>
                </a:solidFill>
                <a:latin typeface="Courier New" pitchFamily="34" charset="0"/>
                <a:ea typeface="Courier New" pitchFamily="34" charset="-122"/>
                <a:cs typeface="Courier New" pitchFamily="34" charset="-120"/>
              </a:rPr>
              <a:t>paths: ["[TODO]"]</a:t>
            </a:r>
            <a:endParaRPr lang="en-US" sz="1100" dirty="0"/>
          </a:p>
        </p:txBody>
      </p:sp>
      <p:sp>
        <p:nvSpPr>
          <p:cNvPr id="14" name="Text 12"/>
          <p:cNvSpPr txBox="1"/>
          <p:nvPr/>
        </p:nvSpPr>
        <p:spPr>
          <a:xfrm>
            <a:off x="941832" y="4513390"/>
            <a:ext cx="4214396" cy="202565"/>
          </a:xfrm>
          <a:prstGeom prst="rect">
            <a:avLst/>
          </a:prstGeom>
          <a:noFill/>
          <a:ln/>
        </p:spPr>
        <p:txBody>
          <a:bodyPr wrap="none" lIns="0" tIns="0" rIns="0" bIns="0" rtlCol="0" anchor="t"/>
          <a:lstStyle/>
          <a:p>
            <a:pPr algn="l" indent="0" marL="0">
              <a:lnSpc>
                <a:spcPct val="128000"/>
              </a:lnSpc>
              <a:buNone/>
            </a:pPr>
            <a:r>
              <a:rPr lang="en-US" sz="1100" dirty="0">
                <a:solidFill>
                  <a:srgbClr val="9C948A"/>
                </a:solidFill>
                <a:latin typeface="Courier New" pitchFamily="34" charset="0"/>
                <a:ea typeface="Courier New" pitchFamily="34" charset="-122"/>
                <a:cs typeface="Courier New" pitchFamily="34" charset="-120"/>
              </a:rPr>
              <a:t>---</a:t>
            </a:r>
            <a:endParaRPr lang="en-US" sz="1100" dirty="0"/>
          </a:p>
        </p:txBody>
      </p:sp>
      <p:sp>
        <p:nvSpPr>
          <p:cNvPr id="15" name="Text 13"/>
          <p:cNvSpPr txBox="1"/>
          <p:nvPr/>
        </p:nvSpPr>
        <p:spPr>
          <a:xfrm>
            <a:off x="941832" y="4715955"/>
            <a:ext cx="4214396" cy="202565"/>
          </a:xfrm>
          <a:prstGeom prst="rect">
            <a:avLst/>
          </a:prstGeom>
          <a:noFill/>
          <a:ln/>
        </p:spPr>
        <p:txBody>
          <a:bodyPr wrap="none" lIns="0" tIns="0" rIns="0" bIns="0" rtlCol="0" anchor="t"/>
          <a:lstStyle/>
          <a:p>
            <a:pPr algn="l" indent="0" marL="0">
              <a:lnSpc>
                <a:spcPct val="128000"/>
              </a:lnSpc>
              <a:buNone/>
            </a:pPr>
            <a:endParaRPr lang="en-US" sz="1100" dirty="0"/>
          </a:p>
        </p:txBody>
      </p:sp>
      <p:sp>
        <p:nvSpPr>
          <p:cNvPr id="16" name="Text 14"/>
          <p:cNvSpPr txBox="1"/>
          <p:nvPr/>
        </p:nvSpPr>
        <p:spPr>
          <a:xfrm>
            <a:off x="941832" y="4918520"/>
            <a:ext cx="4214396"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 [TODO: convention]</a:t>
            </a:r>
            <a:endParaRPr lang="en-US" sz="1100" dirty="0"/>
          </a:p>
        </p:txBody>
      </p:sp>
      <p:sp>
        <p:nvSpPr>
          <p:cNvPr id="17" name="Shape 15"/>
          <p:cNvSpPr/>
          <p:nvPr/>
        </p:nvSpPr>
        <p:spPr>
          <a:xfrm>
            <a:off x="5631716" y="3669347"/>
            <a:ext cx="384048" cy="384048"/>
          </a:xfrm>
          <a:prstGeom prst="ellipse">
            <a:avLst/>
          </a:prstGeom>
          <a:solidFill>
            <a:srgbClr val="C96442"/>
          </a:solidFill>
          <a:ln/>
        </p:spPr>
      </p:sp>
      <p:sp>
        <p:nvSpPr>
          <p:cNvPr id="18" name="Text 16"/>
          <p:cNvSpPr txBox="1"/>
          <p:nvPr/>
        </p:nvSpPr>
        <p:spPr>
          <a:xfrm>
            <a:off x="5631716" y="3669347"/>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9" name="Text 17"/>
          <p:cNvSpPr txBox="1"/>
          <p:nvPr/>
        </p:nvSpPr>
        <p:spPr>
          <a:xfrm>
            <a:off x="6198644" y="3669347"/>
            <a:ext cx="1850476"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[TODO: point 1]</a:t>
            </a:r>
            <a:endParaRPr lang="en-US" sz="1600" dirty="0"/>
          </a:p>
        </p:txBody>
      </p:sp>
      <p:sp>
        <p:nvSpPr>
          <p:cNvPr id="20" name="Text 18"/>
          <p:cNvSpPr txBox="1"/>
          <p:nvPr/>
        </p:nvSpPr>
        <p:spPr>
          <a:xfrm>
            <a:off x="8268577" y="3669347"/>
            <a:ext cx="3145878"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[TODO]</a:t>
            </a:r>
            <a:endParaRPr lang="en-US" sz="1400" dirty="0"/>
          </a:p>
        </p:txBody>
      </p:sp>
      <p:sp>
        <p:nvSpPr>
          <p:cNvPr id="21" name="Shape 19"/>
          <p:cNvSpPr/>
          <p:nvPr/>
        </p:nvSpPr>
        <p:spPr>
          <a:xfrm>
            <a:off x="5631716" y="4153980"/>
            <a:ext cx="5782739" cy="12700"/>
          </a:xfrm>
          <a:prstGeom prst="rect">
            <a:avLst/>
          </a:prstGeom>
          <a:solidFill>
            <a:srgbClr val="E4DFD9"/>
          </a:solidFill>
          <a:ln/>
        </p:spPr>
      </p:sp>
      <p:sp>
        <p:nvSpPr>
          <p:cNvPr id="22" name="Shape 20"/>
          <p:cNvSpPr/>
          <p:nvPr/>
        </p:nvSpPr>
        <p:spPr>
          <a:xfrm>
            <a:off x="5631716" y="4254564"/>
            <a:ext cx="384048" cy="384048"/>
          </a:xfrm>
          <a:prstGeom prst="ellipse">
            <a:avLst/>
          </a:prstGeom>
          <a:solidFill>
            <a:srgbClr val="C96442"/>
          </a:solidFill>
          <a:ln/>
        </p:spPr>
      </p:sp>
      <p:sp>
        <p:nvSpPr>
          <p:cNvPr id="23" name="Text 21"/>
          <p:cNvSpPr txBox="1"/>
          <p:nvPr/>
        </p:nvSpPr>
        <p:spPr>
          <a:xfrm>
            <a:off x="5631716" y="4254564"/>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4" name="Text 22"/>
          <p:cNvSpPr txBox="1"/>
          <p:nvPr/>
        </p:nvSpPr>
        <p:spPr>
          <a:xfrm>
            <a:off x="6198644" y="4254564"/>
            <a:ext cx="1850476"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[TODO: point 2]</a:t>
            </a:r>
            <a:endParaRPr lang="en-US" sz="1600" dirty="0"/>
          </a:p>
        </p:txBody>
      </p:sp>
      <p:sp>
        <p:nvSpPr>
          <p:cNvPr id="25" name="Text 23"/>
          <p:cNvSpPr txBox="1"/>
          <p:nvPr/>
        </p:nvSpPr>
        <p:spPr>
          <a:xfrm>
            <a:off x="8268577" y="4254564"/>
            <a:ext cx="3145878"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[TODO]</a:t>
            </a:r>
            <a:endParaRPr lang="en-US" sz="1400" dirty="0"/>
          </a:p>
        </p:txBody>
      </p:sp>
      <p:sp>
        <p:nvSpPr>
          <p:cNvPr id="26" name="Shape 24"/>
          <p:cNvSpPr/>
          <p:nvPr/>
        </p:nvSpPr>
        <p:spPr>
          <a:xfrm>
            <a:off x="5631716" y="4739196"/>
            <a:ext cx="5782739" cy="12700"/>
          </a:xfrm>
          <a:prstGeom prst="rect">
            <a:avLst/>
          </a:prstGeom>
          <a:solidFill>
            <a:srgbClr val="E4DFD9"/>
          </a:solidFill>
          <a:ln/>
        </p:spPr>
      </p:sp>
      <p:sp>
        <p:nvSpPr>
          <p:cNvPr id="27" name="Shape 25"/>
          <p:cNvSpPr/>
          <p:nvPr/>
        </p:nvSpPr>
        <p:spPr>
          <a:xfrm>
            <a:off x="5631716" y="4839780"/>
            <a:ext cx="384048" cy="384048"/>
          </a:xfrm>
          <a:prstGeom prst="ellipse">
            <a:avLst/>
          </a:prstGeom>
          <a:solidFill>
            <a:srgbClr val="C96442"/>
          </a:solidFill>
          <a:ln/>
        </p:spPr>
      </p:sp>
      <p:sp>
        <p:nvSpPr>
          <p:cNvPr id="28" name="Text 26"/>
          <p:cNvSpPr txBox="1"/>
          <p:nvPr/>
        </p:nvSpPr>
        <p:spPr>
          <a:xfrm>
            <a:off x="5631716" y="4839780"/>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9" name="Text 27"/>
          <p:cNvSpPr txBox="1"/>
          <p:nvPr/>
        </p:nvSpPr>
        <p:spPr>
          <a:xfrm>
            <a:off x="6198644" y="4839780"/>
            <a:ext cx="1850476"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[TODO: point 3]</a:t>
            </a:r>
            <a:endParaRPr lang="en-US" sz="1600" dirty="0"/>
          </a:p>
        </p:txBody>
      </p:sp>
      <p:sp>
        <p:nvSpPr>
          <p:cNvPr id="30" name="Text 28"/>
          <p:cNvSpPr txBox="1"/>
          <p:nvPr/>
        </p:nvSpPr>
        <p:spPr>
          <a:xfrm>
            <a:off x="8268577" y="4839780"/>
            <a:ext cx="3145878"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[TODO]</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6221E"/>
        </a:solidFill>
      </p:bgPr>
    </p:bg>
    <p:spTree>
      <p:nvGrpSpPr>
        <p:cNvPr id="1" name=""/>
        <p:cNvGrpSpPr/>
        <p:nvPr/>
      </p:nvGrpSpPr>
      <p:grpSpPr>
        <a:xfrm>
          <a:off x="0" y="0"/>
          <a:ext cx="0" cy="0"/>
          <a:chOff x="0" y="0"/>
          <a:chExt cx="0" cy="0"/>
        </a:xfrm>
      </p:grpSpPr>
      <p:sp>
        <p:nvSpPr>
          <p:cNvPr id="2" name="Text 0"/>
          <p:cNvSpPr txBox="1"/>
          <p:nvPr/>
        </p:nvSpPr>
        <p:spPr>
          <a:xfrm>
            <a:off x="777240" y="2356485"/>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07 · PRO-TIPS</a:t>
            </a:r>
            <a:endParaRPr lang="en-US" sz="1200" dirty="0"/>
          </a:p>
        </p:txBody>
      </p:sp>
      <p:sp>
        <p:nvSpPr>
          <p:cNvPr id="3" name="Text 1"/>
          <p:cNvSpPr txBox="1"/>
          <p:nvPr/>
        </p:nvSpPr>
        <p:spPr>
          <a:xfrm>
            <a:off x="777240" y="2639949"/>
            <a:ext cx="10637215" cy="845312"/>
          </a:xfrm>
          <a:prstGeom prst="rect">
            <a:avLst/>
          </a:prstGeom>
          <a:noFill/>
          <a:ln/>
        </p:spPr>
        <p:txBody>
          <a:bodyPr wrap="square" lIns="0" tIns="0" rIns="0" bIns="0" rtlCol="0" anchor="t"/>
          <a:lstStyle/>
          <a:p>
            <a:pPr algn="l" indent="0" marL="0">
              <a:lnSpc>
                <a:spcPct val="128000"/>
              </a:lnSpc>
              <a:buNone/>
            </a:pPr>
            <a:r>
              <a:rPr lang="en-US" sz="5200" b="1" dirty="0">
                <a:solidFill>
                  <a:srgbClr val="C96442"/>
                </a:solidFill>
                <a:latin typeface="Arial" pitchFamily="34" charset="0"/>
                <a:ea typeface="Arial" pitchFamily="34" charset="-122"/>
                <a:cs typeface="Arial" pitchFamily="34" charset="-120"/>
              </a:rPr>
              <a:t>Pro-Tips</a:t>
            </a:r>
            <a:endParaRPr lang="en-US" sz="5200" dirty="0"/>
          </a:p>
        </p:txBody>
      </p:sp>
      <p:sp>
        <p:nvSpPr>
          <p:cNvPr id="4" name="Text 2"/>
          <p:cNvSpPr txBox="1"/>
          <p:nvPr/>
        </p:nvSpPr>
        <p:spPr>
          <a:xfrm>
            <a:off x="777240" y="3887597"/>
            <a:ext cx="8412480" cy="276352"/>
          </a:xfrm>
          <a:prstGeom prst="rect">
            <a:avLst/>
          </a:prstGeom>
          <a:noFill/>
          <a:ln/>
        </p:spPr>
        <p:txBody>
          <a:bodyPr wrap="square" lIns="0" tIns="0" rIns="0" bIns="0" rtlCol="0" anchor="t"/>
          <a:lstStyle/>
          <a:p>
            <a:pPr algn="l" indent="0" marL="0">
              <a:lnSpc>
                <a:spcPct val="128000"/>
              </a:lnSpc>
              <a:buNone/>
            </a:pPr>
            <a:r>
              <a:rPr lang="en-US" sz="1700" dirty="0">
                <a:solidFill>
                  <a:srgbClr val="B8B1A8"/>
                </a:solidFill>
                <a:latin typeface="Arial" pitchFamily="34" charset="0"/>
                <a:ea typeface="Arial" pitchFamily="34" charset="-122"/>
                <a:cs typeface="Arial" pitchFamily="34" charset="-120"/>
              </a:rPr>
              <a:t>Best practices used across the industry.</a:t>
            </a:r>
            <a:endParaRPr lang="en-US" sz="1700" dirty="0"/>
          </a:p>
        </p:txBody>
      </p:sp>
      <p:sp>
        <p:nvSpPr>
          <p:cNvPr id="5" name="Shape 3"/>
          <p:cNvSpPr/>
          <p:nvPr/>
        </p:nvSpPr>
        <p:spPr>
          <a:xfrm>
            <a:off x="777240" y="4401693"/>
            <a:ext cx="1771904" cy="346710"/>
          </a:xfrm>
          <a:prstGeom prst="roundRect">
            <a:avLst>
              <a:gd name="adj" fmla="val 131868"/>
            </a:avLst>
          </a:prstGeom>
          <a:solidFill>
            <a:srgbClr val="332E28"/>
          </a:solidFill>
          <a:ln/>
        </p:spPr>
      </p:sp>
      <p:sp>
        <p:nvSpPr>
          <p:cNvPr id="6" name="Text 4"/>
          <p:cNvSpPr txBox="1"/>
          <p:nvPr/>
        </p:nvSpPr>
        <p:spPr>
          <a:xfrm>
            <a:off x="777240" y="4401693"/>
            <a:ext cx="1771904"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Ask me questions</a:t>
            </a:r>
            <a:endParaRPr lang="en-US" sz="1300" dirty="0"/>
          </a:p>
        </p:txBody>
      </p:sp>
      <p:sp>
        <p:nvSpPr>
          <p:cNvPr id="7" name="Shape 5"/>
          <p:cNvSpPr/>
          <p:nvPr/>
        </p:nvSpPr>
        <p:spPr>
          <a:xfrm>
            <a:off x="2658872" y="4401693"/>
            <a:ext cx="1217168" cy="346710"/>
          </a:xfrm>
          <a:prstGeom prst="roundRect">
            <a:avLst>
              <a:gd name="adj" fmla="val 131868"/>
            </a:avLst>
          </a:prstGeom>
          <a:solidFill>
            <a:srgbClr val="332E28"/>
          </a:solidFill>
          <a:ln/>
        </p:spPr>
      </p:sp>
      <p:sp>
        <p:nvSpPr>
          <p:cNvPr id="8" name="Text 6"/>
          <p:cNvSpPr txBox="1"/>
          <p:nvPr/>
        </p:nvSpPr>
        <p:spPr>
          <a:xfrm>
            <a:off x="2658872" y="4401693"/>
            <a:ext cx="1217168"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Debug loop</a:t>
            </a:r>
            <a:endParaRPr lang="en-US" sz="1300" dirty="0"/>
          </a:p>
        </p:txBody>
      </p:sp>
      <p:sp>
        <p:nvSpPr>
          <p:cNvPr id="9" name="Shape 7"/>
          <p:cNvSpPr/>
          <p:nvPr/>
        </p:nvSpPr>
        <p:spPr>
          <a:xfrm>
            <a:off x="3985768" y="4401693"/>
            <a:ext cx="1956816" cy="346710"/>
          </a:xfrm>
          <a:prstGeom prst="roundRect">
            <a:avLst>
              <a:gd name="adj" fmla="val 131868"/>
            </a:avLst>
          </a:prstGeom>
          <a:solidFill>
            <a:srgbClr val="332E28"/>
          </a:solidFill>
          <a:ln/>
        </p:spPr>
      </p:sp>
      <p:sp>
        <p:nvSpPr>
          <p:cNvPr id="10" name="Text 8"/>
          <p:cNvSpPr txBox="1"/>
          <p:nvPr/>
        </p:nvSpPr>
        <p:spPr>
          <a:xfrm>
            <a:off x="3985768" y="4401693"/>
            <a:ext cx="1956816" cy="346710"/>
          </a:xfrm>
          <a:prstGeom prst="rect">
            <a:avLst/>
          </a:prstGeom>
          <a:noFill/>
          <a:ln/>
        </p:spPr>
        <p:txBody>
          <a:bodyPr wrap="square" lIns="0" tIns="0" rIns="0" bIns="0" rtlCol="0" anchor="ctr"/>
          <a:lstStyle/>
          <a:p>
            <a:pPr algn="ctr" indent="0" marL="0">
              <a:lnSpc>
                <a:spcPct val="128000"/>
              </a:lnSpc>
              <a:buNone/>
            </a:pPr>
            <a:r>
              <a:rPr lang="en-US" sz="1300" b="1" dirty="0">
                <a:solidFill>
                  <a:srgbClr val="F2EDE6"/>
                </a:solidFill>
                <a:latin typeface="Arial" pitchFamily="34" charset="0"/>
                <a:ea typeface="Arial" pitchFamily="34" charset="-122"/>
                <a:cs typeface="Arial" pitchFamily="34" charset="-120"/>
              </a:rPr>
              <a:t>Adversarial review</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658368"/>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07 · PRO-TIPS</a:t>
            </a:r>
            <a:endParaRPr lang="en-US" sz="1200" dirty="0"/>
          </a:p>
        </p:txBody>
      </p:sp>
      <p:sp>
        <p:nvSpPr>
          <p:cNvPr id="3" name="Text 1"/>
          <p:cNvSpPr txBox="1"/>
          <p:nvPr/>
        </p:nvSpPr>
        <p:spPr>
          <a:xfrm>
            <a:off x="777240" y="941832"/>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Ask Me Questions</a:t>
            </a:r>
            <a:endParaRPr lang="en-US" sz="4000" dirty="0"/>
          </a:p>
        </p:txBody>
      </p:sp>
      <p:sp>
        <p:nvSpPr>
          <p:cNvPr id="4" name="Text 2"/>
          <p:cNvSpPr txBox="1"/>
          <p:nvPr/>
        </p:nvSpPr>
        <p:spPr>
          <a:xfrm>
            <a:off x="777240" y="1994408"/>
            <a:ext cx="8412480" cy="276352"/>
          </a:xfrm>
          <a:prstGeom prst="rect">
            <a:avLst/>
          </a:prstGeom>
          <a:noFill/>
          <a:ln/>
        </p:spPr>
        <p:txBody>
          <a:bodyPr wrap="square" lIns="0" tIns="0" rIns="0" bIns="0" rtlCol="0" anchor="t"/>
          <a:lstStyle/>
          <a:p>
            <a:pPr algn="l" indent="0" marL="0">
              <a:lnSpc>
                <a:spcPct val="128000"/>
              </a:lnSpc>
              <a:buNone/>
            </a:pPr>
            <a:r>
              <a:rPr lang="en-US" sz="1700" dirty="0">
                <a:solidFill>
                  <a:srgbClr val="6E675F"/>
                </a:solidFill>
                <a:latin typeface="Arial" pitchFamily="34" charset="0"/>
                <a:ea typeface="Arial" pitchFamily="34" charset="-122"/>
                <a:cs typeface="Arial" pitchFamily="34" charset="-120"/>
              </a:rPr>
              <a:t>Tell Claude to ask you questions to help you solidify your idea.</a:t>
            </a:r>
            <a:endParaRPr lang="en-US" sz="1700" dirty="0"/>
          </a:p>
        </p:txBody>
      </p:sp>
      <p:sp>
        <p:nvSpPr>
          <p:cNvPr id="5" name="Shape 3"/>
          <p:cNvSpPr/>
          <p:nvPr/>
        </p:nvSpPr>
        <p:spPr>
          <a:xfrm>
            <a:off x="777240" y="2508504"/>
            <a:ext cx="4750107" cy="1413764"/>
          </a:xfrm>
          <a:prstGeom prst="roundRect">
            <a:avLst>
              <a:gd name="adj" fmla="val 3347"/>
            </a:avLst>
          </a:prstGeom>
          <a:solidFill>
            <a:srgbClr val="1A1714"/>
          </a:solidFill>
          <a:ln/>
        </p:spPr>
      </p:sp>
      <p:sp>
        <p:nvSpPr>
          <p:cNvPr id="6" name="Shape 4"/>
          <p:cNvSpPr/>
          <p:nvPr/>
        </p:nvSpPr>
        <p:spPr>
          <a:xfrm>
            <a:off x="777240" y="2508504"/>
            <a:ext cx="4750107" cy="274320"/>
          </a:xfrm>
          <a:prstGeom prst="roundRect">
            <a:avLst>
              <a:gd name="adj" fmla="val 88889"/>
            </a:avLst>
          </a:prstGeom>
          <a:solidFill>
            <a:srgbClr val="332E28"/>
          </a:solidFill>
          <a:ln/>
        </p:spPr>
      </p:sp>
      <p:sp>
        <p:nvSpPr>
          <p:cNvPr id="7" name="Shape 5"/>
          <p:cNvSpPr/>
          <p:nvPr/>
        </p:nvSpPr>
        <p:spPr>
          <a:xfrm>
            <a:off x="777240" y="2709672"/>
            <a:ext cx="4750107" cy="73152"/>
          </a:xfrm>
          <a:prstGeom prst="rect">
            <a:avLst/>
          </a:prstGeom>
          <a:solidFill>
            <a:srgbClr val="332E28"/>
          </a:solidFill>
          <a:ln/>
        </p:spPr>
      </p:sp>
      <p:sp>
        <p:nvSpPr>
          <p:cNvPr id="8" name="Shape 6"/>
          <p:cNvSpPr/>
          <p:nvPr/>
        </p:nvSpPr>
        <p:spPr>
          <a:xfrm>
            <a:off x="905256" y="2604516"/>
            <a:ext cx="82296" cy="82296"/>
          </a:xfrm>
          <a:prstGeom prst="ellipse">
            <a:avLst/>
          </a:prstGeom>
          <a:solidFill>
            <a:srgbClr val="E8938A"/>
          </a:solidFill>
          <a:ln/>
        </p:spPr>
      </p:sp>
      <p:sp>
        <p:nvSpPr>
          <p:cNvPr id="9" name="Shape 7"/>
          <p:cNvSpPr/>
          <p:nvPr/>
        </p:nvSpPr>
        <p:spPr>
          <a:xfrm>
            <a:off x="1051560" y="2604516"/>
            <a:ext cx="82296" cy="82296"/>
          </a:xfrm>
          <a:prstGeom prst="ellipse">
            <a:avLst/>
          </a:prstGeom>
          <a:solidFill>
            <a:srgbClr val="9C948A"/>
          </a:solidFill>
          <a:ln/>
        </p:spPr>
      </p:sp>
      <p:sp>
        <p:nvSpPr>
          <p:cNvPr id="10" name="Shape 8"/>
          <p:cNvSpPr/>
          <p:nvPr/>
        </p:nvSpPr>
        <p:spPr>
          <a:xfrm>
            <a:off x="1197864" y="2604516"/>
            <a:ext cx="82296" cy="82296"/>
          </a:xfrm>
          <a:prstGeom prst="ellipse">
            <a:avLst/>
          </a:prstGeom>
          <a:solidFill>
            <a:srgbClr val="8FCB9B"/>
          </a:solidFill>
          <a:ln/>
        </p:spPr>
      </p:sp>
      <p:sp>
        <p:nvSpPr>
          <p:cNvPr id="11" name="Text 9"/>
          <p:cNvSpPr txBox="1"/>
          <p:nvPr/>
        </p:nvSpPr>
        <p:spPr>
          <a:xfrm>
            <a:off x="1380744" y="2535936"/>
            <a:ext cx="4018587" cy="219456"/>
          </a:xfrm>
          <a:prstGeom prst="rect">
            <a:avLst/>
          </a:prstGeom>
          <a:noFill/>
          <a:ln/>
        </p:spPr>
        <p:txBody>
          <a:bodyPr wrap="square" lIns="0" tIns="0" rIns="0" bIns="0" rtlCol="0" anchor="ctr"/>
          <a:lstStyle/>
          <a:p>
            <a:pPr algn="l" indent="0" marL="0">
              <a:lnSpc>
                <a:spcPct val="128000"/>
              </a:lnSpc>
              <a:buNone/>
            </a:pPr>
            <a:r>
              <a:rPr lang="en-US" sz="900" dirty="0">
                <a:solidFill>
                  <a:srgbClr val="9C948A"/>
                </a:solidFill>
                <a:latin typeface="Courier New" pitchFamily="34" charset="0"/>
                <a:ea typeface="Courier New" pitchFamily="34" charset="-122"/>
                <a:cs typeface="Courier New" pitchFamily="34" charset="-120"/>
              </a:rPr>
              <a:t>your prompt</a:t>
            </a:r>
            <a:endParaRPr lang="en-US" sz="900" dirty="0"/>
          </a:p>
        </p:txBody>
      </p:sp>
      <p:sp>
        <p:nvSpPr>
          <p:cNvPr id="12" name="Text 10"/>
          <p:cNvSpPr txBox="1"/>
          <p:nvPr/>
        </p:nvSpPr>
        <p:spPr>
          <a:xfrm>
            <a:off x="941832" y="2947416"/>
            <a:ext cx="4420923" cy="202565"/>
          </a:xfrm>
          <a:prstGeom prst="rect">
            <a:avLst/>
          </a:prstGeom>
          <a:noFill/>
          <a:ln/>
        </p:spPr>
        <p:txBody>
          <a:bodyPr wrap="none" lIns="0" tIns="0" rIns="0" bIns="0" rtlCol="0" anchor="t"/>
          <a:lstStyle/>
          <a:p>
            <a:pPr algn="l" indent="0" marL="0">
              <a:lnSpc>
                <a:spcPct val="128000"/>
              </a:lnSpc>
              <a:buNone/>
            </a:pPr>
            <a:r>
              <a:rPr lang="en-US" sz="1100" dirty="0">
                <a:solidFill>
                  <a:srgbClr val="8FCB9B"/>
                </a:solidFill>
                <a:latin typeface="Courier New" pitchFamily="34" charset="0"/>
                <a:ea typeface="Courier New" pitchFamily="34" charset="-122"/>
                <a:cs typeface="Courier New" pitchFamily="34" charset="-120"/>
              </a:rPr>
              <a:t>I want to add a saved-reports</a:t>
            </a:r>
            <a:endParaRPr lang="en-US" sz="1100" dirty="0"/>
          </a:p>
        </p:txBody>
      </p:sp>
      <p:sp>
        <p:nvSpPr>
          <p:cNvPr id="13" name="Text 11"/>
          <p:cNvSpPr txBox="1"/>
          <p:nvPr/>
        </p:nvSpPr>
        <p:spPr>
          <a:xfrm>
            <a:off x="941832" y="3149981"/>
            <a:ext cx="4420923" cy="202565"/>
          </a:xfrm>
          <a:prstGeom prst="rect">
            <a:avLst/>
          </a:prstGeom>
          <a:noFill/>
          <a:ln/>
        </p:spPr>
        <p:txBody>
          <a:bodyPr wrap="none" lIns="0" tIns="0" rIns="0" bIns="0" rtlCol="0" anchor="t"/>
          <a:lstStyle/>
          <a:p>
            <a:pPr algn="l" indent="0" marL="0">
              <a:lnSpc>
                <a:spcPct val="128000"/>
              </a:lnSpc>
              <a:buNone/>
            </a:pPr>
            <a:r>
              <a:rPr lang="en-US" sz="1100" dirty="0">
                <a:solidFill>
                  <a:srgbClr val="8FCB9B"/>
                </a:solidFill>
                <a:latin typeface="Courier New" pitchFamily="34" charset="0"/>
                <a:ea typeface="Courier New" pitchFamily="34" charset="-122"/>
                <a:cs typeface="Courier New" pitchFamily="34" charset="-120"/>
              </a:rPr>
              <a:t>page to the admin app.</a:t>
            </a:r>
            <a:endParaRPr lang="en-US" sz="1100" dirty="0"/>
          </a:p>
        </p:txBody>
      </p:sp>
      <p:sp>
        <p:nvSpPr>
          <p:cNvPr id="14" name="Text 12"/>
          <p:cNvSpPr txBox="1"/>
          <p:nvPr/>
        </p:nvSpPr>
        <p:spPr>
          <a:xfrm>
            <a:off x="941832" y="3352546"/>
            <a:ext cx="4420923" cy="202565"/>
          </a:xfrm>
          <a:prstGeom prst="rect">
            <a:avLst/>
          </a:prstGeom>
          <a:noFill/>
          <a:ln/>
        </p:spPr>
        <p:txBody>
          <a:bodyPr wrap="none" lIns="0" tIns="0" rIns="0" bIns="0" rtlCol="0" anchor="t"/>
          <a:lstStyle/>
          <a:p>
            <a:pPr algn="l" indent="0" marL="0">
              <a:lnSpc>
                <a:spcPct val="128000"/>
              </a:lnSpc>
              <a:buNone/>
            </a:pPr>
            <a:endParaRPr lang="en-US" sz="1100" dirty="0"/>
          </a:p>
        </p:txBody>
      </p:sp>
      <p:sp>
        <p:nvSpPr>
          <p:cNvPr id="15" name="Text 13"/>
          <p:cNvSpPr txBox="1"/>
          <p:nvPr/>
        </p:nvSpPr>
        <p:spPr>
          <a:xfrm>
            <a:off x="941832" y="3555111"/>
            <a:ext cx="4420923" cy="202565"/>
          </a:xfrm>
          <a:prstGeom prst="rect">
            <a:avLst/>
          </a:prstGeom>
          <a:noFill/>
          <a:ln/>
        </p:spPr>
        <p:txBody>
          <a:bodyPr wrap="none" lIns="0" tIns="0" rIns="0" bIns="0" rtlCol="0" anchor="t"/>
          <a:lstStyle/>
          <a:p>
            <a:pPr algn="l" indent="0" marL="0">
              <a:lnSpc>
                <a:spcPct val="128000"/>
              </a:lnSpc>
              <a:buNone/>
            </a:pPr>
            <a:r>
              <a:rPr lang="en-US" sz="1100" b="1" dirty="0">
                <a:solidFill>
                  <a:srgbClr val="8FCB9B"/>
                </a:solidFill>
                <a:latin typeface="Courier New" pitchFamily="34" charset="0"/>
                <a:ea typeface="Courier New" pitchFamily="34" charset="-122"/>
                <a:cs typeface="Courier New" pitchFamily="34" charset="-120"/>
              </a:rPr>
              <a:t>Ask Me Clarifying Questions</a:t>
            </a:r>
            <a:endParaRPr lang="en-US" sz="1100" dirty="0"/>
          </a:p>
        </p:txBody>
      </p:sp>
      <p:sp>
        <p:nvSpPr>
          <p:cNvPr id="16" name="Shape 14"/>
          <p:cNvSpPr/>
          <p:nvPr/>
        </p:nvSpPr>
        <p:spPr>
          <a:xfrm>
            <a:off x="777240" y="4288028"/>
            <a:ext cx="4750107" cy="1949704"/>
          </a:xfrm>
          <a:prstGeom prst="roundRect">
            <a:avLst>
              <a:gd name="adj" fmla="val 1760"/>
            </a:avLst>
          </a:prstGeom>
          <a:solidFill>
            <a:srgbClr val="1A1714"/>
          </a:solidFill>
          <a:ln/>
        </p:spPr>
      </p:sp>
      <p:sp>
        <p:nvSpPr>
          <p:cNvPr id="17" name="Text 15"/>
          <p:cNvSpPr txBox="1"/>
          <p:nvPr/>
        </p:nvSpPr>
        <p:spPr>
          <a:xfrm>
            <a:off x="941832" y="4452620"/>
            <a:ext cx="4420923" cy="202565"/>
          </a:xfrm>
          <a:prstGeom prst="rect">
            <a:avLst/>
          </a:prstGeom>
          <a:noFill/>
          <a:ln/>
        </p:spPr>
        <p:txBody>
          <a:bodyPr wrap="none" lIns="0" tIns="0" rIns="0" bIns="0" rtlCol="0" anchor="t"/>
          <a:lstStyle/>
          <a:p>
            <a:pPr algn="l" indent="0" marL="0">
              <a:lnSpc>
                <a:spcPct val="128000"/>
              </a:lnSpc>
              <a:buNone/>
            </a:pPr>
            <a:r>
              <a:rPr lang="en-US" sz="1100" b="1" dirty="0">
                <a:solidFill>
                  <a:srgbClr val="EDE6DD"/>
                </a:solidFill>
                <a:latin typeface="Courier New" pitchFamily="34" charset="0"/>
                <a:ea typeface="Courier New" pitchFamily="34" charset="-122"/>
                <a:cs typeface="Courier New" pitchFamily="34" charset="-120"/>
              </a:rPr>
              <a:t>Who can see a saved report?</a:t>
            </a:r>
            <a:endParaRPr lang="en-US" sz="1100" dirty="0"/>
          </a:p>
        </p:txBody>
      </p:sp>
      <p:sp>
        <p:nvSpPr>
          <p:cNvPr id="18" name="Text 16"/>
          <p:cNvSpPr txBox="1"/>
          <p:nvPr/>
        </p:nvSpPr>
        <p:spPr>
          <a:xfrm>
            <a:off x="941832" y="4655185"/>
            <a:ext cx="4420923" cy="202565"/>
          </a:xfrm>
          <a:prstGeom prst="rect">
            <a:avLst/>
          </a:prstGeom>
          <a:noFill/>
          <a:ln/>
        </p:spPr>
        <p:txBody>
          <a:bodyPr wrap="none" lIns="0" tIns="0" rIns="0" bIns="0" rtlCol="0" anchor="t"/>
          <a:lstStyle/>
          <a:p>
            <a:pPr algn="l" indent="0" marL="0">
              <a:lnSpc>
                <a:spcPct val="128000"/>
              </a:lnSpc>
              <a:buNone/>
            </a:pPr>
            <a:r>
              <a:rPr lang="en-US" sz="1100" dirty="0">
                <a:solidFill>
                  <a:srgbClr val="8FCB9B"/>
                </a:solidFill>
                <a:latin typeface="Courier New" pitchFamily="34" charset="0"/>
                <a:ea typeface="Courier New" pitchFamily="34" charset="-122"/>
                <a:cs typeface="Courier New" pitchFamily="34" charset="-120"/>
              </a:rPr>
              <a:t>❯ 1. Any signed-in user</a:t>
            </a:r>
            <a:endParaRPr lang="en-US" sz="1100" dirty="0"/>
          </a:p>
        </p:txBody>
      </p:sp>
      <p:sp>
        <p:nvSpPr>
          <p:cNvPr id="19" name="Text 17"/>
          <p:cNvSpPr txBox="1"/>
          <p:nvPr/>
        </p:nvSpPr>
        <p:spPr>
          <a:xfrm>
            <a:off x="941832" y="4857750"/>
            <a:ext cx="4420923"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  2. Admins only</a:t>
            </a:r>
            <a:endParaRPr lang="en-US" sz="1100" dirty="0"/>
          </a:p>
        </p:txBody>
      </p:sp>
      <p:sp>
        <p:nvSpPr>
          <p:cNvPr id="20" name="Text 18"/>
          <p:cNvSpPr txBox="1"/>
          <p:nvPr/>
        </p:nvSpPr>
        <p:spPr>
          <a:xfrm>
            <a:off x="941832" y="5060315"/>
            <a:ext cx="4420923"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  3. Only the person who saved it</a:t>
            </a:r>
            <a:endParaRPr lang="en-US" sz="1100" dirty="0"/>
          </a:p>
        </p:txBody>
      </p:sp>
      <p:sp>
        <p:nvSpPr>
          <p:cNvPr id="21" name="Text 19"/>
          <p:cNvSpPr txBox="1"/>
          <p:nvPr/>
        </p:nvSpPr>
        <p:spPr>
          <a:xfrm>
            <a:off x="941832" y="5262880"/>
            <a:ext cx="4420923" cy="202565"/>
          </a:xfrm>
          <a:prstGeom prst="rect">
            <a:avLst/>
          </a:prstGeom>
          <a:noFill/>
          <a:ln/>
        </p:spPr>
        <p:txBody>
          <a:bodyPr wrap="none" lIns="0" tIns="0" rIns="0" bIns="0" rtlCol="0" anchor="t"/>
          <a:lstStyle/>
          <a:p>
            <a:pPr algn="l" indent="0" marL="0">
              <a:lnSpc>
                <a:spcPct val="128000"/>
              </a:lnSpc>
              <a:buNone/>
            </a:pPr>
            <a:endParaRPr lang="en-US" sz="1100" dirty="0"/>
          </a:p>
        </p:txBody>
      </p:sp>
      <p:sp>
        <p:nvSpPr>
          <p:cNvPr id="22" name="Text 20"/>
          <p:cNvSpPr txBox="1"/>
          <p:nvPr/>
        </p:nvSpPr>
        <p:spPr>
          <a:xfrm>
            <a:off x="941832" y="5465445"/>
            <a:ext cx="4420923" cy="202565"/>
          </a:xfrm>
          <a:prstGeom prst="rect">
            <a:avLst/>
          </a:prstGeom>
          <a:noFill/>
          <a:ln/>
        </p:spPr>
        <p:txBody>
          <a:bodyPr wrap="none" lIns="0" tIns="0" rIns="0" bIns="0" rtlCol="0" anchor="t"/>
          <a:lstStyle/>
          <a:p>
            <a:pPr algn="l" indent="0" marL="0">
              <a:lnSpc>
                <a:spcPct val="128000"/>
              </a:lnSpc>
              <a:buNone/>
            </a:pPr>
            <a:r>
              <a:rPr lang="en-US" sz="1100" b="1" dirty="0">
                <a:solidFill>
                  <a:srgbClr val="EDE6DD"/>
                </a:solidFill>
                <a:latin typeface="Courier New" pitchFamily="34" charset="0"/>
                <a:ea typeface="Courier New" pitchFamily="34" charset="-122"/>
                <a:cs typeface="Courier New" pitchFamily="34" charset="-120"/>
              </a:rPr>
              <a:t>Where do reports get stored?</a:t>
            </a:r>
            <a:endParaRPr lang="en-US" sz="1100" dirty="0"/>
          </a:p>
        </p:txBody>
      </p:sp>
      <p:sp>
        <p:nvSpPr>
          <p:cNvPr id="23" name="Text 21"/>
          <p:cNvSpPr txBox="1"/>
          <p:nvPr/>
        </p:nvSpPr>
        <p:spPr>
          <a:xfrm>
            <a:off x="941832" y="5668010"/>
            <a:ext cx="4420923" cy="202565"/>
          </a:xfrm>
          <a:prstGeom prst="rect">
            <a:avLst/>
          </a:prstGeom>
          <a:noFill/>
          <a:ln/>
        </p:spPr>
        <p:txBody>
          <a:bodyPr wrap="none" lIns="0" tIns="0" rIns="0" bIns="0" rtlCol="0" anchor="t"/>
          <a:lstStyle/>
          <a:p>
            <a:pPr algn="l" indent="0" marL="0">
              <a:lnSpc>
                <a:spcPct val="128000"/>
              </a:lnSpc>
              <a:buNone/>
            </a:pPr>
            <a:r>
              <a:rPr lang="en-US" sz="1100" dirty="0">
                <a:solidFill>
                  <a:srgbClr val="EDE6DD"/>
                </a:solidFill>
                <a:latin typeface="Courier New" pitchFamily="34" charset="0"/>
                <a:ea typeface="Courier New" pitchFamily="34" charset="-122"/>
                <a:cs typeface="Courier New" pitchFamily="34" charset="-120"/>
              </a:rPr>
              <a:t>  1. A new reports table</a:t>
            </a:r>
            <a:endParaRPr lang="en-US" sz="1100" dirty="0"/>
          </a:p>
        </p:txBody>
      </p:sp>
      <p:sp>
        <p:nvSpPr>
          <p:cNvPr id="24" name="Text 22"/>
          <p:cNvSpPr txBox="1"/>
          <p:nvPr/>
        </p:nvSpPr>
        <p:spPr>
          <a:xfrm>
            <a:off x="941832" y="5870575"/>
            <a:ext cx="4420923" cy="202565"/>
          </a:xfrm>
          <a:prstGeom prst="rect">
            <a:avLst/>
          </a:prstGeom>
          <a:noFill/>
          <a:ln/>
        </p:spPr>
        <p:txBody>
          <a:bodyPr wrap="none" lIns="0" tIns="0" rIns="0" bIns="0" rtlCol="0" anchor="t"/>
          <a:lstStyle/>
          <a:p>
            <a:pPr algn="l" indent="0" marL="0">
              <a:lnSpc>
                <a:spcPct val="128000"/>
              </a:lnSpc>
              <a:buNone/>
            </a:pPr>
            <a:r>
              <a:rPr lang="en-US" sz="1100" dirty="0">
                <a:solidFill>
                  <a:srgbClr val="8FCB9B"/>
                </a:solidFill>
                <a:latin typeface="Courier New" pitchFamily="34" charset="0"/>
                <a:ea typeface="Courier New" pitchFamily="34" charset="-122"/>
                <a:cs typeface="Courier New" pitchFamily="34" charset="-120"/>
              </a:rPr>
              <a:t>❯ 2. Reuse reports + a saved flag</a:t>
            </a:r>
            <a:endParaRPr lang="en-US" sz="1100" dirty="0"/>
          </a:p>
        </p:txBody>
      </p:sp>
      <p:sp>
        <p:nvSpPr>
          <p:cNvPr id="25" name="Shape 23"/>
          <p:cNvSpPr/>
          <p:nvPr/>
        </p:nvSpPr>
        <p:spPr>
          <a:xfrm>
            <a:off x="5838243" y="2508504"/>
            <a:ext cx="384048" cy="384048"/>
          </a:xfrm>
          <a:prstGeom prst="ellipse">
            <a:avLst/>
          </a:prstGeom>
          <a:solidFill>
            <a:srgbClr val="C96442"/>
          </a:solidFill>
          <a:ln/>
        </p:spPr>
      </p:sp>
      <p:sp>
        <p:nvSpPr>
          <p:cNvPr id="26" name="Text 24"/>
          <p:cNvSpPr txBox="1"/>
          <p:nvPr/>
        </p:nvSpPr>
        <p:spPr>
          <a:xfrm>
            <a:off x="5838243" y="2508504"/>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7" name="Text 25"/>
          <p:cNvSpPr txBox="1"/>
          <p:nvPr/>
        </p:nvSpPr>
        <p:spPr>
          <a:xfrm>
            <a:off x="6405171" y="2508504"/>
            <a:ext cx="1784388" cy="520192"/>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Start with an idea</a:t>
            </a:r>
            <a:endParaRPr lang="en-US" sz="1600" dirty="0"/>
          </a:p>
        </p:txBody>
      </p:sp>
      <p:sp>
        <p:nvSpPr>
          <p:cNvPr id="28" name="Text 26"/>
          <p:cNvSpPr txBox="1"/>
          <p:nvPr/>
        </p:nvSpPr>
        <p:spPr>
          <a:xfrm>
            <a:off x="8409015" y="2508504"/>
            <a:ext cx="3005440" cy="455168"/>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A half-formed idea that needs some iteration.</a:t>
            </a:r>
            <a:endParaRPr lang="en-US" sz="1400" dirty="0"/>
          </a:p>
        </p:txBody>
      </p:sp>
      <p:sp>
        <p:nvSpPr>
          <p:cNvPr id="29" name="Shape 27"/>
          <p:cNvSpPr/>
          <p:nvPr/>
        </p:nvSpPr>
        <p:spPr>
          <a:xfrm>
            <a:off x="5838243" y="3129280"/>
            <a:ext cx="5576212" cy="12700"/>
          </a:xfrm>
          <a:prstGeom prst="rect">
            <a:avLst/>
          </a:prstGeom>
          <a:solidFill>
            <a:srgbClr val="E4DFD9"/>
          </a:solidFill>
          <a:ln/>
        </p:spPr>
      </p:sp>
      <p:sp>
        <p:nvSpPr>
          <p:cNvPr id="30" name="Shape 28"/>
          <p:cNvSpPr/>
          <p:nvPr/>
        </p:nvSpPr>
        <p:spPr>
          <a:xfrm>
            <a:off x="5838243" y="3229864"/>
            <a:ext cx="384048" cy="384048"/>
          </a:xfrm>
          <a:prstGeom prst="ellipse">
            <a:avLst/>
          </a:prstGeom>
          <a:solidFill>
            <a:srgbClr val="C96442"/>
          </a:solidFill>
          <a:ln/>
        </p:spPr>
      </p:sp>
      <p:sp>
        <p:nvSpPr>
          <p:cNvPr id="31" name="Text 29"/>
          <p:cNvSpPr txBox="1"/>
          <p:nvPr/>
        </p:nvSpPr>
        <p:spPr>
          <a:xfrm>
            <a:off x="5838243" y="3229864"/>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32" name="Text 30"/>
          <p:cNvSpPr txBox="1"/>
          <p:nvPr/>
        </p:nvSpPr>
        <p:spPr>
          <a:xfrm>
            <a:off x="6405171" y="3229864"/>
            <a:ext cx="1784388"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Claude Asks You</a:t>
            </a:r>
            <a:endParaRPr lang="en-US" sz="1600" dirty="0"/>
          </a:p>
        </p:txBody>
      </p:sp>
      <p:sp>
        <p:nvSpPr>
          <p:cNvPr id="33" name="Text 31"/>
          <p:cNvSpPr txBox="1"/>
          <p:nvPr/>
        </p:nvSpPr>
        <p:spPr>
          <a:xfrm>
            <a:off x="8409015" y="3229864"/>
            <a:ext cx="3005440" cy="682752"/>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What you actually mean, what is in and out of scope, what done looks like.</a:t>
            </a:r>
            <a:endParaRPr lang="en-US" sz="1400" dirty="0"/>
          </a:p>
        </p:txBody>
      </p:sp>
      <p:sp>
        <p:nvSpPr>
          <p:cNvPr id="34" name="Shape 32"/>
          <p:cNvSpPr/>
          <p:nvPr/>
        </p:nvSpPr>
        <p:spPr>
          <a:xfrm>
            <a:off x="5838243" y="4013200"/>
            <a:ext cx="5576212" cy="12700"/>
          </a:xfrm>
          <a:prstGeom prst="rect">
            <a:avLst/>
          </a:prstGeom>
          <a:solidFill>
            <a:srgbClr val="E4DFD9"/>
          </a:solidFill>
          <a:ln/>
        </p:spPr>
      </p:sp>
      <p:sp>
        <p:nvSpPr>
          <p:cNvPr id="35" name="Shape 33"/>
          <p:cNvSpPr/>
          <p:nvPr/>
        </p:nvSpPr>
        <p:spPr>
          <a:xfrm>
            <a:off x="5838243" y="4113784"/>
            <a:ext cx="384048" cy="384048"/>
          </a:xfrm>
          <a:prstGeom prst="ellipse">
            <a:avLst/>
          </a:prstGeom>
          <a:solidFill>
            <a:srgbClr val="C96442"/>
          </a:solidFill>
          <a:ln/>
        </p:spPr>
      </p:sp>
      <p:sp>
        <p:nvSpPr>
          <p:cNvPr id="36" name="Text 34"/>
          <p:cNvSpPr txBox="1"/>
          <p:nvPr/>
        </p:nvSpPr>
        <p:spPr>
          <a:xfrm>
            <a:off x="5838243" y="4113784"/>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37" name="Text 35"/>
          <p:cNvSpPr txBox="1"/>
          <p:nvPr/>
        </p:nvSpPr>
        <p:spPr>
          <a:xfrm>
            <a:off x="6405171" y="4113784"/>
            <a:ext cx="1784388"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End specific</a:t>
            </a:r>
            <a:endParaRPr lang="en-US" sz="1600" dirty="0"/>
          </a:p>
        </p:txBody>
      </p:sp>
      <p:sp>
        <p:nvSpPr>
          <p:cNvPr id="38" name="Text 36"/>
          <p:cNvSpPr txBox="1"/>
          <p:nvPr/>
        </p:nvSpPr>
        <p:spPr>
          <a:xfrm>
            <a:off x="8409015" y="4113784"/>
            <a:ext cx="3005440" cy="682752"/>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A fleshed-out plan, concrete enough to hand straight to plan mode.</a:t>
            </a:r>
            <a:endParaRPr lang="en-US" sz="1400" dirty="0"/>
          </a:p>
        </p:txBody>
      </p:sp>
      <p:sp>
        <p:nvSpPr>
          <p:cNvPr id="39" name="Shape 37"/>
          <p:cNvSpPr/>
          <p:nvPr/>
        </p:nvSpPr>
        <p:spPr>
          <a:xfrm>
            <a:off x="5838243" y="5363464"/>
            <a:ext cx="5576212" cy="978855"/>
          </a:xfrm>
          <a:prstGeom prst="roundRect">
            <a:avLst>
              <a:gd name="adj" fmla="val 8726"/>
            </a:avLst>
          </a:prstGeom>
          <a:solidFill>
            <a:srgbClr val="F6E7DE"/>
          </a:solidFill>
          <a:ln/>
        </p:spPr>
      </p:sp>
      <p:sp>
        <p:nvSpPr>
          <p:cNvPr id="40" name="Shape 38"/>
          <p:cNvSpPr/>
          <p:nvPr/>
        </p:nvSpPr>
        <p:spPr>
          <a:xfrm>
            <a:off x="6067574" y="5651724"/>
            <a:ext cx="402336" cy="402336"/>
          </a:xfrm>
          <a:prstGeom prst="ellipse">
            <a:avLst/>
          </a:prstGeom>
          <a:solidFill>
            <a:srgbClr val="C96442"/>
          </a:solidFill>
          <a:ln/>
        </p:spPr>
      </p:sp>
      <p:sp>
        <p:nvSpPr>
          <p:cNvPr id="41" name="Text 39"/>
          <p:cNvSpPr txBox="1"/>
          <p:nvPr/>
        </p:nvSpPr>
        <p:spPr>
          <a:xfrm>
            <a:off x="6067574" y="5651724"/>
            <a:ext cx="402336" cy="402336"/>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42" name="Text 40"/>
          <p:cNvSpPr txBox="1"/>
          <p:nvPr/>
        </p:nvSpPr>
        <p:spPr>
          <a:xfrm>
            <a:off x="6634502" y="5592796"/>
            <a:ext cx="4550621" cy="520192"/>
          </a:xfrm>
          <a:prstGeom prst="rect">
            <a:avLst/>
          </a:prstGeom>
          <a:noFill/>
          <a:ln/>
        </p:spPr>
        <p:txBody>
          <a:bodyPr wrap="square" lIns="0" tIns="0" rIns="0" bIns="0" rtlCol="0" anchor="t"/>
          <a:lstStyle/>
          <a:p>
            <a:pPr algn="l" indent="0" marL="0">
              <a:lnSpc>
                <a:spcPct val="128000"/>
              </a:lnSpc>
              <a:buNone/>
            </a:pPr>
            <a:r>
              <a:rPr lang="en-US" sz="1600" dirty="0">
                <a:solidFill>
                  <a:srgbClr val="2A2621"/>
                </a:solidFill>
                <a:latin typeface="Arial" pitchFamily="34" charset="0"/>
                <a:ea typeface="Arial" pitchFamily="34" charset="-122"/>
                <a:cs typeface="Arial" pitchFamily="34" charset="-120"/>
              </a:rPr>
              <a:t>The /brainstorming and /grill-me skills run this loop for you.</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869980"/>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07 · PRO-TIPS</a:t>
            </a:r>
            <a:endParaRPr lang="en-US" sz="1200" dirty="0"/>
          </a:p>
        </p:txBody>
      </p:sp>
      <p:sp>
        <p:nvSpPr>
          <p:cNvPr id="3" name="Text 1"/>
          <p:cNvSpPr txBox="1"/>
          <p:nvPr/>
        </p:nvSpPr>
        <p:spPr>
          <a:xfrm>
            <a:off x="777240" y="1153444"/>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Debug Loop</a:t>
            </a:r>
            <a:endParaRPr lang="en-US" sz="4000" dirty="0"/>
          </a:p>
        </p:txBody>
      </p:sp>
      <p:sp>
        <p:nvSpPr>
          <p:cNvPr id="4" name="Text 2"/>
          <p:cNvSpPr txBox="1"/>
          <p:nvPr/>
        </p:nvSpPr>
        <p:spPr>
          <a:xfrm>
            <a:off x="777240" y="2206020"/>
            <a:ext cx="8412480" cy="276352"/>
          </a:xfrm>
          <a:prstGeom prst="rect">
            <a:avLst/>
          </a:prstGeom>
          <a:noFill/>
          <a:ln/>
        </p:spPr>
        <p:txBody>
          <a:bodyPr wrap="square" lIns="0" tIns="0" rIns="0" bIns="0" rtlCol="0" anchor="t"/>
          <a:lstStyle/>
          <a:p>
            <a:pPr algn="l" indent="0" marL="0">
              <a:lnSpc>
                <a:spcPct val="128000"/>
              </a:lnSpc>
              <a:buNone/>
            </a:pPr>
            <a:r>
              <a:rPr lang="en-US" sz="1700" dirty="0">
                <a:solidFill>
                  <a:srgbClr val="6E675F"/>
                </a:solidFill>
                <a:latin typeface="Arial" pitchFamily="34" charset="0"/>
                <a:ea typeface="Arial" pitchFamily="34" charset="-122"/>
                <a:cs typeface="Arial" pitchFamily="34" charset="-120"/>
              </a:rPr>
              <a:t>A disciplined loop for hard bugs and performance regressions.</a:t>
            </a:r>
            <a:endParaRPr lang="en-US" sz="1700" dirty="0"/>
          </a:p>
        </p:txBody>
      </p:sp>
      <p:sp>
        <p:nvSpPr>
          <p:cNvPr id="5" name="Shape 3"/>
          <p:cNvSpPr/>
          <p:nvPr/>
        </p:nvSpPr>
        <p:spPr>
          <a:xfrm>
            <a:off x="777240" y="2720116"/>
            <a:ext cx="5163160" cy="1413764"/>
          </a:xfrm>
          <a:prstGeom prst="roundRect">
            <a:avLst>
              <a:gd name="adj" fmla="val 3347"/>
            </a:avLst>
          </a:prstGeom>
          <a:solidFill>
            <a:srgbClr val="1A1714"/>
          </a:solidFill>
          <a:ln/>
        </p:spPr>
      </p:sp>
      <p:sp>
        <p:nvSpPr>
          <p:cNvPr id="6" name="Shape 4"/>
          <p:cNvSpPr/>
          <p:nvPr/>
        </p:nvSpPr>
        <p:spPr>
          <a:xfrm>
            <a:off x="777240" y="2720116"/>
            <a:ext cx="5163160" cy="274320"/>
          </a:xfrm>
          <a:prstGeom prst="roundRect">
            <a:avLst>
              <a:gd name="adj" fmla="val 88889"/>
            </a:avLst>
          </a:prstGeom>
          <a:solidFill>
            <a:srgbClr val="332E28"/>
          </a:solidFill>
          <a:ln/>
        </p:spPr>
      </p:sp>
      <p:sp>
        <p:nvSpPr>
          <p:cNvPr id="7" name="Shape 5"/>
          <p:cNvSpPr/>
          <p:nvPr/>
        </p:nvSpPr>
        <p:spPr>
          <a:xfrm>
            <a:off x="777240" y="2921284"/>
            <a:ext cx="5163160" cy="73152"/>
          </a:xfrm>
          <a:prstGeom prst="rect">
            <a:avLst/>
          </a:prstGeom>
          <a:solidFill>
            <a:srgbClr val="332E28"/>
          </a:solidFill>
          <a:ln/>
        </p:spPr>
      </p:sp>
      <p:sp>
        <p:nvSpPr>
          <p:cNvPr id="8" name="Shape 6"/>
          <p:cNvSpPr/>
          <p:nvPr/>
        </p:nvSpPr>
        <p:spPr>
          <a:xfrm>
            <a:off x="905256" y="2816128"/>
            <a:ext cx="82296" cy="82296"/>
          </a:xfrm>
          <a:prstGeom prst="ellipse">
            <a:avLst/>
          </a:prstGeom>
          <a:solidFill>
            <a:srgbClr val="E8938A"/>
          </a:solidFill>
          <a:ln/>
        </p:spPr>
      </p:sp>
      <p:sp>
        <p:nvSpPr>
          <p:cNvPr id="9" name="Shape 7"/>
          <p:cNvSpPr/>
          <p:nvPr/>
        </p:nvSpPr>
        <p:spPr>
          <a:xfrm>
            <a:off x="1051560" y="2816128"/>
            <a:ext cx="82296" cy="82296"/>
          </a:xfrm>
          <a:prstGeom prst="ellipse">
            <a:avLst/>
          </a:prstGeom>
          <a:solidFill>
            <a:srgbClr val="9C948A"/>
          </a:solidFill>
          <a:ln/>
        </p:spPr>
      </p:sp>
      <p:sp>
        <p:nvSpPr>
          <p:cNvPr id="10" name="Shape 8"/>
          <p:cNvSpPr/>
          <p:nvPr/>
        </p:nvSpPr>
        <p:spPr>
          <a:xfrm>
            <a:off x="1197864" y="2816128"/>
            <a:ext cx="82296" cy="82296"/>
          </a:xfrm>
          <a:prstGeom prst="ellipse">
            <a:avLst/>
          </a:prstGeom>
          <a:solidFill>
            <a:srgbClr val="8FCB9B"/>
          </a:solidFill>
          <a:ln/>
        </p:spPr>
      </p:sp>
      <p:sp>
        <p:nvSpPr>
          <p:cNvPr id="11" name="Text 9"/>
          <p:cNvSpPr txBox="1"/>
          <p:nvPr/>
        </p:nvSpPr>
        <p:spPr>
          <a:xfrm>
            <a:off x="1380744" y="2747548"/>
            <a:ext cx="4431640" cy="219456"/>
          </a:xfrm>
          <a:prstGeom prst="rect">
            <a:avLst/>
          </a:prstGeom>
          <a:noFill/>
          <a:ln/>
        </p:spPr>
        <p:txBody>
          <a:bodyPr wrap="square" lIns="0" tIns="0" rIns="0" bIns="0" rtlCol="0" anchor="ctr"/>
          <a:lstStyle/>
          <a:p>
            <a:pPr algn="l" indent="0" marL="0">
              <a:lnSpc>
                <a:spcPct val="128000"/>
              </a:lnSpc>
              <a:buNone/>
            </a:pPr>
            <a:r>
              <a:rPr lang="en-US" sz="900" dirty="0">
                <a:solidFill>
                  <a:srgbClr val="9C948A"/>
                </a:solidFill>
                <a:latin typeface="Courier New" pitchFamily="34" charset="0"/>
                <a:ea typeface="Courier New" pitchFamily="34" charset="-122"/>
                <a:cs typeface="Courier New" pitchFamily="34" charset="-120"/>
              </a:rPr>
              <a:t>diagnose</a:t>
            </a:r>
            <a:endParaRPr lang="en-US" sz="900" dirty="0"/>
          </a:p>
        </p:txBody>
      </p:sp>
      <p:sp>
        <p:nvSpPr>
          <p:cNvPr id="12" name="Text 10"/>
          <p:cNvSpPr txBox="1"/>
          <p:nvPr/>
        </p:nvSpPr>
        <p:spPr>
          <a:xfrm>
            <a:off x="941832" y="3159028"/>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8FCB9B"/>
                </a:solidFill>
                <a:latin typeface="Courier New" pitchFamily="34" charset="0"/>
                <a:ea typeface="Courier New" pitchFamily="34" charset="-122"/>
                <a:cs typeface="Courier New" pitchFamily="34" charset="-120"/>
              </a:rPr>
              <a:t>/diagnose When I run</a:t>
            </a:r>
            <a:endParaRPr lang="en-US" sz="1100" dirty="0"/>
          </a:p>
        </p:txBody>
      </p:sp>
      <p:sp>
        <p:nvSpPr>
          <p:cNvPr id="13" name="Text 11"/>
          <p:cNvSpPr txBox="1"/>
          <p:nvPr/>
        </p:nvSpPr>
        <p:spPr>
          <a:xfrm>
            <a:off x="941832" y="3361593"/>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8FCB9B"/>
                </a:solidFill>
                <a:latin typeface="Courier New" pitchFamily="34" charset="0"/>
                <a:ea typeface="Courier New" pitchFamily="34" charset="-122"/>
                <a:cs typeface="Courier New" pitchFamily="34" charset="-120"/>
              </a:rPr>
              <a:t>&lt;insert_command&gt; I get this</a:t>
            </a:r>
            <a:endParaRPr lang="en-US" sz="1100" dirty="0"/>
          </a:p>
        </p:txBody>
      </p:sp>
      <p:sp>
        <p:nvSpPr>
          <p:cNvPr id="14" name="Text 12"/>
          <p:cNvSpPr txBox="1"/>
          <p:nvPr/>
        </p:nvSpPr>
        <p:spPr>
          <a:xfrm>
            <a:off x="941832" y="3564158"/>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8FCB9B"/>
                </a:solidFill>
                <a:latin typeface="Courier New" pitchFamily="34" charset="0"/>
                <a:ea typeface="Courier New" pitchFamily="34" charset="-122"/>
                <a:cs typeface="Courier New" pitchFamily="34" charset="-120"/>
              </a:rPr>
              <a:t>error &lt;error_log&gt; - list top</a:t>
            </a:r>
            <a:endParaRPr lang="en-US" sz="1100" dirty="0"/>
          </a:p>
        </p:txBody>
      </p:sp>
      <p:sp>
        <p:nvSpPr>
          <p:cNvPr id="15" name="Text 13"/>
          <p:cNvSpPr txBox="1"/>
          <p:nvPr/>
        </p:nvSpPr>
        <p:spPr>
          <a:xfrm>
            <a:off x="941832" y="3766723"/>
            <a:ext cx="4833976" cy="202565"/>
          </a:xfrm>
          <a:prstGeom prst="rect">
            <a:avLst/>
          </a:prstGeom>
          <a:noFill/>
          <a:ln/>
        </p:spPr>
        <p:txBody>
          <a:bodyPr wrap="none" lIns="0" tIns="0" rIns="0" bIns="0" rtlCol="0" anchor="t"/>
          <a:lstStyle/>
          <a:p>
            <a:pPr algn="l" indent="0" marL="0">
              <a:lnSpc>
                <a:spcPct val="128000"/>
              </a:lnSpc>
              <a:buNone/>
            </a:pPr>
            <a:r>
              <a:rPr lang="en-US" sz="1100" dirty="0">
                <a:solidFill>
                  <a:srgbClr val="8FCB9B"/>
                </a:solidFill>
                <a:latin typeface="Courier New" pitchFamily="34" charset="0"/>
                <a:ea typeface="Courier New" pitchFamily="34" charset="-122"/>
                <a:cs typeface="Courier New" pitchFamily="34" charset="-120"/>
              </a:rPr>
              <a:t>3 causes and suggest a fix</a:t>
            </a:r>
            <a:endParaRPr lang="en-US" sz="1100" dirty="0"/>
          </a:p>
        </p:txBody>
      </p:sp>
      <p:sp>
        <p:nvSpPr>
          <p:cNvPr id="16" name="Shape 14"/>
          <p:cNvSpPr/>
          <p:nvPr/>
        </p:nvSpPr>
        <p:spPr>
          <a:xfrm>
            <a:off x="6251296" y="2720116"/>
            <a:ext cx="384048" cy="384048"/>
          </a:xfrm>
          <a:prstGeom prst="ellipse">
            <a:avLst/>
          </a:prstGeom>
          <a:solidFill>
            <a:srgbClr val="C96442"/>
          </a:solidFill>
          <a:ln/>
        </p:spPr>
      </p:sp>
      <p:sp>
        <p:nvSpPr>
          <p:cNvPr id="17" name="Text 15"/>
          <p:cNvSpPr txBox="1"/>
          <p:nvPr/>
        </p:nvSpPr>
        <p:spPr>
          <a:xfrm>
            <a:off x="6251296" y="2720116"/>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8" name="Text 16"/>
          <p:cNvSpPr txBox="1"/>
          <p:nvPr/>
        </p:nvSpPr>
        <p:spPr>
          <a:xfrm>
            <a:off x="6818224" y="2720116"/>
            <a:ext cx="1652211" cy="520192"/>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Describe the Issue</a:t>
            </a:r>
            <a:endParaRPr lang="en-US" sz="1600" dirty="0"/>
          </a:p>
        </p:txBody>
      </p:sp>
      <p:sp>
        <p:nvSpPr>
          <p:cNvPr id="19" name="Text 17"/>
          <p:cNvSpPr txBox="1"/>
          <p:nvPr/>
        </p:nvSpPr>
        <p:spPr>
          <a:xfrm>
            <a:off x="8689891" y="2720116"/>
            <a:ext cx="2724565"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What you did, what broke.</a:t>
            </a:r>
            <a:endParaRPr lang="en-US" sz="1400" dirty="0"/>
          </a:p>
        </p:txBody>
      </p:sp>
      <p:sp>
        <p:nvSpPr>
          <p:cNvPr id="20" name="Shape 18"/>
          <p:cNvSpPr/>
          <p:nvPr/>
        </p:nvSpPr>
        <p:spPr>
          <a:xfrm>
            <a:off x="6251296" y="3340892"/>
            <a:ext cx="5163160" cy="12700"/>
          </a:xfrm>
          <a:prstGeom prst="rect">
            <a:avLst/>
          </a:prstGeom>
          <a:solidFill>
            <a:srgbClr val="E4DFD9"/>
          </a:solidFill>
          <a:ln/>
        </p:spPr>
      </p:sp>
      <p:sp>
        <p:nvSpPr>
          <p:cNvPr id="21" name="Shape 19"/>
          <p:cNvSpPr/>
          <p:nvPr/>
        </p:nvSpPr>
        <p:spPr>
          <a:xfrm>
            <a:off x="6251296" y="3441476"/>
            <a:ext cx="384048" cy="384048"/>
          </a:xfrm>
          <a:prstGeom prst="ellipse">
            <a:avLst/>
          </a:prstGeom>
          <a:solidFill>
            <a:srgbClr val="C96442"/>
          </a:solidFill>
          <a:ln/>
        </p:spPr>
      </p:sp>
      <p:sp>
        <p:nvSpPr>
          <p:cNvPr id="22" name="Text 20"/>
          <p:cNvSpPr txBox="1"/>
          <p:nvPr/>
        </p:nvSpPr>
        <p:spPr>
          <a:xfrm>
            <a:off x="6251296" y="3441476"/>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3" name="Text 21"/>
          <p:cNvSpPr txBox="1"/>
          <p:nvPr/>
        </p:nvSpPr>
        <p:spPr>
          <a:xfrm>
            <a:off x="6818224" y="3441476"/>
            <a:ext cx="1652211"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Paste a Log</a:t>
            </a:r>
            <a:endParaRPr lang="en-US" sz="1600" dirty="0"/>
          </a:p>
        </p:txBody>
      </p:sp>
      <p:sp>
        <p:nvSpPr>
          <p:cNvPr id="24" name="Text 22"/>
          <p:cNvSpPr txBox="1"/>
          <p:nvPr/>
        </p:nvSpPr>
        <p:spPr>
          <a:xfrm>
            <a:off x="8689891" y="3441476"/>
            <a:ext cx="2724565" cy="455168"/>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The real error text, not a summary.</a:t>
            </a:r>
            <a:endParaRPr lang="en-US" sz="1400" dirty="0"/>
          </a:p>
        </p:txBody>
      </p:sp>
      <p:sp>
        <p:nvSpPr>
          <p:cNvPr id="25" name="Shape 23"/>
          <p:cNvSpPr/>
          <p:nvPr/>
        </p:nvSpPr>
        <p:spPr>
          <a:xfrm>
            <a:off x="6251296" y="3997228"/>
            <a:ext cx="5163160" cy="12700"/>
          </a:xfrm>
          <a:prstGeom prst="rect">
            <a:avLst/>
          </a:prstGeom>
          <a:solidFill>
            <a:srgbClr val="E4DFD9"/>
          </a:solidFill>
          <a:ln/>
        </p:spPr>
      </p:sp>
      <p:sp>
        <p:nvSpPr>
          <p:cNvPr id="26" name="Shape 24"/>
          <p:cNvSpPr/>
          <p:nvPr/>
        </p:nvSpPr>
        <p:spPr>
          <a:xfrm>
            <a:off x="6251296" y="4097812"/>
            <a:ext cx="384048" cy="384048"/>
          </a:xfrm>
          <a:prstGeom prst="ellipse">
            <a:avLst/>
          </a:prstGeom>
          <a:solidFill>
            <a:srgbClr val="C96442"/>
          </a:solidFill>
          <a:ln/>
        </p:spPr>
      </p:sp>
      <p:sp>
        <p:nvSpPr>
          <p:cNvPr id="27" name="Text 25"/>
          <p:cNvSpPr txBox="1"/>
          <p:nvPr/>
        </p:nvSpPr>
        <p:spPr>
          <a:xfrm>
            <a:off x="6251296" y="4097812"/>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8" name="Text 26"/>
          <p:cNvSpPr txBox="1"/>
          <p:nvPr/>
        </p:nvSpPr>
        <p:spPr>
          <a:xfrm>
            <a:off x="6818224" y="4097812"/>
            <a:ext cx="1652211" cy="520192"/>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Expected vs Actual</a:t>
            </a:r>
            <a:endParaRPr lang="en-US" sz="1600" dirty="0"/>
          </a:p>
        </p:txBody>
      </p:sp>
      <p:sp>
        <p:nvSpPr>
          <p:cNvPr id="29" name="Text 27"/>
          <p:cNvSpPr txBox="1"/>
          <p:nvPr/>
        </p:nvSpPr>
        <p:spPr>
          <a:xfrm>
            <a:off x="8689891" y="4097812"/>
            <a:ext cx="2724565" cy="455168"/>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What should have happened, and what happened instead.</a:t>
            </a:r>
            <a:endParaRPr lang="en-US" sz="1400" dirty="0"/>
          </a:p>
        </p:txBody>
      </p:sp>
      <p:sp>
        <p:nvSpPr>
          <p:cNvPr id="30" name="Shape 28"/>
          <p:cNvSpPr/>
          <p:nvPr/>
        </p:nvSpPr>
        <p:spPr>
          <a:xfrm>
            <a:off x="777240" y="5184932"/>
            <a:ext cx="10637215" cy="1049975"/>
          </a:xfrm>
          <a:prstGeom prst="roundRect">
            <a:avLst>
              <a:gd name="adj" fmla="val 7584"/>
            </a:avLst>
          </a:prstGeom>
          <a:solidFill>
            <a:srgbClr val="F6E7DE"/>
          </a:solidFill>
          <a:ln/>
        </p:spPr>
      </p:sp>
      <p:sp>
        <p:nvSpPr>
          <p:cNvPr id="31" name="Shape 29"/>
          <p:cNvSpPr/>
          <p:nvPr/>
        </p:nvSpPr>
        <p:spPr>
          <a:xfrm>
            <a:off x="1006572" y="5508752"/>
            <a:ext cx="402336" cy="402336"/>
          </a:xfrm>
          <a:prstGeom prst="ellipse">
            <a:avLst/>
          </a:prstGeom>
          <a:solidFill>
            <a:srgbClr val="C96442"/>
          </a:solidFill>
          <a:ln/>
        </p:spPr>
      </p:sp>
      <p:sp>
        <p:nvSpPr>
          <p:cNvPr id="32" name="Text 30"/>
          <p:cNvSpPr txBox="1"/>
          <p:nvPr/>
        </p:nvSpPr>
        <p:spPr>
          <a:xfrm>
            <a:off x="1006572" y="5508752"/>
            <a:ext cx="402336" cy="402336"/>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33" name="Text 31"/>
          <p:cNvSpPr txBox="1"/>
          <p:nvPr/>
        </p:nvSpPr>
        <p:spPr>
          <a:xfrm>
            <a:off x="1573500" y="5414264"/>
            <a:ext cx="9611624" cy="276352"/>
          </a:xfrm>
          <a:prstGeom prst="rect">
            <a:avLst/>
          </a:prstGeom>
          <a:noFill/>
          <a:ln/>
        </p:spPr>
        <p:txBody>
          <a:bodyPr wrap="square" lIns="0" tIns="0" rIns="0" bIns="0" rtlCol="0" anchor="t"/>
          <a:lstStyle/>
          <a:p>
            <a:pPr algn="l" indent="0" marL="0">
              <a:lnSpc>
                <a:spcPct val="128000"/>
              </a:lnSpc>
              <a:buNone/>
            </a:pPr>
            <a:r>
              <a:rPr lang="en-US" sz="1700" b="1" dirty="0">
                <a:solidFill>
                  <a:srgbClr val="C96442"/>
                </a:solidFill>
                <a:latin typeface="Arial" pitchFamily="34" charset="0"/>
                <a:ea typeface="Arial" pitchFamily="34" charset="-122"/>
                <a:cs typeface="Arial" pitchFamily="34" charset="-120"/>
              </a:rPr>
              <a:t>/diagnose</a:t>
            </a:r>
            <a:endParaRPr lang="en-US" sz="1700" dirty="0"/>
          </a:p>
        </p:txBody>
      </p:sp>
      <p:sp>
        <p:nvSpPr>
          <p:cNvPr id="34" name="Text 32"/>
          <p:cNvSpPr txBox="1"/>
          <p:nvPr/>
        </p:nvSpPr>
        <p:spPr>
          <a:xfrm>
            <a:off x="1573500" y="5745480"/>
            <a:ext cx="9611624"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Great for troubleshooting bugs or cryptic errors.</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658368"/>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07 · PRO-TIPS</a:t>
            </a:r>
            <a:endParaRPr lang="en-US" sz="1200" dirty="0"/>
          </a:p>
        </p:txBody>
      </p:sp>
      <p:sp>
        <p:nvSpPr>
          <p:cNvPr id="3" name="Text 1"/>
          <p:cNvSpPr txBox="1"/>
          <p:nvPr/>
        </p:nvSpPr>
        <p:spPr>
          <a:xfrm>
            <a:off x="777240" y="941832"/>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2A2621"/>
                </a:solidFill>
                <a:latin typeface="Arial" pitchFamily="34" charset="0"/>
                <a:ea typeface="Arial" pitchFamily="34" charset="-122"/>
                <a:cs typeface="Arial" pitchFamily="34" charset="-120"/>
              </a:rPr>
              <a:t>Adversarial Review</a:t>
            </a:r>
            <a:endParaRPr lang="en-US" sz="4000" dirty="0"/>
          </a:p>
        </p:txBody>
      </p:sp>
      <p:sp>
        <p:nvSpPr>
          <p:cNvPr id="4" name="Text 2"/>
          <p:cNvSpPr txBox="1"/>
          <p:nvPr/>
        </p:nvSpPr>
        <p:spPr>
          <a:xfrm>
            <a:off x="777240" y="1994408"/>
            <a:ext cx="8412480" cy="552704"/>
          </a:xfrm>
          <a:prstGeom prst="rect">
            <a:avLst/>
          </a:prstGeom>
          <a:noFill/>
          <a:ln/>
        </p:spPr>
        <p:txBody>
          <a:bodyPr wrap="square" lIns="0" tIns="0" rIns="0" bIns="0" rtlCol="0" anchor="t"/>
          <a:lstStyle/>
          <a:p>
            <a:pPr algn="l" indent="0" marL="0">
              <a:lnSpc>
                <a:spcPct val="128000"/>
              </a:lnSpc>
              <a:buNone/>
            </a:pPr>
            <a:r>
              <a:rPr lang="en-US" sz="1700" dirty="0">
                <a:solidFill>
                  <a:srgbClr val="6E675F"/>
                </a:solidFill>
                <a:latin typeface="Arial" pitchFamily="34" charset="0"/>
                <a:ea typeface="Arial" pitchFamily="34" charset="-122"/>
                <a:cs typeface="Arial" pitchFamily="34" charset="-120"/>
              </a:rPr>
              <a:t>Normal review — getting a check-up with your primary doctor.</a:t>
            </a:r>
            <a:endParaRPr lang="en-US" sz="1700" dirty="0"/>
          </a:p>
          <a:p>
            <a:pPr algn="l" indent="0" marL="0">
              <a:lnSpc>
                <a:spcPct val="128000"/>
              </a:lnSpc>
              <a:buNone/>
            </a:pPr>
            <a:r>
              <a:rPr lang="en-US" sz="1700" dirty="0">
                <a:solidFill>
                  <a:srgbClr val="6E675F"/>
                </a:solidFill>
                <a:latin typeface="Arial" pitchFamily="34" charset="0"/>
                <a:ea typeface="Arial" pitchFamily="34" charset="-122"/>
                <a:cs typeface="Arial" pitchFamily="34" charset="-120"/>
              </a:rPr>
              <a:t>Adversarial review — getting a second opinion.</a:t>
            </a:r>
            <a:endParaRPr lang="en-US" sz="1700" dirty="0"/>
          </a:p>
        </p:txBody>
      </p:sp>
      <p:sp>
        <p:nvSpPr>
          <p:cNvPr id="5" name="Shape 3"/>
          <p:cNvSpPr/>
          <p:nvPr/>
        </p:nvSpPr>
        <p:spPr>
          <a:xfrm>
            <a:off x="777240" y="2784856"/>
            <a:ext cx="4337054" cy="1929384"/>
          </a:xfrm>
          <a:prstGeom prst="roundRect">
            <a:avLst>
              <a:gd name="adj" fmla="val 1797"/>
            </a:avLst>
          </a:prstGeom>
          <a:solidFill>
            <a:srgbClr val="1A1714"/>
          </a:solidFill>
          <a:ln/>
        </p:spPr>
      </p:sp>
      <p:sp>
        <p:nvSpPr>
          <p:cNvPr id="6" name="Shape 4"/>
          <p:cNvSpPr/>
          <p:nvPr/>
        </p:nvSpPr>
        <p:spPr>
          <a:xfrm>
            <a:off x="777240" y="2784856"/>
            <a:ext cx="4337054" cy="274320"/>
          </a:xfrm>
          <a:prstGeom prst="roundRect">
            <a:avLst>
              <a:gd name="adj" fmla="val 88889"/>
            </a:avLst>
          </a:prstGeom>
          <a:solidFill>
            <a:srgbClr val="332E28"/>
          </a:solidFill>
          <a:ln/>
        </p:spPr>
      </p:sp>
      <p:sp>
        <p:nvSpPr>
          <p:cNvPr id="7" name="Shape 5"/>
          <p:cNvSpPr/>
          <p:nvPr/>
        </p:nvSpPr>
        <p:spPr>
          <a:xfrm>
            <a:off x="777240" y="2986024"/>
            <a:ext cx="4337054" cy="73152"/>
          </a:xfrm>
          <a:prstGeom prst="rect">
            <a:avLst/>
          </a:prstGeom>
          <a:solidFill>
            <a:srgbClr val="332E28"/>
          </a:solidFill>
          <a:ln/>
        </p:spPr>
      </p:sp>
      <p:sp>
        <p:nvSpPr>
          <p:cNvPr id="8" name="Shape 6"/>
          <p:cNvSpPr/>
          <p:nvPr/>
        </p:nvSpPr>
        <p:spPr>
          <a:xfrm>
            <a:off x="905256" y="2880868"/>
            <a:ext cx="82296" cy="82296"/>
          </a:xfrm>
          <a:prstGeom prst="ellipse">
            <a:avLst/>
          </a:prstGeom>
          <a:solidFill>
            <a:srgbClr val="E8938A"/>
          </a:solidFill>
          <a:ln/>
        </p:spPr>
      </p:sp>
      <p:sp>
        <p:nvSpPr>
          <p:cNvPr id="9" name="Shape 7"/>
          <p:cNvSpPr/>
          <p:nvPr/>
        </p:nvSpPr>
        <p:spPr>
          <a:xfrm>
            <a:off x="1051560" y="2880868"/>
            <a:ext cx="82296" cy="82296"/>
          </a:xfrm>
          <a:prstGeom prst="ellipse">
            <a:avLst/>
          </a:prstGeom>
          <a:solidFill>
            <a:srgbClr val="9C948A"/>
          </a:solidFill>
          <a:ln/>
        </p:spPr>
      </p:sp>
      <p:sp>
        <p:nvSpPr>
          <p:cNvPr id="10" name="Shape 8"/>
          <p:cNvSpPr/>
          <p:nvPr/>
        </p:nvSpPr>
        <p:spPr>
          <a:xfrm>
            <a:off x="1197864" y="2880868"/>
            <a:ext cx="82296" cy="82296"/>
          </a:xfrm>
          <a:prstGeom prst="ellipse">
            <a:avLst/>
          </a:prstGeom>
          <a:solidFill>
            <a:srgbClr val="8FCB9B"/>
          </a:solidFill>
          <a:ln/>
        </p:spPr>
      </p:sp>
      <p:sp>
        <p:nvSpPr>
          <p:cNvPr id="11" name="Text 9"/>
          <p:cNvSpPr txBox="1"/>
          <p:nvPr/>
        </p:nvSpPr>
        <p:spPr>
          <a:xfrm>
            <a:off x="1380744" y="2812288"/>
            <a:ext cx="3605534" cy="219456"/>
          </a:xfrm>
          <a:prstGeom prst="rect">
            <a:avLst/>
          </a:prstGeom>
          <a:noFill/>
          <a:ln/>
        </p:spPr>
        <p:txBody>
          <a:bodyPr wrap="square" lIns="0" tIns="0" rIns="0" bIns="0" rtlCol="0" anchor="ctr"/>
          <a:lstStyle/>
          <a:p>
            <a:pPr algn="l" indent="0" marL="0">
              <a:lnSpc>
                <a:spcPct val="128000"/>
              </a:lnSpc>
              <a:buNone/>
            </a:pPr>
            <a:r>
              <a:rPr lang="en-US" sz="1000" dirty="0">
                <a:solidFill>
                  <a:srgbClr val="9C948A"/>
                </a:solidFill>
                <a:latin typeface="Courier New" pitchFamily="34" charset="0"/>
                <a:ea typeface="Courier New" pitchFamily="34" charset="-122"/>
                <a:cs typeface="Courier New" pitchFamily="34" charset="-120"/>
              </a:rPr>
              <a:t>adversarial review</a:t>
            </a:r>
            <a:endParaRPr lang="en-US" sz="1000" dirty="0"/>
          </a:p>
        </p:txBody>
      </p:sp>
      <p:sp>
        <p:nvSpPr>
          <p:cNvPr id="12" name="Text 10"/>
          <p:cNvSpPr txBox="1"/>
          <p:nvPr/>
        </p:nvSpPr>
        <p:spPr>
          <a:xfrm>
            <a:off x="941832" y="3223768"/>
            <a:ext cx="4007870" cy="220980"/>
          </a:xfrm>
          <a:prstGeom prst="rect">
            <a:avLst/>
          </a:prstGeom>
          <a:noFill/>
          <a:ln/>
        </p:spPr>
        <p:txBody>
          <a:bodyPr wrap="none" lIns="0" tIns="0" rIns="0" bIns="0" rtlCol="0" anchor="t"/>
          <a:lstStyle/>
          <a:p>
            <a:pPr algn="l" indent="0" marL="0">
              <a:lnSpc>
                <a:spcPct val="128000"/>
              </a:lnSpc>
              <a:buNone/>
            </a:pPr>
            <a:r>
              <a:rPr lang="en-US" sz="1200" dirty="0">
                <a:solidFill>
                  <a:srgbClr val="8FCB9B"/>
                </a:solidFill>
                <a:latin typeface="Courier New" pitchFamily="34" charset="0"/>
                <a:ea typeface="Courier New" pitchFamily="34" charset="-122"/>
                <a:cs typeface="Courier New" pitchFamily="34" charset="-120"/>
              </a:rPr>
              <a:t>Review @my-plan.md looking</a:t>
            </a:r>
            <a:endParaRPr lang="en-US" sz="1200" dirty="0"/>
          </a:p>
        </p:txBody>
      </p:sp>
      <p:sp>
        <p:nvSpPr>
          <p:cNvPr id="13" name="Text 11"/>
          <p:cNvSpPr txBox="1"/>
          <p:nvPr/>
        </p:nvSpPr>
        <p:spPr>
          <a:xfrm>
            <a:off x="941832" y="3444748"/>
            <a:ext cx="4007870" cy="220980"/>
          </a:xfrm>
          <a:prstGeom prst="rect">
            <a:avLst/>
          </a:prstGeom>
          <a:noFill/>
          <a:ln/>
        </p:spPr>
        <p:txBody>
          <a:bodyPr wrap="none" lIns="0" tIns="0" rIns="0" bIns="0" rtlCol="0" anchor="t"/>
          <a:lstStyle/>
          <a:p>
            <a:pPr algn="l" indent="0" marL="0">
              <a:lnSpc>
                <a:spcPct val="128000"/>
              </a:lnSpc>
              <a:buNone/>
            </a:pPr>
            <a:r>
              <a:rPr lang="en-US" sz="1200" dirty="0">
                <a:solidFill>
                  <a:srgbClr val="8FCB9B"/>
                </a:solidFill>
                <a:latin typeface="Courier New" pitchFamily="34" charset="0"/>
                <a:ea typeface="Courier New" pitchFamily="34" charset="-122"/>
                <a:cs typeface="Courier New" pitchFamily="34" charset="-120"/>
              </a:rPr>
              <a:t>for high-value criticism</a:t>
            </a:r>
            <a:endParaRPr lang="en-US" sz="1200" dirty="0"/>
          </a:p>
        </p:txBody>
      </p:sp>
      <p:sp>
        <p:nvSpPr>
          <p:cNvPr id="14" name="Text 12"/>
          <p:cNvSpPr txBox="1"/>
          <p:nvPr/>
        </p:nvSpPr>
        <p:spPr>
          <a:xfrm>
            <a:off x="941832" y="3665728"/>
            <a:ext cx="4007870" cy="220980"/>
          </a:xfrm>
          <a:prstGeom prst="rect">
            <a:avLst/>
          </a:prstGeom>
          <a:noFill/>
          <a:ln/>
        </p:spPr>
        <p:txBody>
          <a:bodyPr wrap="none" lIns="0" tIns="0" rIns="0" bIns="0" rtlCol="0" anchor="t"/>
          <a:lstStyle/>
          <a:p>
            <a:pPr algn="l" indent="0" marL="0">
              <a:lnSpc>
                <a:spcPct val="128000"/>
              </a:lnSpc>
              <a:buNone/>
            </a:pPr>
            <a:endParaRPr lang="en-US" sz="1200" dirty="0"/>
          </a:p>
        </p:txBody>
      </p:sp>
      <p:sp>
        <p:nvSpPr>
          <p:cNvPr id="15" name="Text 13"/>
          <p:cNvSpPr txBox="1"/>
          <p:nvPr/>
        </p:nvSpPr>
        <p:spPr>
          <a:xfrm>
            <a:off x="941832" y="3886708"/>
            <a:ext cx="4007870" cy="220980"/>
          </a:xfrm>
          <a:prstGeom prst="rect">
            <a:avLst/>
          </a:prstGeom>
          <a:noFill/>
          <a:ln/>
        </p:spPr>
        <p:txBody>
          <a:bodyPr wrap="none" lIns="0" tIns="0" rIns="0" bIns="0" rtlCol="0" anchor="t"/>
          <a:lstStyle/>
          <a:p>
            <a:pPr algn="l" indent="0" marL="0">
              <a:lnSpc>
                <a:spcPct val="128000"/>
              </a:lnSpc>
              <a:buNone/>
            </a:pPr>
            <a:r>
              <a:rPr lang="en-US" sz="1200" dirty="0">
                <a:solidFill>
                  <a:srgbClr val="9C948A"/>
                </a:solidFill>
                <a:latin typeface="Courier New" pitchFamily="34" charset="0"/>
                <a:ea typeface="Courier New" pitchFamily="34" charset="-122"/>
                <a:cs typeface="Courier New" pitchFamily="34" charset="-120"/>
              </a:rPr>
              <a:t>&gt; 3 assumptions that do not</a:t>
            </a:r>
            <a:endParaRPr lang="en-US" sz="1200" dirty="0"/>
          </a:p>
        </p:txBody>
      </p:sp>
      <p:sp>
        <p:nvSpPr>
          <p:cNvPr id="16" name="Text 14"/>
          <p:cNvSpPr txBox="1"/>
          <p:nvPr/>
        </p:nvSpPr>
        <p:spPr>
          <a:xfrm>
            <a:off x="941832" y="4107688"/>
            <a:ext cx="4007870" cy="220980"/>
          </a:xfrm>
          <a:prstGeom prst="rect">
            <a:avLst/>
          </a:prstGeom>
          <a:noFill/>
          <a:ln/>
        </p:spPr>
        <p:txBody>
          <a:bodyPr wrap="none" lIns="0" tIns="0" rIns="0" bIns="0" rtlCol="0" anchor="t"/>
          <a:lstStyle/>
          <a:p>
            <a:pPr algn="l" indent="0" marL="0">
              <a:lnSpc>
                <a:spcPct val="128000"/>
              </a:lnSpc>
              <a:buNone/>
            </a:pPr>
            <a:r>
              <a:rPr lang="en-US" sz="1200" dirty="0">
                <a:solidFill>
                  <a:srgbClr val="9C948A"/>
                </a:solidFill>
                <a:latin typeface="Courier New" pitchFamily="34" charset="0"/>
                <a:ea typeface="Courier New" pitchFamily="34" charset="-122"/>
                <a:cs typeface="Courier New" pitchFamily="34" charset="-120"/>
              </a:rPr>
              <a:t>&gt;   survive contact</a:t>
            </a:r>
            <a:endParaRPr lang="en-US" sz="1200" dirty="0"/>
          </a:p>
        </p:txBody>
      </p:sp>
      <p:sp>
        <p:nvSpPr>
          <p:cNvPr id="17" name="Text 15"/>
          <p:cNvSpPr txBox="1"/>
          <p:nvPr/>
        </p:nvSpPr>
        <p:spPr>
          <a:xfrm>
            <a:off x="941832" y="4328668"/>
            <a:ext cx="4007870" cy="220980"/>
          </a:xfrm>
          <a:prstGeom prst="rect">
            <a:avLst/>
          </a:prstGeom>
          <a:noFill/>
          <a:ln/>
        </p:spPr>
        <p:txBody>
          <a:bodyPr wrap="none" lIns="0" tIns="0" rIns="0" bIns="0" rtlCol="0" anchor="t"/>
          <a:lstStyle/>
          <a:p>
            <a:pPr algn="l" indent="0" marL="0">
              <a:lnSpc>
                <a:spcPct val="128000"/>
              </a:lnSpc>
              <a:buNone/>
            </a:pPr>
            <a:r>
              <a:rPr lang="en-US" sz="1200" dirty="0">
                <a:solidFill>
                  <a:srgbClr val="9C948A"/>
                </a:solidFill>
                <a:latin typeface="Courier New" pitchFamily="34" charset="0"/>
                <a:ea typeface="Courier New" pitchFamily="34" charset="-122"/>
                <a:cs typeface="Courier New" pitchFamily="34" charset="-120"/>
              </a:rPr>
              <a:t>&gt; 1 cheaper alternative</a:t>
            </a:r>
            <a:endParaRPr lang="en-US" sz="1200" dirty="0"/>
          </a:p>
        </p:txBody>
      </p:sp>
      <p:sp>
        <p:nvSpPr>
          <p:cNvPr id="18" name="Shape 16"/>
          <p:cNvSpPr/>
          <p:nvPr/>
        </p:nvSpPr>
        <p:spPr>
          <a:xfrm>
            <a:off x="5425190" y="2784856"/>
            <a:ext cx="384048" cy="384048"/>
          </a:xfrm>
          <a:prstGeom prst="ellipse">
            <a:avLst/>
          </a:prstGeom>
          <a:solidFill>
            <a:srgbClr val="C96442"/>
          </a:solidFill>
          <a:ln/>
        </p:spPr>
      </p:sp>
      <p:sp>
        <p:nvSpPr>
          <p:cNvPr id="19" name="Text 17"/>
          <p:cNvSpPr txBox="1"/>
          <p:nvPr/>
        </p:nvSpPr>
        <p:spPr>
          <a:xfrm>
            <a:off x="5425190" y="2784856"/>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0" name="Text 18"/>
          <p:cNvSpPr txBox="1"/>
          <p:nvPr/>
        </p:nvSpPr>
        <p:spPr>
          <a:xfrm>
            <a:off x="5992118" y="2784856"/>
            <a:ext cx="1916565"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Critical Eye</a:t>
            </a:r>
            <a:endParaRPr lang="en-US" sz="1600" dirty="0"/>
          </a:p>
        </p:txBody>
      </p:sp>
      <p:sp>
        <p:nvSpPr>
          <p:cNvPr id="21" name="Text 19"/>
          <p:cNvSpPr txBox="1"/>
          <p:nvPr/>
        </p:nvSpPr>
        <p:spPr>
          <a:xfrm>
            <a:off x="8128139" y="2784856"/>
            <a:ext cx="3286316"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Criticizes instead of agreeing.</a:t>
            </a:r>
            <a:endParaRPr lang="en-US" sz="1400" dirty="0"/>
          </a:p>
        </p:txBody>
      </p:sp>
      <p:sp>
        <p:nvSpPr>
          <p:cNvPr id="22" name="Shape 20"/>
          <p:cNvSpPr/>
          <p:nvPr/>
        </p:nvSpPr>
        <p:spPr>
          <a:xfrm>
            <a:off x="5425190" y="3269488"/>
            <a:ext cx="5989265" cy="12700"/>
          </a:xfrm>
          <a:prstGeom prst="rect">
            <a:avLst/>
          </a:prstGeom>
          <a:solidFill>
            <a:srgbClr val="E4DFD9"/>
          </a:solidFill>
          <a:ln/>
        </p:spPr>
      </p:sp>
      <p:sp>
        <p:nvSpPr>
          <p:cNvPr id="23" name="Shape 21"/>
          <p:cNvSpPr/>
          <p:nvPr/>
        </p:nvSpPr>
        <p:spPr>
          <a:xfrm>
            <a:off x="5425190" y="3370072"/>
            <a:ext cx="384048" cy="384048"/>
          </a:xfrm>
          <a:prstGeom prst="ellipse">
            <a:avLst/>
          </a:prstGeom>
          <a:solidFill>
            <a:srgbClr val="C96442"/>
          </a:solidFill>
          <a:ln/>
        </p:spPr>
      </p:sp>
      <p:sp>
        <p:nvSpPr>
          <p:cNvPr id="24" name="Text 22"/>
          <p:cNvSpPr txBox="1"/>
          <p:nvPr/>
        </p:nvSpPr>
        <p:spPr>
          <a:xfrm>
            <a:off x="5425190" y="3370072"/>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5" name="Text 23"/>
          <p:cNvSpPr txBox="1"/>
          <p:nvPr/>
        </p:nvSpPr>
        <p:spPr>
          <a:xfrm>
            <a:off x="5992118" y="3370072"/>
            <a:ext cx="1916565"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Fresh Perspective</a:t>
            </a:r>
            <a:endParaRPr lang="en-US" sz="1600" dirty="0"/>
          </a:p>
        </p:txBody>
      </p:sp>
      <p:sp>
        <p:nvSpPr>
          <p:cNvPr id="26" name="Text 24"/>
          <p:cNvSpPr txBox="1"/>
          <p:nvPr/>
        </p:nvSpPr>
        <p:spPr>
          <a:xfrm>
            <a:off x="8128139" y="3370072"/>
            <a:ext cx="3286316" cy="227584"/>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Approaches without prior knowledge.</a:t>
            </a:r>
            <a:endParaRPr lang="en-US" sz="1400" dirty="0"/>
          </a:p>
        </p:txBody>
      </p:sp>
      <p:sp>
        <p:nvSpPr>
          <p:cNvPr id="27" name="Shape 25"/>
          <p:cNvSpPr/>
          <p:nvPr/>
        </p:nvSpPr>
        <p:spPr>
          <a:xfrm>
            <a:off x="5425190" y="3854704"/>
            <a:ext cx="5989265" cy="12700"/>
          </a:xfrm>
          <a:prstGeom prst="rect">
            <a:avLst/>
          </a:prstGeom>
          <a:solidFill>
            <a:srgbClr val="E4DFD9"/>
          </a:solidFill>
          <a:ln/>
        </p:spPr>
      </p:sp>
      <p:sp>
        <p:nvSpPr>
          <p:cNvPr id="28" name="Shape 26"/>
          <p:cNvSpPr/>
          <p:nvPr/>
        </p:nvSpPr>
        <p:spPr>
          <a:xfrm>
            <a:off x="5425190" y="3955288"/>
            <a:ext cx="384048" cy="384048"/>
          </a:xfrm>
          <a:prstGeom prst="ellipse">
            <a:avLst/>
          </a:prstGeom>
          <a:solidFill>
            <a:srgbClr val="C96442"/>
          </a:solidFill>
          <a:ln/>
        </p:spPr>
      </p:sp>
      <p:sp>
        <p:nvSpPr>
          <p:cNvPr id="29" name="Text 27"/>
          <p:cNvSpPr txBox="1"/>
          <p:nvPr/>
        </p:nvSpPr>
        <p:spPr>
          <a:xfrm>
            <a:off x="5425190" y="3955288"/>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30" name="Text 28"/>
          <p:cNvSpPr txBox="1"/>
          <p:nvPr/>
        </p:nvSpPr>
        <p:spPr>
          <a:xfrm>
            <a:off x="5992118" y="3955288"/>
            <a:ext cx="1916565" cy="260096"/>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Reduces Bias</a:t>
            </a:r>
            <a:endParaRPr lang="en-US" sz="1600" dirty="0"/>
          </a:p>
        </p:txBody>
      </p:sp>
      <p:sp>
        <p:nvSpPr>
          <p:cNvPr id="31" name="Text 29"/>
          <p:cNvSpPr txBox="1"/>
          <p:nvPr/>
        </p:nvSpPr>
        <p:spPr>
          <a:xfrm>
            <a:off x="8128139" y="3955288"/>
            <a:ext cx="3286316" cy="455168"/>
          </a:xfrm>
          <a:prstGeom prst="rect">
            <a:avLst/>
          </a:prstGeom>
          <a:noFill/>
          <a:ln/>
        </p:spPr>
        <p:txBody>
          <a:bodyPr wrap="square" lIns="0" tIns="0" rIns="0" bIns="0" rtlCol="0" anchor="t"/>
          <a:lstStyle/>
          <a:p>
            <a:pPr algn="l" indent="0" marL="0">
              <a:lnSpc>
                <a:spcPct val="128000"/>
              </a:lnSpc>
              <a:buNone/>
            </a:pPr>
            <a:r>
              <a:rPr lang="en-US" sz="1400" dirty="0">
                <a:solidFill>
                  <a:srgbClr val="6E675F"/>
                </a:solidFill>
                <a:latin typeface="Arial" pitchFamily="34" charset="0"/>
                <a:ea typeface="Arial" pitchFamily="34" charset="-122"/>
                <a:cs typeface="Arial" pitchFamily="34" charset="-120"/>
              </a:rPr>
              <a:t>Sees outside the context of the original session.</a:t>
            </a:r>
            <a:endParaRPr lang="en-US" sz="1400" dirty="0"/>
          </a:p>
        </p:txBody>
      </p:sp>
      <p:sp>
        <p:nvSpPr>
          <p:cNvPr id="32" name="Shape 30"/>
          <p:cNvSpPr/>
          <p:nvPr/>
        </p:nvSpPr>
        <p:spPr>
          <a:xfrm>
            <a:off x="5425190" y="4977384"/>
            <a:ext cx="5989265" cy="1310071"/>
          </a:xfrm>
          <a:prstGeom prst="roundRect">
            <a:avLst>
              <a:gd name="adj" fmla="val 4872"/>
            </a:avLst>
          </a:prstGeom>
          <a:solidFill>
            <a:srgbClr val="F6E7DE"/>
          </a:solidFill>
          <a:ln/>
        </p:spPr>
      </p:sp>
      <p:sp>
        <p:nvSpPr>
          <p:cNvPr id="33" name="Shape 31"/>
          <p:cNvSpPr/>
          <p:nvPr/>
        </p:nvSpPr>
        <p:spPr>
          <a:xfrm>
            <a:off x="5654522" y="5431252"/>
            <a:ext cx="402336" cy="402336"/>
          </a:xfrm>
          <a:prstGeom prst="ellipse">
            <a:avLst/>
          </a:prstGeom>
          <a:solidFill>
            <a:srgbClr val="C96442"/>
          </a:solidFill>
          <a:ln/>
        </p:spPr>
      </p:sp>
      <p:sp>
        <p:nvSpPr>
          <p:cNvPr id="34" name="Text 32"/>
          <p:cNvSpPr txBox="1"/>
          <p:nvPr/>
        </p:nvSpPr>
        <p:spPr>
          <a:xfrm>
            <a:off x="5654522" y="5431252"/>
            <a:ext cx="402336" cy="402336"/>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35" name="Text 33"/>
          <p:cNvSpPr txBox="1"/>
          <p:nvPr/>
        </p:nvSpPr>
        <p:spPr>
          <a:xfrm>
            <a:off x="6221450" y="5206716"/>
            <a:ext cx="4963674" cy="276352"/>
          </a:xfrm>
          <a:prstGeom prst="rect">
            <a:avLst/>
          </a:prstGeom>
          <a:noFill/>
          <a:ln/>
        </p:spPr>
        <p:txBody>
          <a:bodyPr wrap="square" lIns="0" tIns="0" rIns="0" bIns="0" rtlCol="0" anchor="t"/>
          <a:lstStyle/>
          <a:p>
            <a:pPr algn="l" indent="0" marL="0">
              <a:lnSpc>
                <a:spcPct val="128000"/>
              </a:lnSpc>
              <a:buNone/>
            </a:pPr>
            <a:r>
              <a:rPr lang="en-US" sz="1700" b="1" dirty="0">
                <a:solidFill>
                  <a:srgbClr val="C96442"/>
                </a:solidFill>
                <a:latin typeface="Arial" pitchFamily="34" charset="0"/>
                <a:ea typeface="Arial" pitchFamily="34" charset="-122"/>
                <a:cs typeface="Arial" pitchFamily="34" charset="-120"/>
              </a:rPr>
              <a:t>/adversarial-review</a:t>
            </a:r>
            <a:endParaRPr lang="en-US" sz="1700" dirty="0"/>
          </a:p>
        </p:txBody>
      </p:sp>
      <p:sp>
        <p:nvSpPr>
          <p:cNvPr id="36" name="Text 34"/>
          <p:cNvSpPr txBox="1"/>
          <p:nvPr/>
        </p:nvSpPr>
        <p:spPr>
          <a:xfrm>
            <a:off x="6221450" y="5537932"/>
            <a:ext cx="4963674" cy="520192"/>
          </a:xfrm>
          <a:prstGeom prst="rect">
            <a:avLst/>
          </a:prstGeom>
          <a:noFill/>
          <a:ln/>
        </p:spPr>
        <p:txBody>
          <a:bodyPr wrap="square" lIns="0" tIns="0" rIns="0" bIns="0" rtlCol="0" anchor="t"/>
          <a:lstStyle/>
          <a:p>
            <a:pPr algn="l" indent="0" marL="0">
              <a:lnSpc>
                <a:spcPct val="128000"/>
              </a:lnSpc>
              <a:buNone/>
            </a:pPr>
            <a:r>
              <a:rPr lang="en-US" sz="1600" b="1" dirty="0">
                <a:solidFill>
                  <a:srgbClr val="2A2621"/>
                </a:solidFill>
                <a:latin typeface="Arial" pitchFamily="34" charset="0"/>
                <a:ea typeface="Arial" pitchFamily="34" charset="-122"/>
                <a:cs typeface="Arial" pitchFamily="34" charset="-120"/>
              </a:rPr>
              <a:t>Runs the second opinion for you, on a plan or a diff.</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6221E"/>
        </a:solidFill>
      </p:bgPr>
    </p:bg>
    <p:spTree>
      <p:nvGrpSpPr>
        <p:cNvPr id="1" name=""/>
        <p:cNvGrpSpPr/>
        <p:nvPr/>
      </p:nvGrpSpPr>
      <p:grpSpPr>
        <a:xfrm>
          <a:off x="0" y="0"/>
          <a:ext cx="0" cy="0"/>
          <a:chOff x="0" y="0"/>
          <a:chExt cx="0" cy="0"/>
        </a:xfrm>
      </p:grpSpPr>
      <p:sp>
        <p:nvSpPr>
          <p:cNvPr id="2" name="Text 0"/>
          <p:cNvSpPr txBox="1"/>
          <p:nvPr/>
        </p:nvSpPr>
        <p:spPr>
          <a:xfrm>
            <a:off x="868680" y="887252"/>
            <a:ext cx="1045433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THIS WEEK</a:t>
            </a:r>
            <a:endParaRPr lang="en-US" sz="1200" dirty="0"/>
          </a:p>
        </p:txBody>
      </p:sp>
      <p:sp>
        <p:nvSpPr>
          <p:cNvPr id="3" name="Text 1"/>
          <p:cNvSpPr txBox="1"/>
          <p:nvPr/>
        </p:nvSpPr>
        <p:spPr>
          <a:xfrm>
            <a:off x="868680" y="1170716"/>
            <a:ext cx="10454335" cy="617728"/>
          </a:xfrm>
          <a:prstGeom prst="rect">
            <a:avLst/>
          </a:prstGeom>
          <a:noFill/>
          <a:ln/>
        </p:spPr>
        <p:txBody>
          <a:bodyPr wrap="square" lIns="0" tIns="0" rIns="0" bIns="0" rtlCol="0" anchor="t"/>
          <a:lstStyle/>
          <a:p>
            <a:pPr algn="l" indent="0" marL="0">
              <a:lnSpc>
                <a:spcPct val="128000"/>
              </a:lnSpc>
              <a:buNone/>
            </a:pPr>
            <a:r>
              <a:rPr lang="en-US" sz="3800" b="1" dirty="0">
                <a:solidFill>
                  <a:srgbClr val="F2EDE6"/>
                </a:solidFill>
                <a:latin typeface="Arial" pitchFamily="34" charset="0"/>
                <a:ea typeface="Arial" pitchFamily="34" charset="-122"/>
                <a:cs typeface="Arial" pitchFamily="34" charset="-120"/>
              </a:rPr>
              <a:t>Three things to try</a:t>
            </a:r>
            <a:endParaRPr lang="en-US" sz="3800" dirty="0"/>
          </a:p>
        </p:txBody>
      </p:sp>
      <p:sp>
        <p:nvSpPr>
          <p:cNvPr id="4" name="Text 2"/>
          <p:cNvSpPr txBox="1"/>
          <p:nvPr/>
        </p:nvSpPr>
        <p:spPr>
          <a:xfrm>
            <a:off x="868680" y="1788444"/>
            <a:ext cx="10454335" cy="617728"/>
          </a:xfrm>
          <a:prstGeom prst="rect">
            <a:avLst/>
          </a:prstGeom>
          <a:noFill/>
          <a:ln/>
        </p:spPr>
        <p:txBody>
          <a:bodyPr wrap="square" lIns="0" tIns="0" rIns="0" bIns="0" rtlCol="0" anchor="t"/>
          <a:lstStyle/>
          <a:p>
            <a:pPr algn="l" indent="0" marL="0">
              <a:lnSpc>
                <a:spcPct val="128000"/>
              </a:lnSpc>
              <a:buNone/>
            </a:pPr>
            <a:r>
              <a:rPr lang="en-US" sz="3800" b="1" dirty="0">
                <a:solidFill>
                  <a:srgbClr val="C96442"/>
                </a:solidFill>
                <a:latin typeface="Arial" pitchFamily="34" charset="0"/>
                <a:ea typeface="Arial" pitchFamily="34" charset="-122"/>
                <a:cs typeface="Arial" pitchFamily="34" charset="-120"/>
              </a:rPr>
              <a:t>before Friday</a:t>
            </a:r>
            <a:endParaRPr lang="en-US" sz="3800" dirty="0"/>
          </a:p>
        </p:txBody>
      </p:sp>
      <p:sp>
        <p:nvSpPr>
          <p:cNvPr id="5" name="Shape 3"/>
          <p:cNvSpPr/>
          <p:nvPr/>
        </p:nvSpPr>
        <p:spPr>
          <a:xfrm>
            <a:off x="868680" y="2808508"/>
            <a:ext cx="384048" cy="384048"/>
          </a:xfrm>
          <a:prstGeom prst="ellipse">
            <a:avLst/>
          </a:prstGeom>
          <a:ln w="17780">
            <a:solidFill>
              <a:srgbClr val="C96442"/>
            </a:solidFill>
            <a:prstDash val="solid"/>
          </a:ln>
        </p:spPr>
      </p:sp>
      <p:sp>
        <p:nvSpPr>
          <p:cNvPr id="6" name="Text 4"/>
          <p:cNvSpPr txBox="1"/>
          <p:nvPr/>
        </p:nvSpPr>
        <p:spPr>
          <a:xfrm>
            <a:off x="868680" y="2808508"/>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C96442"/>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1472184" y="2833299"/>
            <a:ext cx="9850831" cy="260096"/>
          </a:xfrm>
          <a:prstGeom prst="rect">
            <a:avLst/>
          </a:prstGeom>
          <a:noFill/>
          <a:ln/>
        </p:spPr>
        <p:txBody>
          <a:bodyPr wrap="square" lIns="0" tIns="0" rIns="0" bIns="0" rtlCol="0" anchor="t"/>
          <a:lstStyle/>
          <a:p>
            <a:pPr algn="l" indent="0" marL="0">
              <a:lnSpc>
                <a:spcPct val="128000"/>
              </a:lnSpc>
              <a:buNone/>
            </a:pPr>
            <a:r>
              <a:rPr lang="en-US" sz="1600" dirty="0">
                <a:solidFill>
                  <a:srgbClr val="F2EDE6"/>
                </a:solidFill>
                <a:latin typeface="Arial" pitchFamily="34" charset="0"/>
                <a:ea typeface="Arial" pitchFamily="34" charset="-122"/>
                <a:cs typeface="Arial" pitchFamily="34" charset="-120"/>
              </a:rPr>
              <a:t>Use /context to inspect your context mid-session</a:t>
            </a:r>
            <a:endParaRPr lang="en-US" sz="1600" dirty="0"/>
          </a:p>
        </p:txBody>
      </p:sp>
      <p:sp>
        <p:nvSpPr>
          <p:cNvPr id="8" name="Shape 6"/>
          <p:cNvSpPr/>
          <p:nvPr/>
        </p:nvSpPr>
        <p:spPr>
          <a:xfrm>
            <a:off x="868680" y="3558316"/>
            <a:ext cx="384048" cy="384048"/>
          </a:xfrm>
          <a:prstGeom prst="ellipse">
            <a:avLst/>
          </a:prstGeom>
          <a:ln w="17780">
            <a:solidFill>
              <a:srgbClr val="C96442"/>
            </a:solidFill>
            <a:prstDash val="solid"/>
          </a:ln>
        </p:spPr>
      </p:sp>
      <p:sp>
        <p:nvSpPr>
          <p:cNvPr id="9" name="Text 7"/>
          <p:cNvSpPr txBox="1"/>
          <p:nvPr/>
        </p:nvSpPr>
        <p:spPr>
          <a:xfrm>
            <a:off x="868680" y="3558316"/>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C96442"/>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472184" y="3583107"/>
            <a:ext cx="9850831" cy="260096"/>
          </a:xfrm>
          <a:prstGeom prst="rect">
            <a:avLst/>
          </a:prstGeom>
          <a:noFill/>
          <a:ln/>
        </p:spPr>
        <p:txBody>
          <a:bodyPr wrap="square" lIns="0" tIns="0" rIns="0" bIns="0" rtlCol="0" anchor="t"/>
          <a:lstStyle/>
          <a:p>
            <a:pPr algn="l" indent="0" marL="0">
              <a:lnSpc>
                <a:spcPct val="128000"/>
              </a:lnSpc>
              <a:buNone/>
            </a:pPr>
            <a:r>
              <a:rPr lang="en-US" sz="1600" dirty="0">
                <a:solidFill>
                  <a:srgbClr val="F2EDE6"/>
                </a:solidFill>
                <a:latin typeface="Arial" pitchFamily="34" charset="0"/>
                <a:ea typeface="Arial" pitchFamily="34" charset="-122"/>
                <a:cs typeface="Arial" pitchFamily="34" charset="-120"/>
              </a:rPr>
              <a:t>Use plan mode on your next non-trivial task</a:t>
            </a:r>
            <a:endParaRPr lang="en-US" sz="1600" dirty="0"/>
          </a:p>
        </p:txBody>
      </p:sp>
      <p:sp>
        <p:nvSpPr>
          <p:cNvPr id="11" name="Shape 9"/>
          <p:cNvSpPr/>
          <p:nvPr/>
        </p:nvSpPr>
        <p:spPr>
          <a:xfrm>
            <a:off x="868680" y="4308124"/>
            <a:ext cx="384048" cy="384048"/>
          </a:xfrm>
          <a:prstGeom prst="ellipse">
            <a:avLst/>
          </a:prstGeom>
          <a:ln w="17780">
            <a:solidFill>
              <a:srgbClr val="C96442"/>
            </a:solidFill>
            <a:prstDash val="solid"/>
          </a:ln>
        </p:spPr>
      </p:sp>
      <p:sp>
        <p:nvSpPr>
          <p:cNvPr id="12" name="Text 10"/>
          <p:cNvSpPr txBox="1"/>
          <p:nvPr/>
        </p:nvSpPr>
        <p:spPr>
          <a:xfrm>
            <a:off x="868680" y="4308124"/>
            <a:ext cx="384048" cy="384048"/>
          </a:xfrm>
          <a:prstGeom prst="rect">
            <a:avLst/>
          </a:prstGeom>
          <a:noFill/>
          <a:ln/>
        </p:spPr>
        <p:txBody>
          <a:bodyPr wrap="square" lIns="0" tIns="0" rIns="0" bIns="0" rtlCol="0" anchor="ctr"/>
          <a:lstStyle/>
          <a:p>
            <a:pPr algn="ctr" indent="0" marL="0">
              <a:lnSpc>
                <a:spcPct val="128000"/>
              </a:lnSpc>
              <a:buNone/>
            </a:pPr>
            <a:r>
              <a:rPr lang="en-US" sz="1500" b="1" dirty="0">
                <a:solidFill>
                  <a:srgbClr val="C96442"/>
                </a:solidFill>
                <a:latin typeface="Arial" pitchFamily="34" charset="0"/>
                <a:ea typeface="Arial" pitchFamily="34" charset="-122"/>
                <a:cs typeface="Arial" pitchFamily="34" charset="-120"/>
              </a:rPr>
              <a:t>3</a:t>
            </a:r>
            <a:endParaRPr lang="en-US" sz="1600" dirty="0"/>
          </a:p>
        </p:txBody>
      </p:sp>
      <p:sp>
        <p:nvSpPr>
          <p:cNvPr id="13" name="Text 11"/>
          <p:cNvSpPr txBox="1"/>
          <p:nvPr/>
        </p:nvSpPr>
        <p:spPr>
          <a:xfrm>
            <a:off x="1472184" y="4332915"/>
            <a:ext cx="9850831" cy="260096"/>
          </a:xfrm>
          <a:prstGeom prst="rect">
            <a:avLst/>
          </a:prstGeom>
          <a:noFill/>
          <a:ln/>
        </p:spPr>
        <p:txBody>
          <a:bodyPr wrap="square" lIns="0" tIns="0" rIns="0" bIns="0" rtlCol="0" anchor="t"/>
          <a:lstStyle/>
          <a:p>
            <a:pPr algn="l" indent="0" marL="0">
              <a:lnSpc>
                <a:spcPct val="128000"/>
              </a:lnSpc>
              <a:buNone/>
            </a:pPr>
            <a:r>
              <a:rPr lang="en-US" sz="1600" dirty="0">
                <a:solidFill>
                  <a:srgbClr val="F2EDE6"/>
                </a:solidFill>
                <a:latin typeface="Arial" pitchFamily="34" charset="0"/>
                <a:ea typeface="Arial" pitchFamily="34" charset="-122"/>
                <a:cs typeface="Arial" pitchFamily="34" charset="-120"/>
              </a:rPr>
              <a:t>Rewind instead of re-prompting, at least once</a:t>
            </a:r>
            <a:endParaRPr lang="en-US" sz="1600" dirty="0"/>
          </a:p>
        </p:txBody>
      </p:sp>
      <p:sp>
        <p:nvSpPr>
          <p:cNvPr id="14" name="Shape 12"/>
          <p:cNvSpPr/>
          <p:nvPr/>
        </p:nvSpPr>
        <p:spPr>
          <a:xfrm>
            <a:off x="868680" y="5240812"/>
            <a:ext cx="10454335" cy="1049975"/>
          </a:xfrm>
          <a:prstGeom prst="roundRect">
            <a:avLst>
              <a:gd name="adj" fmla="val 7584"/>
            </a:avLst>
          </a:prstGeom>
          <a:solidFill>
            <a:srgbClr val="332E28"/>
          </a:solidFill>
          <a:ln/>
        </p:spPr>
      </p:sp>
      <p:sp>
        <p:nvSpPr>
          <p:cNvPr id="15" name="Shape 13"/>
          <p:cNvSpPr/>
          <p:nvPr/>
        </p:nvSpPr>
        <p:spPr>
          <a:xfrm>
            <a:off x="1098012" y="5564632"/>
            <a:ext cx="402336" cy="402336"/>
          </a:xfrm>
          <a:prstGeom prst="ellipse">
            <a:avLst/>
          </a:prstGeom>
          <a:solidFill>
            <a:srgbClr val="C96442"/>
          </a:solidFill>
          <a:ln/>
        </p:spPr>
      </p:sp>
      <p:sp>
        <p:nvSpPr>
          <p:cNvPr id="16" name="Text 14"/>
          <p:cNvSpPr txBox="1"/>
          <p:nvPr/>
        </p:nvSpPr>
        <p:spPr>
          <a:xfrm>
            <a:off x="1098012" y="5564632"/>
            <a:ext cx="402336" cy="402336"/>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7" name="Text 15"/>
          <p:cNvSpPr txBox="1"/>
          <p:nvPr/>
        </p:nvSpPr>
        <p:spPr>
          <a:xfrm>
            <a:off x="1664940" y="5470144"/>
            <a:ext cx="9428744" cy="276352"/>
          </a:xfrm>
          <a:prstGeom prst="rect">
            <a:avLst/>
          </a:prstGeom>
          <a:noFill/>
          <a:ln/>
        </p:spPr>
        <p:txBody>
          <a:bodyPr wrap="square" lIns="0" tIns="0" rIns="0" bIns="0" rtlCol="0" anchor="t"/>
          <a:lstStyle/>
          <a:p>
            <a:pPr algn="l" indent="0" marL="0">
              <a:lnSpc>
                <a:spcPct val="128000"/>
              </a:lnSpc>
              <a:buNone/>
            </a:pPr>
            <a:r>
              <a:rPr lang="en-US" sz="1700" b="1" dirty="0">
                <a:solidFill>
                  <a:srgbClr val="F2EDE6"/>
                </a:solidFill>
                <a:latin typeface="Arial" pitchFamily="34" charset="0"/>
                <a:ea typeface="Arial" pitchFamily="34" charset="-122"/>
                <a:cs typeface="Arial" pitchFamily="34" charset="-120"/>
              </a:rPr>
              <a:t>The context window is the whole game.</a:t>
            </a:r>
            <a:endParaRPr lang="en-US" sz="1700" dirty="0"/>
          </a:p>
        </p:txBody>
      </p:sp>
      <p:sp>
        <p:nvSpPr>
          <p:cNvPr id="18" name="Text 16"/>
          <p:cNvSpPr txBox="1"/>
          <p:nvPr/>
        </p:nvSpPr>
        <p:spPr>
          <a:xfrm>
            <a:off x="1664940" y="5801360"/>
            <a:ext cx="9428744" cy="260096"/>
          </a:xfrm>
          <a:prstGeom prst="rect">
            <a:avLst/>
          </a:prstGeom>
          <a:noFill/>
          <a:ln/>
        </p:spPr>
        <p:txBody>
          <a:bodyPr wrap="square" lIns="0" tIns="0" rIns="0" bIns="0" rtlCol="0" anchor="t"/>
          <a:lstStyle/>
          <a:p>
            <a:pPr algn="l" indent="0" marL="0">
              <a:lnSpc>
                <a:spcPct val="128000"/>
              </a:lnSpc>
              <a:buNone/>
            </a:pPr>
            <a:r>
              <a:rPr lang="en-US" sz="1600" b="1" dirty="0">
                <a:solidFill>
                  <a:srgbClr val="F2EDE6"/>
                </a:solidFill>
                <a:latin typeface="Arial" pitchFamily="34" charset="0"/>
                <a:ea typeface="Arial" pitchFamily="34" charset="-122"/>
                <a:cs typeface="Arial" pitchFamily="34" charset="-120"/>
              </a:rPr>
              <a:t>Every habit here is a decision about what Claude is carrying right now.</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26221E"/>
        </a:solidFill>
      </p:bgPr>
    </p:bg>
    <p:spTree>
      <p:nvGrpSpPr>
        <p:cNvPr id="1" name=""/>
        <p:cNvGrpSpPr/>
        <p:nvPr/>
      </p:nvGrpSpPr>
      <p:grpSpPr>
        <a:xfrm>
          <a:off x="0" y="0"/>
          <a:ext cx="0" cy="0"/>
          <a:chOff x="0" y="0"/>
          <a:chExt cx="0" cy="0"/>
        </a:xfrm>
      </p:grpSpPr>
      <p:sp>
        <p:nvSpPr>
          <p:cNvPr id="2" name="Text 0"/>
          <p:cNvSpPr txBox="1"/>
          <p:nvPr/>
        </p:nvSpPr>
        <p:spPr>
          <a:xfrm>
            <a:off x="777240" y="658368"/>
            <a:ext cx="10637215" cy="228600"/>
          </a:xfrm>
          <a:prstGeom prst="rect">
            <a:avLst/>
          </a:prstGeom>
          <a:noFill/>
          <a:ln/>
        </p:spPr>
        <p:txBody>
          <a:bodyPr wrap="square" lIns="0" tIns="0" rIns="0" bIns="0" rtlCol="0" anchor="t"/>
          <a:lstStyle/>
          <a:p>
            <a:pPr algn="l" indent="0" marL="0">
              <a:lnSpc>
                <a:spcPct val="128000"/>
              </a:lnSpc>
              <a:buNone/>
            </a:pPr>
            <a:r>
              <a:rPr lang="en-US" sz="1200" b="1" spc="96" kern="0" dirty="0">
                <a:solidFill>
                  <a:srgbClr val="C96442"/>
                </a:solidFill>
                <a:latin typeface="Arial" pitchFamily="34" charset="0"/>
                <a:ea typeface="Arial" pitchFamily="34" charset="-122"/>
                <a:cs typeface="Arial" pitchFamily="34" charset="-120"/>
              </a:rPr>
              <a:t>NEXT STEPS</a:t>
            </a:r>
            <a:endParaRPr lang="en-US" sz="1200" dirty="0"/>
          </a:p>
        </p:txBody>
      </p:sp>
      <p:sp>
        <p:nvSpPr>
          <p:cNvPr id="3" name="Text 1"/>
          <p:cNvSpPr txBox="1"/>
          <p:nvPr/>
        </p:nvSpPr>
        <p:spPr>
          <a:xfrm>
            <a:off x="777240" y="941832"/>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F2EDE6"/>
                </a:solidFill>
                <a:latin typeface="Arial" pitchFamily="34" charset="0"/>
                <a:ea typeface="Arial" pitchFamily="34" charset="-122"/>
                <a:cs typeface="Arial" pitchFamily="34" charset="-120"/>
              </a:rPr>
              <a:t>Want to</a:t>
            </a:r>
            <a:endParaRPr lang="en-US" sz="4000" dirty="0"/>
          </a:p>
        </p:txBody>
      </p:sp>
      <p:sp>
        <p:nvSpPr>
          <p:cNvPr id="4" name="Text 2"/>
          <p:cNvSpPr txBox="1"/>
          <p:nvPr/>
        </p:nvSpPr>
        <p:spPr>
          <a:xfrm>
            <a:off x="777240" y="1592072"/>
            <a:ext cx="10637215" cy="650240"/>
          </a:xfrm>
          <a:prstGeom prst="rect">
            <a:avLst/>
          </a:prstGeom>
          <a:noFill/>
          <a:ln/>
        </p:spPr>
        <p:txBody>
          <a:bodyPr wrap="square" lIns="0" tIns="0" rIns="0" bIns="0" rtlCol="0" anchor="t"/>
          <a:lstStyle/>
          <a:p>
            <a:pPr algn="l" indent="0" marL="0">
              <a:lnSpc>
                <a:spcPct val="128000"/>
              </a:lnSpc>
              <a:buNone/>
            </a:pPr>
            <a:r>
              <a:rPr lang="en-US" sz="4000" b="1" dirty="0">
                <a:solidFill>
                  <a:srgbClr val="C96442"/>
                </a:solidFill>
                <a:latin typeface="Arial" pitchFamily="34" charset="0"/>
                <a:ea typeface="Arial" pitchFamily="34" charset="-122"/>
                <a:cs typeface="Arial" pitchFamily="34" charset="-120"/>
              </a:rPr>
              <a:t>go deeper?</a:t>
            </a:r>
            <a:endParaRPr lang="en-US" sz="4000" dirty="0"/>
          </a:p>
        </p:txBody>
      </p:sp>
      <p:sp>
        <p:nvSpPr>
          <p:cNvPr id="5" name="Shape 3"/>
          <p:cNvSpPr/>
          <p:nvPr/>
        </p:nvSpPr>
        <p:spPr>
          <a:xfrm>
            <a:off x="777240" y="2644648"/>
            <a:ext cx="10637215" cy="1049975"/>
          </a:xfrm>
          <a:prstGeom prst="roundRect">
            <a:avLst>
              <a:gd name="adj" fmla="val 7584"/>
            </a:avLst>
          </a:prstGeom>
          <a:solidFill>
            <a:srgbClr val="332E28"/>
          </a:solidFill>
          <a:ln/>
        </p:spPr>
      </p:sp>
      <p:sp>
        <p:nvSpPr>
          <p:cNvPr id="6" name="Shape 4"/>
          <p:cNvSpPr/>
          <p:nvPr/>
        </p:nvSpPr>
        <p:spPr>
          <a:xfrm>
            <a:off x="1006572" y="2968468"/>
            <a:ext cx="402336" cy="402336"/>
          </a:xfrm>
          <a:prstGeom prst="ellipse">
            <a:avLst/>
          </a:prstGeom>
          <a:solidFill>
            <a:srgbClr val="C96442"/>
          </a:solidFill>
          <a:ln/>
        </p:spPr>
      </p:sp>
      <p:sp>
        <p:nvSpPr>
          <p:cNvPr id="7" name="Text 5"/>
          <p:cNvSpPr txBox="1"/>
          <p:nvPr/>
        </p:nvSpPr>
        <p:spPr>
          <a:xfrm>
            <a:off x="1006572" y="2968468"/>
            <a:ext cx="402336" cy="402336"/>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8" name="Text 6"/>
          <p:cNvSpPr txBox="1"/>
          <p:nvPr/>
        </p:nvSpPr>
        <p:spPr>
          <a:xfrm>
            <a:off x="1573500" y="2873980"/>
            <a:ext cx="9611624" cy="276352"/>
          </a:xfrm>
          <a:prstGeom prst="rect">
            <a:avLst/>
          </a:prstGeom>
          <a:noFill/>
          <a:ln/>
        </p:spPr>
        <p:txBody>
          <a:bodyPr wrap="square" lIns="0" tIns="0" rIns="0" bIns="0" rtlCol="0" anchor="t"/>
          <a:lstStyle/>
          <a:p>
            <a:pPr algn="l" indent="0" marL="0">
              <a:lnSpc>
                <a:spcPct val="128000"/>
              </a:lnSpc>
              <a:buNone/>
            </a:pPr>
            <a:r>
              <a:rPr lang="en-US" sz="1700" b="1" dirty="0">
                <a:solidFill>
                  <a:srgbClr val="F2EDE6"/>
                </a:solidFill>
                <a:latin typeface="Arial" pitchFamily="34" charset="0"/>
                <a:ea typeface="Arial" pitchFamily="34" charset="-122"/>
                <a:cs typeface="Arial" pitchFamily="34" charset="-120"/>
              </a:rPr>
              <a:t>Book a 1:1</a:t>
            </a:r>
            <a:endParaRPr lang="en-US" sz="1700" dirty="0"/>
          </a:p>
        </p:txBody>
      </p:sp>
      <p:sp>
        <p:nvSpPr>
          <p:cNvPr id="9" name="Text 7"/>
          <p:cNvSpPr txBox="1"/>
          <p:nvPr/>
        </p:nvSpPr>
        <p:spPr>
          <a:xfrm>
            <a:off x="1573500" y="3205196"/>
            <a:ext cx="9611624" cy="260096"/>
          </a:xfrm>
          <a:prstGeom prst="rect">
            <a:avLst/>
          </a:prstGeom>
          <a:noFill/>
          <a:ln/>
        </p:spPr>
        <p:txBody>
          <a:bodyPr wrap="square" lIns="0" tIns="0" rIns="0" bIns="0" rtlCol="0" anchor="t"/>
          <a:lstStyle/>
          <a:p>
            <a:pPr algn="l" indent="0" marL="0">
              <a:lnSpc>
                <a:spcPct val="128000"/>
              </a:lnSpc>
              <a:buNone/>
            </a:pPr>
            <a:r>
              <a:rPr lang="en-US" sz="1600" b="1" dirty="0">
                <a:solidFill>
                  <a:srgbClr val="F2EDE6"/>
                </a:solidFill>
                <a:latin typeface="Arial" pitchFamily="34" charset="0"/>
                <a:ea typeface="Arial" pitchFamily="34" charset="-122"/>
                <a:cs typeface="Arial" pitchFamily="34" charset="-120"/>
              </a:rPr>
              <a:t>Bring a task from your team and we'll work on it together.</a:t>
            </a:r>
            <a:endParaRPr lang="en-US" sz="1600" dirty="0"/>
          </a:p>
        </p:txBody>
      </p:sp>
      <p:sp>
        <p:nvSpPr>
          <p:cNvPr id="10" name="Text 8"/>
          <p:cNvSpPr txBox="1"/>
          <p:nvPr/>
        </p:nvSpPr>
        <p:spPr>
          <a:xfrm>
            <a:off x="777240" y="4060383"/>
            <a:ext cx="10637215" cy="227584"/>
          </a:xfrm>
          <a:prstGeom prst="rect">
            <a:avLst/>
          </a:prstGeom>
          <a:noFill/>
          <a:ln/>
        </p:spPr>
        <p:txBody>
          <a:bodyPr wrap="square" lIns="0" tIns="0" rIns="0" bIns="0" rtlCol="0" anchor="t"/>
          <a:lstStyle/>
          <a:p>
            <a:pPr algn="l" indent="0" marL="0">
              <a:lnSpc>
                <a:spcPct val="128000"/>
              </a:lnSpc>
              <a:buNone/>
            </a:pPr>
            <a:r>
              <a:rPr lang="en-US" sz="1400" b="1" dirty="0">
                <a:solidFill>
                  <a:srgbClr val="F2EDE6"/>
                </a:solidFill>
                <a:latin typeface="Arial" pitchFamily="34" charset="0"/>
                <a:ea typeface="Arial" pitchFamily="34" charset="-122"/>
                <a:cs typeface="Arial" pitchFamily="34" charset="-120"/>
              </a:rPr>
              <a:t>Deep dives I can run if there is interest</a:t>
            </a:r>
            <a:endParaRPr lang="en-US" sz="1400" dirty="0"/>
          </a:p>
        </p:txBody>
      </p:sp>
      <p:sp>
        <p:nvSpPr>
          <p:cNvPr id="11" name="Shape 9"/>
          <p:cNvSpPr/>
          <p:nvPr/>
        </p:nvSpPr>
        <p:spPr>
          <a:xfrm>
            <a:off x="777240" y="4434271"/>
            <a:ext cx="420624" cy="420624"/>
          </a:xfrm>
          <a:prstGeom prst="ellipse">
            <a:avLst/>
          </a:prstGeom>
          <a:solidFill>
            <a:srgbClr val="C96442"/>
          </a:solidFill>
          <a:ln/>
        </p:spPr>
      </p:sp>
      <p:sp>
        <p:nvSpPr>
          <p:cNvPr id="12" name="Text 10"/>
          <p:cNvSpPr txBox="1"/>
          <p:nvPr/>
        </p:nvSpPr>
        <p:spPr>
          <a:xfrm>
            <a:off x="777240" y="4434271"/>
            <a:ext cx="420624" cy="420624"/>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500" dirty="0"/>
          </a:p>
        </p:txBody>
      </p:sp>
      <p:sp>
        <p:nvSpPr>
          <p:cNvPr id="13" name="Text 11"/>
          <p:cNvSpPr txBox="1"/>
          <p:nvPr/>
        </p:nvSpPr>
        <p:spPr>
          <a:xfrm>
            <a:off x="1380744" y="4434271"/>
            <a:ext cx="2759354" cy="260096"/>
          </a:xfrm>
          <a:prstGeom prst="rect">
            <a:avLst/>
          </a:prstGeom>
          <a:noFill/>
          <a:ln/>
        </p:spPr>
        <p:txBody>
          <a:bodyPr wrap="square" lIns="0" tIns="0" rIns="0" bIns="0" rtlCol="0" anchor="t"/>
          <a:lstStyle/>
          <a:p>
            <a:pPr algn="l" indent="0" marL="0">
              <a:lnSpc>
                <a:spcPct val="128000"/>
              </a:lnSpc>
              <a:buNone/>
            </a:pPr>
            <a:r>
              <a:rPr lang="en-US" sz="1600" b="1" dirty="0">
                <a:solidFill>
                  <a:srgbClr val="F2EDE6"/>
                </a:solidFill>
                <a:latin typeface="Arial" pitchFamily="34" charset="0"/>
                <a:ea typeface="Arial" pitchFamily="34" charset="-122"/>
                <a:cs typeface="Arial" pitchFamily="34" charset="-120"/>
              </a:rPr>
              <a:t>Writing your first skill</a:t>
            </a:r>
            <a:endParaRPr lang="en-US" sz="1600" dirty="0"/>
          </a:p>
        </p:txBody>
      </p:sp>
      <p:sp>
        <p:nvSpPr>
          <p:cNvPr id="14" name="Text 12"/>
          <p:cNvSpPr txBox="1"/>
          <p:nvPr/>
        </p:nvSpPr>
        <p:spPr>
          <a:xfrm>
            <a:off x="1380744" y="4749231"/>
            <a:ext cx="2759354" cy="455168"/>
          </a:xfrm>
          <a:prstGeom prst="rect">
            <a:avLst/>
          </a:prstGeom>
          <a:noFill/>
          <a:ln/>
        </p:spPr>
        <p:txBody>
          <a:bodyPr wrap="square" lIns="0" tIns="0" rIns="0" bIns="0" rtlCol="0" anchor="t"/>
          <a:lstStyle/>
          <a:p>
            <a:pPr algn="l" indent="0" marL="0">
              <a:lnSpc>
                <a:spcPct val="128000"/>
              </a:lnSpc>
              <a:buNone/>
            </a:pPr>
            <a:r>
              <a:rPr lang="en-US" sz="1400" dirty="0">
                <a:solidFill>
                  <a:srgbClr val="B8B1A8"/>
                </a:solidFill>
                <a:latin typeface="Arial" pitchFamily="34" charset="0"/>
                <a:ea typeface="Arial" pitchFamily="34" charset="-122"/>
                <a:cs typeface="Arial" pitchFamily="34" charset="-120"/>
              </a:rPr>
              <a:t>Turn a weekly chore into a playbook.</a:t>
            </a:r>
            <a:endParaRPr lang="en-US" sz="1400" dirty="0"/>
          </a:p>
        </p:txBody>
      </p:sp>
      <p:sp>
        <p:nvSpPr>
          <p:cNvPr id="15" name="Shape 13"/>
          <p:cNvSpPr/>
          <p:nvPr/>
        </p:nvSpPr>
        <p:spPr>
          <a:xfrm>
            <a:off x="4414418" y="4434271"/>
            <a:ext cx="420624" cy="420624"/>
          </a:xfrm>
          <a:prstGeom prst="ellipse">
            <a:avLst/>
          </a:prstGeom>
          <a:solidFill>
            <a:srgbClr val="C96442"/>
          </a:solidFill>
          <a:ln/>
        </p:spPr>
      </p:sp>
      <p:sp>
        <p:nvSpPr>
          <p:cNvPr id="16" name="Text 14"/>
          <p:cNvSpPr txBox="1"/>
          <p:nvPr/>
        </p:nvSpPr>
        <p:spPr>
          <a:xfrm>
            <a:off x="4414418" y="4434271"/>
            <a:ext cx="420624" cy="420624"/>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500" dirty="0"/>
          </a:p>
        </p:txBody>
      </p:sp>
      <p:sp>
        <p:nvSpPr>
          <p:cNvPr id="17" name="Text 15"/>
          <p:cNvSpPr txBox="1"/>
          <p:nvPr/>
        </p:nvSpPr>
        <p:spPr>
          <a:xfrm>
            <a:off x="5017922" y="4434271"/>
            <a:ext cx="2759354" cy="260096"/>
          </a:xfrm>
          <a:prstGeom prst="rect">
            <a:avLst/>
          </a:prstGeom>
          <a:noFill/>
          <a:ln/>
        </p:spPr>
        <p:txBody>
          <a:bodyPr wrap="square" lIns="0" tIns="0" rIns="0" bIns="0" rtlCol="0" anchor="t"/>
          <a:lstStyle/>
          <a:p>
            <a:pPr algn="l" indent="0" marL="0">
              <a:lnSpc>
                <a:spcPct val="128000"/>
              </a:lnSpc>
              <a:buNone/>
            </a:pPr>
            <a:r>
              <a:rPr lang="en-US" sz="1600" b="1" dirty="0">
                <a:solidFill>
                  <a:srgbClr val="F2EDE6"/>
                </a:solidFill>
                <a:latin typeface="Arial" pitchFamily="34" charset="0"/>
                <a:ea typeface="Arial" pitchFamily="34" charset="-122"/>
                <a:cs typeface="Arial" pitchFamily="34" charset="-120"/>
              </a:rPr>
              <a:t>Rules for your stack</a:t>
            </a:r>
            <a:endParaRPr lang="en-US" sz="1600" dirty="0"/>
          </a:p>
        </p:txBody>
      </p:sp>
      <p:sp>
        <p:nvSpPr>
          <p:cNvPr id="18" name="Text 16"/>
          <p:cNvSpPr txBox="1"/>
          <p:nvPr/>
        </p:nvSpPr>
        <p:spPr>
          <a:xfrm>
            <a:off x="5017922" y="4749231"/>
            <a:ext cx="2759354" cy="455168"/>
          </a:xfrm>
          <a:prstGeom prst="rect">
            <a:avLst/>
          </a:prstGeom>
          <a:noFill/>
          <a:ln/>
        </p:spPr>
        <p:txBody>
          <a:bodyPr wrap="square" lIns="0" tIns="0" rIns="0" bIns="0" rtlCol="0" anchor="t"/>
          <a:lstStyle/>
          <a:p>
            <a:pPr algn="l" indent="0" marL="0">
              <a:lnSpc>
                <a:spcPct val="128000"/>
              </a:lnSpc>
              <a:buNone/>
            </a:pPr>
            <a:r>
              <a:rPr lang="en-US" sz="1400" dirty="0">
                <a:solidFill>
                  <a:srgbClr val="B8B1A8"/>
                </a:solidFill>
                <a:latin typeface="Arial" pitchFamily="34" charset="0"/>
                <a:ea typeface="Arial" pitchFamily="34" charset="-122"/>
                <a:cs typeface="Arial" pitchFamily="34" charset="-120"/>
              </a:rPr>
              <a:t>Path-scoped TypeScript and C# conventions.</a:t>
            </a:r>
            <a:endParaRPr lang="en-US" sz="1400" dirty="0"/>
          </a:p>
        </p:txBody>
      </p:sp>
      <p:sp>
        <p:nvSpPr>
          <p:cNvPr id="19" name="Shape 17"/>
          <p:cNvSpPr/>
          <p:nvPr/>
        </p:nvSpPr>
        <p:spPr>
          <a:xfrm>
            <a:off x="8051597" y="4434271"/>
            <a:ext cx="420624" cy="420624"/>
          </a:xfrm>
          <a:prstGeom prst="ellipse">
            <a:avLst/>
          </a:prstGeom>
          <a:solidFill>
            <a:srgbClr val="C96442"/>
          </a:solidFill>
          <a:ln/>
        </p:spPr>
      </p:sp>
      <p:sp>
        <p:nvSpPr>
          <p:cNvPr id="20" name="Text 18"/>
          <p:cNvSpPr txBox="1"/>
          <p:nvPr/>
        </p:nvSpPr>
        <p:spPr>
          <a:xfrm>
            <a:off x="8051597" y="4434271"/>
            <a:ext cx="420624" cy="420624"/>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500" dirty="0"/>
          </a:p>
        </p:txBody>
      </p:sp>
      <p:sp>
        <p:nvSpPr>
          <p:cNvPr id="21" name="Text 19"/>
          <p:cNvSpPr txBox="1"/>
          <p:nvPr/>
        </p:nvSpPr>
        <p:spPr>
          <a:xfrm>
            <a:off x="8655101" y="4434271"/>
            <a:ext cx="2759354" cy="260096"/>
          </a:xfrm>
          <a:prstGeom prst="rect">
            <a:avLst/>
          </a:prstGeom>
          <a:noFill/>
          <a:ln/>
        </p:spPr>
        <p:txBody>
          <a:bodyPr wrap="square" lIns="0" tIns="0" rIns="0" bIns="0" rtlCol="0" anchor="t"/>
          <a:lstStyle/>
          <a:p>
            <a:pPr algn="l" indent="0" marL="0">
              <a:lnSpc>
                <a:spcPct val="128000"/>
              </a:lnSpc>
              <a:buNone/>
            </a:pPr>
            <a:r>
              <a:rPr lang="en-US" sz="1600" b="1" dirty="0">
                <a:solidFill>
                  <a:srgbClr val="F2EDE6"/>
                </a:solidFill>
                <a:latin typeface="Arial" pitchFamily="34" charset="0"/>
                <a:ea typeface="Arial" pitchFamily="34" charset="-122"/>
                <a:cs typeface="Arial" pitchFamily="34" charset="-120"/>
              </a:rPr>
              <a:t>CLAUDE.md for your repo</a:t>
            </a:r>
            <a:endParaRPr lang="en-US" sz="1600" dirty="0"/>
          </a:p>
        </p:txBody>
      </p:sp>
      <p:sp>
        <p:nvSpPr>
          <p:cNvPr id="22" name="Text 20"/>
          <p:cNvSpPr txBox="1"/>
          <p:nvPr/>
        </p:nvSpPr>
        <p:spPr>
          <a:xfrm>
            <a:off x="8655101" y="4749231"/>
            <a:ext cx="2759354" cy="227584"/>
          </a:xfrm>
          <a:prstGeom prst="rect">
            <a:avLst/>
          </a:prstGeom>
          <a:noFill/>
          <a:ln/>
        </p:spPr>
        <p:txBody>
          <a:bodyPr wrap="square" lIns="0" tIns="0" rIns="0" bIns="0" rtlCol="0" anchor="t"/>
          <a:lstStyle/>
          <a:p>
            <a:pPr algn="l" indent="0" marL="0">
              <a:lnSpc>
                <a:spcPct val="128000"/>
              </a:lnSpc>
              <a:buNone/>
            </a:pPr>
            <a:r>
              <a:rPr lang="en-US" sz="1400" dirty="0">
                <a:solidFill>
                  <a:srgbClr val="B8B1A8"/>
                </a:solidFill>
                <a:latin typeface="Arial" pitchFamily="34" charset="0"/>
                <a:ea typeface="Arial" pitchFamily="34" charset="-122"/>
                <a:cs typeface="Arial" pitchFamily="34" charset="-120"/>
              </a:rPr>
              <a:t>Run /init, then cut it back.</a:t>
            </a:r>
            <a:endParaRPr lang="en-US" sz="1400" dirty="0"/>
          </a:p>
        </p:txBody>
      </p:sp>
      <p:sp>
        <p:nvSpPr>
          <p:cNvPr id="23" name="Shape 21"/>
          <p:cNvSpPr/>
          <p:nvPr/>
        </p:nvSpPr>
        <p:spPr>
          <a:xfrm>
            <a:off x="777240" y="5460431"/>
            <a:ext cx="420624" cy="420624"/>
          </a:xfrm>
          <a:prstGeom prst="ellipse">
            <a:avLst/>
          </a:prstGeom>
          <a:solidFill>
            <a:srgbClr val="C96442"/>
          </a:solidFill>
          <a:ln/>
        </p:spPr>
      </p:sp>
      <p:sp>
        <p:nvSpPr>
          <p:cNvPr id="24" name="Text 22"/>
          <p:cNvSpPr txBox="1"/>
          <p:nvPr/>
        </p:nvSpPr>
        <p:spPr>
          <a:xfrm>
            <a:off x="777240" y="5460431"/>
            <a:ext cx="420624" cy="420624"/>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500" dirty="0"/>
          </a:p>
        </p:txBody>
      </p:sp>
      <p:sp>
        <p:nvSpPr>
          <p:cNvPr id="25" name="Text 23"/>
          <p:cNvSpPr txBox="1"/>
          <p:nvPr/>
        </p:nvSpPr>
        <p:spPr>
          <a:xfrm>
            <a:off x="1380744" y="5460431"/>
            <a:ext cx="2759354" cy="260096"/>
          </a:xfrm>
          <a:prstGeom prst="rect">
            <a:avLst/>
          </a:prstGeom>
          <a:noFill/>
          <a:ln/>
        </p:spPr>
        <p:txBody>
          <a:bodyPr wrap="square" lIns="0" tIns="0" rIns="0" bIns="0" rtlCol="0" anchor="t"/>
          <a:lstStyle/>
          <a:p>
            <a:pPr algn="l" indent="0" marL="0">
              <a:lnSpc>
                <a:spcPct val="128000"/>
              </a:lnSpc>
              <a:buNone/>
            </a:pPr>
            <a:r>
              <a:rPr lang="en-US" sz="1600" b="1" dirty="0">
                <a:solidFill>
                  <a:srgbClr val="F2EDE6"/>
                </a:solidFill>
                <a:latin typeface="Arial" pitchFamily="34" charset="0"/>
                <a:ea typeface="Arial" pitchFamily="34" charset="-122"/>
                <a:cs typeface="Arial" pitchFamily="34" charset="-120"/>
              </a:rPr>
              <a:t>Plan mode and subagents</a:t>
            </a:r>
            <a:endParaRPr lang="en-US" sz="1600" dirty="0"/>
          </a:p>
        </p:txBody>
      </p:sp>
      <p:sp>
        <p:nvSpPr>
          <p:cNvPr id="26" name="Text 24"/>
          <p:cNvSpPr txBox="1"/>
          <p:nvPr/>
        </p:nvSpPr>
        <p:spPr>
          <a:xfrm>
            <a:off x="1380744" y="5775391"/>
            <a:ext cx="2759354" cy="455168"/>
          </a:xfrm>
          <a:prstGeom prst="rect">
            <a:avLst/>
          </a:prstGeom>
          <a:noFill/>
          <a:ln/>
        </p:spPr>
        <p:txBody>
          <a:bodyPr wrap="square" lIns="0" tIns="0" rIns="0" bIns="0" rtlCol="0" anchor="t"/>
          <a:lstStyle/>
          <a:p>
            <a:pPr algn="l" indent="0" marL="0">
              <a:lnSpc>
                <a:spcPct val="128000"/>
              </a:lnSpc>
              <a:buNone/>
            </a:pPr>
            <a:r>
              <a:rPr lang="en-US" sz="1400" dirty="0">
                <a:solidFill>
                  <a:srgbClr val="B8B1A8"/>
                </a:solidFill>
                <a:latin typeface="Arial" pitchFamily="34" charset="0"/>
                <a:ea typeface="Arial" pitchFamily="34" charset="-122"/>
                <a:cs typeface="Arial" pitchFamily="34" charset="-120"/>
              </a:rPr>
              <a:t>Bigger changes without losing the thread.</a:t>
            </a:r>
            <a:endParaRPr lang="en-US" sz="1400" dirty="0"/>
          </a:p>
        </p:txBody>
      </p:sp>
      <p:sp>
        <p:nvSpPr>
          <p:cNvPr id="27" name="Shape 25"/>
          <p:cNvSpPr/>
          <p:nvPr/>
        </p:nvSpPr>
        <p:spPr>
          <a:xfrm>
            <a:off x="4414418" y="5460431"/>
            <a:ext cx="420624" cy="420624"/>
          </a:xfrm>
          <a:prstGeom prst="ellipse">
            <a:avLst/>
          </a:prstGeom>
          <a:solidFill>
            <a:srgbClr val="C96442"/>
          </a:solidFill>
          <a:ln/>
        </p:spPr>
      </p:sp>
      <p:sp>
        <p:nvSpPr>
          <p:cNvPr id="28" name="Text 26"/>
          <p:cNvSpPr txBox="1"/>
          <p:nvPr/>
        </p:nvSpPr>
        <p:spPr>
          <a:xfrm>
            <a:off x="4414418" y="5460431"/>
            <a:ext cx="420624" cy="420624"/>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500" dirty="0"/>
          </a:p>
        </p:txBody>
      </p:sp>
      <p:sp>
        <p:nvSpPr>
          <p:cNvPr id="29" name="Text 27"/>
          <p:cNvSpPr txBox="1"/>
          <p:nvPr/>
        </p:nvSpPr>
        <p:spPr>
          <a:xfrm>
            <a:off x="5017922" y="5460431"/>
            <a:ext cx="2759354" cy="260096"/>
          </a:xfrm>
          <a:prstGeom prst="rect">
            <a:avLst/>
          </a:prstGeom>
          <a:noFill/>
          <a:ln/>
        </p:spPr>
        <p:txBody>
          <a:bodyPr wrap="square" lIns="0" tIns="0" rIns="0" bIns="0" rtlCol="0" anchor="t"/>
          <a:lstStyle/>
          <a:p>
            <a:pPr algn="l" indent="0" marL="0">
              <a:lnSpc>
                <a:spcPct val="128000"/>
              </a:lnSpc>
              <a:buNone/>
            </a:pPr>
            <a:r>
              <a:rPr lang="en-US" sz="1600" b="1" dirty="0">
                <a:solidFill>
                  <a:srgbClr val="F2EDE6"/>
                </a:solidFill>
                <a:latin typeface="Arial" pitchFamily="34" charset="0"/>
                <a:ea typeface="Arial" pitchFamily="34" charset="-122"/>
                <a:cs typeface="Arial" pitchFamily="34" charset="-120"/>
              </a:rPr>
              <a:t>Hooks</a:t>
            </a:r>
            <a:endParaRPr lang="en-US" sz="1600" dirty="0"/>
          </a:p>
        </p:txBody>
      </p:sp>
      <p:sp>
        <p:nvSpPr>
          <p:cNvPr id="30" name="Text 28"/>
          <p:cNvSpPr txBox="1"/>
          <p:nvPr/>
        </p:nvSpPr>
        <p:spPr>
          <a:xfrm>
            <a:off x="5017922" y="5775391"/>
            <a:ext cx="2759354" cy="455168"/>
          </a:xfrm>
          <a:prstGeom prst="rect">
            <a:avLst/>
          </a:prstGeom>
          <a:noFill/>
          <a:ln/>
        </p:spPr>
        <p:txBody>
          <a:bodyPr wrap="square" lIns="0" tIns="0" rIns="0" bIns="0" rtlCol="0" anchor="t"/>
          <a:lstStyle/>
          <a:p>
            <a:pPr algn="l" indent="0" marL="0">
              <a:lnSpc>
                <a:spcPct val="128000"/>
              </a:lnSpc>
              <a:buNone/>
            </a:pPr>
            <a:r>
              <a:rPr lang="en-US" sz="1400" dirty="0">
                <a:solidFill>
                  <a:srgbClr val="B8B1A8"/>
                </a:solidFill>
                <a:latin typeface="Arial" pitchFamily="34" charset="0"/>
                <a:ea typeface="Arial" pitchFamily="34" charset="-122"/>
                <a:cs typeface="Arial" pitchFamily="34" charset="-120"/>
              </a:rPr>
              <a:t>Enforce what prose only asks for.</a:t>
            </a:r>
            <a:endParaRPr lang="en-US" sz="1400" dirty="0"/>
          </a:p>
        </p:txBody>
      </p:sp>
      <p:sp>
        <p:nvSpPr>
          <p:cNvPr id="31" name="Shape 29"/>
          <p:cNvSpPr/>
          <p:nvPr/>
        </p:nvSpPr>
        <p:spPr>
          <a:xfrm>
            <a:off x="8051597" y="5460431"/>
            <a:ext cx="420624" cy="420624"/>
          </a:xfrm>
          <a:prstGeom prst="ellipse">
            <a:avLst/>
          </a:prstGeom>
          <a:solidFill>
            <a:srgbClr val="C96442"/>
          </a:solidFill>
          <a:ln/>
        </p:spPr>
      </p:sp>
      <p:sp>
        <p:nvSpPr>
          <p:cNvPr id="32" name="Text 30"/>
          <p:cNvSpPr txBox="1"/>
          <p:nvPr/>
        </p:nvSpPr>
        <p:spPr>
          <a:xfrm>
            <a:off x="8051597" y="5460431"/>
            <a:ext cx="420624" cy="420624"/>
          </a:xfrm>
          <a:prstGeom prst="rect">
            <a:avLst/>
          </a:prstGeom>
          <a:noFill/>
          <a:ln/>
        </p:spPr>
        <p:txBody>
          <a:bodyPr wrap="square" lIns="0" tIns="0" rIns="0" bIns="0" rtlCol="0" anchor="ctr"/>
          <a:lstStyle/>
          <a:p>
            <a:pPr algn="ctr" indent="0" marL="0">
              <a:lnSpc>
                <a:spcPct val="128000"/>
              </a:lnSpc>
              <a:buNone/>
            </a:pPr>
            <a:r>
              <a:rPr lang="en-US" sz="1600" b="1" dirty="0">
                <a:solidFill>
                  <a:srgbClr val="FFFFFF"/>
                </a:solidFill>
                <a:latin typeface="Arial" pitchFamily="34" charset="0"/>
                <a:ea typeface="Arial" pitchFamily="34" charset="-122"/>
                <a:cs typeface="Arial" pitchFamily="34" charset="-120"/>
              </a:rPr>
              <a:t>⌕</a:t>
            </a:r>
            <a:endParaRPr lang="en-US" sz="1500" dirty="0"/>
          </a:p>
        </p:txBody>
      </p:sp>
      <p:sp>
        <p:nvSpPr>
          <p:cNvPr id="33" name="Text 31"/>
          <p:cNvSpPr txBox="1"/>
          <p:nvPr/>
        </p:nvSpPr>
        <p:spPr>
          <a:xfrm>
            <a:off x="8655101" y="5460431"/>
            <a:ext cx="2759354" cy="260096"/>
          </a:xfrm>
          <a:prstGeom prst="rect">
            <a:avLst/>
          </a:prstGeom>
          <a:noFill/>
          <a:ln/>
        </p:spPr>
        <p:txBody>
          <a:bodyPr wrap="square" lIns="0" tIns="0" rIns="0" bIns="0" rtlCol="0" anchor="t"/>
          <a:lstStyle/>
          <a:p>
            <a:pPr algn="l" indent="0" marL="0">
              <a:lnSpc>
                <a:spcPct val="128000"/>
              </a:lnSpc>
              <a:buNone/>
            </a:pPr>
            <a:r>
              <a:rPr lang="en-US" sz="1600" b="1" dirty="0">
                <a:solidFill>
                  <a:srgbClr val="F2EDE6"/>
                </a:solidFill>
                <a:latin typeface="Arial" pitchFamily="34" charset="0"/>
                <a:ea typeface="Arial" pitchFamily="34" charset="-122"/>
                <a:cs typeface="Arial" pitchFamily="34" charset="-120"/>
              </a:rPr>
              <a:t>Session review</a:t>
            </a:r>
            <a:endParaRPr lang="en-US" sz="1600" dirty="0"/>
          </a:p>
        </p:txBody>
      </p:sp>
      <p:sp>
        <p:nvSpPr>
          <p:cNvPr id="34" name="Text 32"/>
          <p:cNvSpPr txBox="1"/>
          <p:nvPr/>
        </p:nvSpPr>
        <p:spPr>
          <a:xfrm>
            <a:off x="8655101" y="5775391"/>
            <a:ext cx="2759354" cy="455168"/>
          </a:xfrm>
          <a:prstGeom prst="rect">
            <a:avLst/>
          </a:prstGeom>
          <a:noFill/>
          <a:ln/>
        </p:spPr>
        <p:txBody>
          <a:bodyPr wrap="square" lIns="0" tIns="0" rIns="0" bIns="0" rtlCol="0" anchor="t"/>
          <a:lstStyle/>
          <a:p>
            <a:pPr algn="l" indent="0" marL="0">
              <a:lnSpc>
                <a:spcPct val="128000"/>
              </a:lnSpc>
              <a:buNone/>
            </a:pPr>
            <a:r>
              <a:rPr lang="en-US" sz="1400" dirty="0">
                <a:solidFill>
                  <a:srgbClr val="B8B1A8"/>
                </a:solidFill>
                <a:latin typeface="Arial" pitchFamily="34" charset="0"/>
                <a:ea typeface="Arial" pitchFamily="34" charset="-122"/>
                <a:cs typeface="Arial" pitchFamily="34" charset="-120"/>
              </a:rPr>
              <a:t>Audit a session, fix what slowed it.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Code 101</dc:title>
  <dc:subject>PptxGenJS Presentation</dc:subject>
  <dc:creator>Abcop</dc:creator>
  <cp:lastModifiedBy>Abcop</cp:lastModifiedBy>
  <cp:revision>1</cp:revision>
  <dcterms:created xsi:type="dcterms:W3CDTF">2026-08-13T21:31:50Z</dcterms:created>
  <dcterms:modified xsi:type="dcterms:W3CDTF">2026-08-13T21:31:50Z</dcterms:modified>
</cp:coreProperties>
</file>